
<file path=[Content_Types].xml><?xml version="1.0" encoding="utf-8"?>
<Types xmlns="http://schemas.openxmlformats.org/package/2006/content-types">
  <Override PartName="/ppt/slides/slide6.xml" ContentType="application/vnd.openxmlformats-officedocument.presentationml.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1" r:id="rId1"/>
  </p:sldMasterIdLst>
  <p:notesMasterIdLst>
    <p:notesMasterId r:id="rId30"/>
  </p:notesMasterIdLst>
  <p:sldIdLst>
    <p:sldId id="256" r:id="rId2"/>
    <p:sldId id="257" r:id="rId3"/>
    <p:sldId id="258" r:id="rId4"/>
    <p:sldId id="283" r:id="rId5"/>
    <p:sldId id="312" r:id="rId6"/>
    <p:sldId id="314" r:id="rId7"/>
    <p:sldId id="316" r:id="rId8"/>
    <p:sldId id="319" r:id="rId9"/>
    <p:sldId id="320" r:id="rId10"/>
    <p:sldId id="321" r:id="rId11"/>
    <p:sldId id="322" r:id="rId12"/>
    <p:sldId id="324" r:id="rId13"/>
    <p:sldId id="333" r:id="rId14"/>
    <p:sldId id="334" r:id="rId15"/>
    <p:sldId id="335" r:id="rId16"/>
    <p:sldId id="336" r:id="rId17"/>
    <p:sldId id="337" r:id="rId18"/>
    <p:sldId id="338" r:id="rId19"/>
    <p:sldId id="339" r:id="rId20"/>
    <p:sldId id="340" r:id="rId21"/>
    <p:sldId id="341" r:id="rId22"/>
    <p:sldId id="342" r:id="rId23"/>
    <p:sldId id="343" r:id="rId24"/>
    <p:sldId id="344" r:id="rId25"/>
    <p:sldId id="345" r:id="rId26"/>
    <p:sldId id="349" r:id="rId27"/>
    <p:sldId id="346" r:id="rId28"/>
    <p:sldId id="348" r:id="rId29"/>
  </p:sldIdLst>
  <p:sldSz cx="9144000" cy="6858000" type="screen4x3"/>
  <p:notesSz cx="6858000" cy="9144000"/>
  <p:embeddedFontLst>
    <p:embeddedFont>
      <p:font typeface="Arial Black" pitchFamily="34" charset="0"/>
      <p:bold r:id="rId31"/>
    </p:embeddedFont>
    <p:embeddedFont>
      <p:font typeface="Calibri" pitchFamily="34" charset="0"/>
      <p:regular r:id="rId32"/>
      <p:bold r:id="rId33"/>
      <p:italic r:id="rId34"/>
      <p:boldItalic r:id="rId35"/>
    </p:embeddedFont>
    <p:embeddedFont>
      <p:font typeface="Calibri Light" pitchFamily="34" charset="0"/>
      <p:regular r:id="rId36"/>
      <p: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5099" autoAdjust="0"/>
    <p:restoredTop sz="94379" autoAdjust="0"/>
  </p:normalViewPr>
  <p:slideViewPr>
    <p:cSldViewPr snapToGrid="0">
      <p:cViewPr>
        <p:scale>
          <a:sx n="75" d="100"/>
          <a:sy n="75" d="100"/>
        </p:scale>
        <p:origin x="-1254" y="-30"/>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 name="Google Shape;44;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 name="Google Shape;52;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8" name="Google Shape;5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 xmlns:p14="http://schemas.microsoft.com/office/powerpoint/2010/main" val="456784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0"/>
        <p:cNvGrpSpPr/>
        <p:nvPr/>
      </p:nvGrpSpPr>
      <p:grpSpPr>
        <a:xfrm>
          <a:off x="0" y="0"/>
          <a:ext cx="0" cy="0"/>
          <a:chOff x="0" y="0"/>
          <a:chExt cx="0" cy="0"/>
        </a:xfrm>
      </p:grpSpPr>
      <p:sp>
        <p:nvSpPr>
          <p:cNvPr id="21" name="Google Shape;21;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transition>
    <p:fade thruBlk="1"/>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4"/>
        <p:cNvGrpSpPr/>
        <p:nvPr/>
      </p:nvGrpSpPr>
      <p:grpSpPr>
        <a:xfrm>
          <a:off x="0" y="0"/>
          <a:ext cx="0" cy="0"/>
          <a:chOff x="0" y="0"/>
          <a:chExt cx="0" cy="0"/>
        </a:xfrm>
      </p:grpSpPr>
      <p:sp>
        <p:nvSpPr>
          <p:cNvPr id="25" name="Google Shape;25;p3"/>
          <p:cNvSpPr txBox="1">
            <a:spLocks noGrp="1"/>
          </p:cNvSpPr>
          <p:nvPr>
            <p:ph type="ctrTitle"/>
          </p:nvPr>
        </p:nvSpPr>
        <p:spPr>
          <a:xfrm>
            <a:off x="0" y="1"/>
            <a:ext cx="5486400" cy="914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3200" b="1">
                <a:latin typeface="Times New Roman"/>
                <a:ea typeface="Times New Roman"/>
                <a:cs typeface="Times New Roman"/>
                <a:sym typeface="Times New Roman"/>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6" name="Google Shape;26;p3"/>
          <p:cNvSpPr txBox="1">
            <a:spLocks noGrp="1"/>
          </p:cNvSpPr>
          <p:nvPr>
            <p:ph type="subTitle" idx="1"/>
          </p:nvPr>
        </p:nvSpPr>
        <p:spPr>
          <a:xfrm>
            <a:off x="533400" y="1371600"/>
            <a:ext cx="8153400" cy="47244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7" name="Google Shape;27;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a:solidFill>
                  <a:srgbClr val="0070C0"/>
                </a:solidFill>
                <a:latin typeface="Times New Roman"/>
                <a:ea typeface="Times New Roman"/>
                <a:cs typeface="Times New Roman"/>
                <a:sym typeface="Times New Roman"/>
              </a:defRPr>
            </a:lvl1pPr>
            <a:lvl2pPr marL="0" lvl="1" indent="0" algn="r">
              <a:spcBef>
                <a:spcPts val="0"/>
              </a:spcBef>
              <a:buNone/>
              <a:defRPr sz="1200" b="1">
                <a:solidFill>
                  <a:srgbClr val="0070C0"/>
                </a:solidFill>
                <a:latin typeface="Times New Roman"/>
                <a:ea typeface="Times New Roman"/>
                <a:cs typeface="Times New Roman"/>
                <a:sym typeface="Times New Roman"/>
              </a:defRPr>
            </a:lvl2pPr>
            <a:lvl3pPr marL="0" lvl="2" indent="0" algn="r">
              <a:spcBef>
                <a:spcPts val="0"/>
              </a:spcBef>
              <a:buNone/>
              <a:defRPr sz="1200" b="1">
                <a:solidFill>
                  <a:srgbClr val="0070C0"/>
                </a:solidFill>
                <a:latin typeface="Times New Roman"/>
                <a:ea typeface="Times New Roman"/>
                <a:cs typeface="Times New Roman"/>
                <a:sym typeface="Times New Roman"/>
              </a:defRPr>
            </a:lvl3pPr>
            <a:lvl4pPr marL="0" lvl="3" indent="0" algn="r">
              <a:spcBef>
                <a:spcPts val="0"/>
              </a:spcBef>
              <a:buNone/>
              <a:defRPr sz="1200" b="1">
                <a:solidFill>
                  <a:srgbClr val="0070C0"/>
                </a:solidFill>
                <a:latin typeface="Times New Roman"/>
                <a:ea typeface="Times New Roman"/>
                <a:cs typeface="Times New Roman"/>
                <a:sym typeface="Times New Roman"/>
              </a:defRPr>
            </a:lvl4pPr>
            <a:lvl5pPr marL="0" lvl="4" indent="0" algn="r">
              <a:spcBef>
                <a:spcPts val="0"/>
              </a:spcBef>
              <a:buNone/>
              <a:defRPr sz="1200" b="1">
                <a:solidFill>
                  <a:srgbClr val="0070C0"/>
                </a:solidFill>
                <a:latin typeface="Times New Roman"/>
                <a:ea typeface="Times New Roman"/>
                <a:cs typeface="Times New Roman"/>
                <a:sym typeface="Times New Roman"/>
              </a:defRPr>
            </a:lvl5pPr>
            <a:lvl6pPr marL="0" lvl="5" indent="0" algn="r">
              <a:spcBef>
                <a:spcPts val="0"/>
              </a:spcBef>
              <a:buNone/>
              <a:defRPr sz="1200" b="1">
                <a:solidFill>
                  <a:srgbClr val="0070C0"/>
                </a:solidFill>
                <a:latin typeface="Times New Roman"/>
                <a:ea typeface="Times New Roman"/>
                <a:cs typeface="Times New Roman"/>
                <a:sym typeface="Times New Roman"/>
              </a:defRPr>
            </a:lvl6pPr>
            <a:lvl7pPr marL="0" lvl="6" indent="0" algn="r">
              <a:spcBef>
                <a:spcPts val="0"/>
              </a:spcBef>
              <a:buNone/>
              <a:defRPr sz="1200" b="1">
                <a:solidFill>
                  <a:srgbClr val="0070C0"/>
                </a:solidFill>
                <a:latin typeface="Times New Roman"/>
                <a:ea typeface="Times New Roman"/>
                <a:cs typeface="Times New Roman"/>
                <a:sym typeface="Times New Roman"/>
              </a:defRPr>
            </a:lvl7pPr>
            <a:lvl8pPr marL="0" lvl="7" indent="0" algn="r">
              <a:spcBef>
                <a:spcPts val="0"/>
              </a:spcBef>
              <a:buNone/>
              <a:defRPr sz="1200" b="1">
                <a:solidFill>
                  <a:srgbClr val="0070C0"/>
                </a:solidFill>
                <a:latin typeface="Times New Roman"/>
                <a:ea typeface="Times New Roman"/>
                <a:cs typeface="Times New Roman"/>
                <a:sym typeface="Times New Roman"/>
              </a:defRPr>
            </a:lvl8pPr>
            <a:lvl9pPr marL="0" lvl="8" indent="0" algn="r">
              <a:spcBef>
                <a:spcPts val="0"/>
              </a:spcBef>
              <a:buNone/>
              <a:defRPr sz="1200" b="1">
                <a:solidFill>
                  <a:srgbClr val="0070C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transition>
    <p:fade thruBlk="1"/>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9pPr>
          </a:lstStyle>
          <a:p>
            <a:endParaRPr/>
          </a:p>
        </p:txBody>
      </p:sp>
      <p:sp>
        <p:nvSpPr>
          <p:cNvPr id="7" name="Google Shape;7;p1"/>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1" i="0" u="none" strike="noStrike" cap="none">
                <a:solidFill>
                  <a:srgbClr val="0070C0"/>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1" i="0" u="none" strike="noStrike" cap="none">
                <a:solidFill>
                  <a:srgbClr val="0070C0"/>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1" i="0" u="none" strike="noStrike" cap="none">
                <a:solidFill>
                  <a:srgbClr val="0070C0"/>
                </a:solidFill>
                <a:latin typeface="Times New Roman"/>
                <a:ea typeface="Times New Roman"/>
                <a:cs typeface="Times New Roman"/>
                <a:sym typeface="Times New Roman"/>
              </a:defRPr>
            </a:lvl1pPr>
            <a:lvl2pPr marL="0" marR="0" lvl="1" indent="0" algn="r" rtl="0">
              <a:spcBef>
                <a:spcPts val="0"/>
              </a:spcBef>
              <a:buNone/>
              <a:defRPr sz="1200" b="1" i="0" u="none" strike="noStrike" cap="none">
                <a:solidFill>
                  <a:srgbClr val="0070C0"/>
                </a:solidFill>
                <a:latin typeface="Times New Roman"/>
                <a:ea typeface="Times New Roman"/>
                <a:cs typeface="Times New Roman"/>
                <a:sym typeface="Times New Roman"/>
              </a:defRPr>
            </a:lvl2pPr>
            <a:lvl3pPr marL="0" marR="0" lvl="2" indent="0" algn="r" rtl="0">
              <a:spcBef>
                <a:spcPts val="0"/>
              </a:spcBef>
              <a:buNone/>
              <a:defRPr sz="1200" b="1" i="0" u="none" strike="noStrike" cap="none">
                <a:solidFill>
                  <a:srgbClr val="0070C0"/>
                </a:solidFill>
                <a:latin typeface="Times New Roman"/>
                <a:ea typeface="Times New Roman"/>
                <a:cs typeface="Times New Roman"/>
                <a:sym typeface="Times New Roman"/>
              </a:defRPr>
            </a:lvl3pPr>
            <a:lvl4pPr marL="0" marR="0" lvl="3" indent="0" algn="r" rtl="0">
              <a:spcBef>
                <a:spcPts val="0"/>
              </a:spcBef>
              <a:buNone/>
              <a:defRPr sz="1200" b="1" i="0" u="none" strike="noStrike" cap="none">
                <a:solidFill>
                  <a:srgbClr val="0070C0"/>
                </a:solidFill>
                <a:latin typeface="Times New Roman"/>
                <a:ea typeface="Times New Roman"/>
                <a:cs typeface="Times New Roman"/>
                <a:sym typeface="Times New Roman"/>
              </a:defRPr>
            </a:lvl4pPr>
            <a:lvl5pPr marL="0" marR="0" lvl="4" indent="0" algn="r" rtl="0">
              <a:spcBef>
                <a:spcPts val="0"/>
              </a:spcBef>
              <a:buNone/>
              <a:defRPr sz="1200" b="1" i="0" u="none" strike="noStrike" cap="none">
                <a:solidFill>
                  <a:srgbClr val="0070C0"/>
                </a:solidFill>
                <a:latin typeface="Times New Roman"/>
                <a:ea typeface="Times New Roman"/>
                <a:cs typeface="Times New Roman"/>
                <a:sym typeface="Times New Roman"/>
              </a:defRPr>
            </a:lvl5pPr>
            <a:lvl6pPr marL="0" marR="0" lvl="5" indent="0" algn="r" rtl="0">
              <a:spcBef>
                <a:spcPts val="0"/>
              </a:spcBef>
              <a:buNone/>
              <a:defRPr sz="1200" b="1" i="0" u="none" strike="noStrike" cap="none">
                <a:solidFill>
                  <a:srgbClr val="0070C0"/>
                </a:solidFill>
                <a:latin typeface="Times New Roman"/>
                <a:ea typeface="Times New Roman"/>
                <a:cs typeface="Times New Roman"/>
                <a:sym typeface="Times New Roman"/>
              </a:defRPr>
            </a:lvl6pPr>
            <a:lvl7pPr marL="0" marR="0" lvl="6" indent="0" algn="r" rtl="0">
              <a:spcBef>
                <a:spcPts val="0"/>
              </a:spcBef>
              <a:buNone/>
              <a:defRPr sz="1200" b="1" i="0" u="none" strike="noStrike" cap="none">
                <a:solidFill>
                  <a:srgbClr val="0070C0"/>
                </a:solidFill>
                <a:latin typeface="Times New Roman"/>
                <a:ea typeface="Times New Roman"/>
                <a:cs typeface="Times New Roman"/>
                <a:sym typeface="Times New Roman"/>
              </a:defRPr>
            </a:lvl7pPr>
            <a:lvl8pPr marL="0" marR="0" lvl="7" indent="0" algn="r" rtl="0">
              <a:spcBef>
                <a:spcPts val="0"/>
              </a:spcBef>
              <a:buNone/>
              <a:defRPr sz="1200" b="1" i="0" u="none" strike="noStrike" cap="none">
                <a:solidFill>
                  <a:srgbClr val="0070C0"/>
                </a:solidFill>
                <a:latin typeface="Times New Roman"/>
                <a:ea typeface="Times New Roman"/>
                <a:cs typeface="Times New Roman"/>
                <a:sym typeface="Times New Roman"/>
              </a:defRPr>
            </a:lvl8pPr>
            <a:lvl9pPr marL="0" marR="0" lvl="8" indent="0" algn="r" rtl="0">
              <a:spcBef>
                <a:spcPts val="0"/>
              </a:spcBef>
              <a:buNone/>
              <a:defRPr sz="1200" b="1" i="0" u="none" strike="noStrike" cap="none">
                <a:solidFill>
                  <a:srgbClr val="0070C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11" name="Google Shape;11;p1"/>
          <p:cNvSpPr/>
          <p:nvPr/>
        </p:nvSpPr>
        <p:spPr>
          <a:xfrm>
            <a:off x="0" y="0"/>
            <a:ext cx="91440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 name="Google Shape;12;p1"/>
          <p:cNvSpPr/>
          <p:nvPr/>
        </p:nvSpPr>
        <p:spPr>
          <a:xfrm rot="10800000" flipH="1">
            <a:off x="0" y="6705600"/>
            <a:ext cx="9144000" cy="198116"/>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3" name="Google Shape;13;p1" descr="LOGO.gif"/>
          <p:cNvPicPr preferRelativeResize="0"/>
          <p:nvPr/>
        </p:nvPicPr>
        <p:blipFill rotWithShape="1">
          <a:blip r:embed="rId4">
            <a:alphaModFix/>
          </a:blip>
          <a:srcRect b="10713"/>
          <a:stretch/>
        </p:blipFill>
        <p:spPr>
          <a:xfrm>
            <a:off x="6553200" y="228600"/>
            <a:ext cx="2057400" cy="635000"/>
          </a:xfrm>
          <a:prstGeom prst="rect">
            <a:avLst/>
          </a:prstGeom>
          <a:noFill/>
          <a:ln>
            <a:noFill/>
          </a:ln>
        </p:spPr>
      </p:pic>
      <p:pic>
        <p:nvPicPr>
          <p:cNvPr id="14" name="Google Shape;14;p1" descr="LOGO.gif"/>
          <p:cNvPicPr preferRelativeResize="0"/>
          <p:nvPr/>
        </p:nvPicPr>
        <p:blipFill rotWithShape="1">
          <a:blip r:embed="rId4">
            <a:alphaModFix/>
          </a:blip>
          <a:srcRect b="10713"/>
          <a:stretch/>
        </p:blipFill>
        <p:spPr>
          <a:xfrm>
            <a:off x="6553200" y="228600"/>
            <a:ext cx="2057400" cy="635000"/>
          </a:xfrm>
          <a:prstGeom prst="rect">
            <a:avLst/>
          </a:prstGeom>
          <a:noFill/>
          <a:ln>
            <a:noFill/>
          </a:ln>
        </p:spPr>
      </p:pic>
      <p:grpSp>
        <p:nvGrpSpPr>
          <p:cNvPr id="15" name="Google Shape;15;p1"/>
          <p:cNvGrpSpPr/>
          <p:nvPr/>
        </p:nvGrpSpPr>
        <p:grpSpPr>
          <a:xfrm>
            <a:off x="6146800" y="0"/>
            <a:ext cx="2997200" cy="876300"/>
            <a:chOff x="6096000" y="3924300"/>
            <a:chExt cx="2997200" cy="876300"/>
          </a:xfrm>
        </p:grpSpPr>
        <p:sp>
          <p:nvSpPr>
            <p:cNvPr id="16" name="Google Shape;16;p1"/>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7" name="Google Shape;17;p1" descr="LOGO.gif"/>
            <p:cNvPicPr preferRelativeResize="0"/>
            <p:nvPr/>
          </p:nvPicPr>
          <p:blipFill rotWithShape="1">
            <a:blip r:embed="rId4">
              <a:alphaModFix/>
            </a:blip>
            <a:srcRect b="10713"/>
            <a:stretch/>
          </p:blipFill>
          <p:spPr>
            <a:xfrm>
              <a:off x="6502400" y="4152900"/>
              <a:ext cx="2057400" cy="635000"/>
            </a:xfrm>
            <a:prstGeom prst="rect">
              <a:avLst/>
            </a:prstGeom>
            <a:noFill/>
            <a:ln>
              <a:noFill/>
            </a:ln>
          </p:spPr>
        </p:pic>
        <p:sp>
          <p:nvSpPr>
            <p:cNvPr id="18" name="Google Shape;18;p1"/>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pic>
        <p:nvPicPr>
          <p:cNvPr id="19" name="Google Shape;19;p1" descr="logo.jpg"/>
          <p:cNvPicPr preferRelativeResize="0"/>
          <p:nvPr/>
        </p:nvPicPr>
        <p:blipFill rotWithShape="1">
          <a:blip r:embed="rId5">
            <a:alphaModFix/>
          </a:blip>
          <a:srcRect/>
          <a:stretch/>
        </p:blipFill>
        <p:spPr>
          <a:xfrm>
            <a:off x="6553200" y="228600"/>
            <a:ext cx="1920875" cy="6096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Lst>
  <p:transition>
    <p:fade thruBlk="1"/>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46" name="Google Shape;46;p5"/>
          <p:cNvSpPr txBox="1"/>
          <p:nvPr/>
        </p:nvSpPr>
        <p:spPr>
          <a:xfrm>
            <a:off x="1043600" y="1053398"/>
            <a:ext cx="6624600" cy="15080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dirty="0" smtClean="0">
                <a:solidFill>
                  <a:srgbClr val="FF0000"/>
                </a:solidFill>
                <a:latin typeface="Arial Black"/>
                <a:ea typeface="Arial Black"/>
                <a:cs typeface="Arial Black"/>
                <a:sym typeface="Arial Black"/>
              </a:rPr>
              <a:t>Hospital Appointment</a:t>
            </a:r>
            <a:r>
              <a:rPr lang="en-US" sz="3600" dirty="0" smtClean="0">
                <a:solidFill>
                  <a:srgbClr val="FF0000"/>
                </a:solidFill>
                <a:latin typeface="Arial Black"/>
                <a:ea typeface="Arial Black"/>
                <a:cs typeface="Arial Black"/>
                <a:sym typeface="Arial Black"/>
              </a:rPr>
              <a:t> </a:t>
            </a:r>
            <a:r>
              <a:rPr lang="en-US" sz="3600" dirty="0">
                <a:solidFill>
                  <a:srgbClr val="FF0000"/>
                </a:solidFill>
                <a:latin typeface="Arial Black"/>
                <a:ea typeface="Arial Black"/>
                <a:cs typeface="Arial Black"/>
                <a:sym typeface="Arial Black"/>
              </a:rPr>
              <a:t>Management </a:t>
            </a:r>
            <a:r>
              <a:rPr lang="en-US" sz="3600" dirty="0" smtClean="0">
                <a:solidFill>
                  <a:srgbClr val="FF0000"/>
                </a:solidFill>
                <a:latin typeface="Arial Black"/>
                <a:ea typeface="Arial Black"/>
                <a:cs typeface="Arial Black"/>
                <a:sym typeface="Arial Black"/>
              </a:rPr>
              <a:t>System</a:t>
            </a:r>
          </a:p>
          <a:p>
            <a:pPr marL="0" marR="0" lvl="0" indent="0" algn="ctr" rtl="0">
              <a:spcBef>
                <a:spcPts val="0"/>
              </a:spcBef>
              <a:spcAft>
                <a:spcPts val="0"/>
              </a:spcAft>
              <a:buNone/>
            </a:pPr>
            <a:r>
              <a:rPr lang="en-US" sz="2000" dirty="0" smtClean="0">
                <a:solidFill>
                  <a:schemeClr val="tx1"/>
                </a:solidFill>
                <a:latin typeface="Arial Black"/>
                <a:ea typeface="Arial Black"/>
                <a:cs typeface="Arial Black"/>
                <a:sym typeface="Arial Black"/>
              </a:rPr>
              <a:t>Database Management System Project</a:t>
            </a:r>
            <a:endParaRPr sz="2000" dirty="0">
              <a:solidFill>
                <a:schemeClr val="tx1"/>
              </a:solidFill>
              <a:latin typeface="Arial Black"/>
              <a:ea typeface="Arial Black"/>
              <a:cs typeface="Arial Black"/>
              <a:sym typeface="Arial Black"/>
            </a:endParaRPr>
          </a:p>
        </p:txBody>
      </p:sp>
      <p:sp>
        <p:nvSpPr>
          <p:cNvPr id="47" name="Google Shape;47;p5"/>
          <p:cNvSpPr txBox="1"/>
          <p:nvPr/>
        </p:nvSpPr>
        <p:spPr>
          <a:xfrm>
            <a:off x="3275856" y="4653136"/>
            <a:ext cx="255198" cy="95410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Times New Roman"/>
                <a:ea typeface="Times New Roman"/>
                <a:cs typeface="Times New Roman"/>
                <a:sym typeface="Times New Roman"/>
              </a:rPr>
              <a: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8" name="Google Shape;48;p5"/>
          <p:cNvSpPr txBox="1"/>
          <p:nvPr/>
        </p:nvSpPr>
        <p:spPr>
          <a:xfrm>
            <a:off x="1854200" y="2730501"/>
            <a:ext cx="5152600" cy="2800726"/>
          </a:xfrm>
          <a:prstGeom prst="rect">
            <a:avLst/>
          </a:prstGeom>
          <a:solidFill>
            <a:srgbClr val="FABF8E"/>
          </a:solidFill>
          <a:ln>
            <a:noFill/>
          </a:ln>
        </p:spPr>
        <p:txBody>
          <a:bodyPr spcFirstLastPara="1" wrap="square" lIns="91425" tIns="45700" rIns="91425" bIns="45700" anchor="t" anchorCtr="0">
            <a:spAutoFit/>
          </a:bodyPr>
          <a:lstStyle/>
          <a:p>
            <a:r>
              <a:rPr lang="en-US" sz="2000" b="1" dirty="0" smtClean="0"/>
              <a:t>Submitted By</a:t>
            </a:r>
            <a:endParaRPr lang="en-US" sz="2000" dirty="0" smtClean="0"/>
          </a:p>
          <a:p>
            <a:r>
              <a:rPr lang="en-US" sz="2000" dirty="0" smtClean="0"/>
              <a:t>Khushboo Raizada (2410990967)</a:t>
            </a:r>
          </a:p>
          <a:p>
            <a:r>
              <a:rPr lang="en-US" sz="2000" dirty="0" err="1" smtClean="0"/>
              <a:t>B.Tech</a:t>
            </a:r>
            <a:r>
              <a:rPr lang="en-US" sz="2000" dirty="0" smtClean="0"/>
              <a:t> CSE</a:t>
            </a:r>
          </a:p>
          <a:p>
            <a:r>
              <a:rPr lang="en-US" sz="2000" dirty="0" err="1" smtClean="0"/>
              <a:t>Chitkara</a:t>
            </a:r>
            <a:r>
              <a:rPr lang="en-US" sz="2000" dirty="0" smtClean="0"/>
              <a:t> University</a:t>
            </a:r>
          </a:p>
          <a:p>
            <a:pPr lvl="0"/>
            <a:endParaRPr lang="en-US" sz="2000" b="1" dirty="0">
              <a:solidFill>
                <a:schemeClr val="dk1"/>
              </a:solidFill>
              <a:latin typeface="Calibri"/>
              <a:ea typeface="Calibri"/>
              <a:cs typeface="Calibri"/>
              <a:sym typeface="Calibri"/>
            </a:endParaRPr>
          </a:p>
          <a:p>
            <a:pPr marL="0" marR="0" lvl="0" indent="0" algn="l" rtl="0">
              <a:spcBef>
                <a:spcPts val="0"/>
              </a:spcBef>
              <a:spcAft>
                <a:spcPts val="0"/>
              </a:spcAft>
              <a:buNone/>
            </a:pPr>
            <a:endParaRPr sz="2000" dirty="0">
              <a:solidFill>
                <a:schemeClr val="dk1"/>
              </a:solidFill>
              <a:latin typeface="Calibri"/>
              <a:ea typeface="Calibri"/>
              <a:cs typeface="Calibri"/>
              <a:sym typeface="Calibri"/>
            </a:endParaRPr>
          </a:p>
          <a:p>
            <a:pPr marL="0" marR="0" lvl="0" indent="0" algn="l" rtl="0">
              <a:spcBef>
                <a:spcPts val="0"/>
              </a:spcBef>
              <a:spcAft>
                <a:spcPts val="0"/>
              </a:spcAft>
              <a:buNone/>
            </a:pPr>
            <a:endParaRPr sz="1800" dirty="0">
              <a:solidFill>
                <a:schemeClr val="lt1"/>
              </a:solidFill>
              <a:latin typeface="Calibri"/>
              <a:ea typeface="Calibri"/>
              <a:cs typeface="Calibri"/>
              <a:sym typeface="Calibri"/>
            </a:endParaRPr>
          </a:p>
          <a:p>
            <a:pPr marL="0" marR="0" lvl="0" indent="0" algn="l" rtl="0">
              <a:spcBef>
                <a:spcPts val="0"/>
              </a:spcBef>
              <a:spcAft>
                <a:spcPts val="0"/>
              </a:spcAft>
              <a:buNone/>
            </a:pPr>
            <a:r>
              <a:rPr lang="en-US" sz="2000" dirty="0">
                <a:solidFill>
                  <a:schemeClr val="dk1"/>
                </a:solidFill>
                <a:latin typeface="Times New Roman"/>
                <a:ea typeface="Times New Roman"/>
                <a:cs typeface="Times New Roman"/>
                <a:sym typeface="Times New Roman"/>
              </a:rPr>
              <a:t>Faculty Coordinator: </a:t>
            </a:r>
            <a:r>
              <a:rPr lang="en-US" sz="2000" b="1" dirty="0">
                <a:solidFill>
                  <a:schemeClr val="dk1"/>
                </a:solidFill>
                <a:latin typeface="Times New Roman"/>
                <a:ea typeface="Times New Roman"/>
                <a:cs typeface="Times New Roman"/>
                <a:sym typeface="Times New Roman"/>
              </a:rPr>
              <a:t>Mr. Sachin Garg</a:t>
            </a:r>
            <a:endParaRPr sz="1800" b="1" dirty="0">
              <a:solidFill>
                <a:schemeClr val="lt1"/>
              </a:solidFill>
              <a:latin typeface="Calibri"/>
              <a:ea typeface="Calibri"/>
              <a:cs typeface="Calibri"/>
              <a:sym typeface="Calibri"/>
            </a:endParaRPr>
          </a:p>
          <a:p>
            <a:pPr marL="0" marR="0" lvl="0" indent="0" algn="l" rtl="0">
              <a:spcBef>
                <a:spcPts val="0"/>
              </a:spcBef>
              <a:spcAft>
                <a:spcPts val="0"/>
              </a:spcAft>
              <a:buNone/>
            </a:pPr>
            <a:endParaRPr sz="1800" dirty="0">
              <a:solidFill>
                <a:schemeClr val="lt1"/>
              </a:solidFill>
              <a:latin typeface="Calibri"/>
              <a:ea typeface="Calibri"/>
              <a:cs typeface="Calibri"/>
              <a:sym typeface="Calibri"/>
            </a:endParaRPr>
          </a:p>
        </p:txBody>
      </p:sp>
      <p:sp>
        <p:nvSpPr>
          <p:cNvPr id="49" name="Google Shape;49;p5"/>
          <p:cNvSpPr txBox="1"/>
          <p:nvPr/>
        </p:nvSpPr>
        <p:spPr>
          <a:xfrm>
            <a:off x="1187624" y="5661248"/>
            <a:ext cx="6947095"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rgbClr val="FF0000"/>
                </a:solidFill>
                <a:latin typeface="Times New Roman"/>
                <a:ea typeface="Times New Roman"/>
                <a:cs typeface="Times New Roman"/>
                <a:sym typeface="Times New Roman"/>
              </a:rPr>
              <a:t>Chitkara University Institute of Engineering and Technology, </a:t>
            </a:r>
            <a:endParaRPr dirty="0"/>
          </a:p>
          <a:p>
            <a:pPr marL="0" marR="0" lvl="0" indent="0" algn="ctr" rtl="0">
              <a:spcBef>
                <a:spcPts val="0"/>
              </a:spcBef>
              <a:spcAft>
                <a:spcPts val="0"/>
              </a:spcAft>
              <a:buNone/>
            </a:pPr>
            <a:r>
              <a:rPr lang="en-US" sz="2000" b="1" dirty="0">
                <a:solidFill>
                  <a:srgbClr val="FF0000"/>
                </a:solidFill>
                <a:latin typeface="Times New Roman"/>
                <a:ea typeface="Times New Roman"/>
                <a:cs typeface="Times New Roman"/>
                <a:sym typeface="Times New Roman"/>
              </a:rPr>
              <a:t>Chitkara University, Punjab</a:t>
            </a:r>
            <a:endParaRPr sz="2000" b="1" dirty="0">
              <a:solidFill>
                <a:srgbClr val="FF0000"/>
              </a:solidFill>
              <a:latin typeface="Times New Roman"/>
              <a:ea typeface="Times New Roman"/>
              <a:cs typeface="Times New Roman"/>
              <a:sym typeface="Times New Roman"/>
            </a:endParaRPr>
          </a:p>
        </p:txBody>
      </p:sp>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6"/>
          <p:cNvSpPr txBox="1"/>
          <p:nvPr/>
        </p:nvSpPr>
        <p:spPr>
          <a:xfrm>
            <a:off x="467544" y="260648"/>
            <a:ext cx="540060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Times New Roman"/>
                <a:ea typeface="Times New Roman"/>
                <a:cs typeface="Times New Roman"/>
                <a:sym typeface="Times New Roman"/>
              </a:rPr>
              <a:t>Table of Contents</a:t>
            </a:r>
            <a:endParaRPr sz="1800" b="1">
              <a:solidFill>
                <a:schemeClr val="dk1"/>
              </a:solidFill>
              <a:latin typeface="Times New Roman"/>
              <a:ea typeface="Times New Roman"/>
              <a:cs typeface="Times New Roman"/>
              <a:sym typeface="Times New Roman"/>
            </a:endParaRPr>
          </a:p>
        </p:txBody>
      </p:sp>
      <p:sp>
        <p:nvSpPr>
          <p:cNvPr id="55" name="Google Shape;55;p6"/>
          <p:cNvSpPr txBox="1"/>
          <p:nvPr/>
        </p:nvSpPr>
        <p:spPr>
          <a:xfrm>
            <a:off x="264160" y="1066800"/>
            <a:ext cx="8310880" cy="7848262"/>
          </a:xfrm>
          <a:prstGeom prst="rect">
            <a:avLst/>
          </a:prstGeom>
          <a:noFill/>
          <a:ln>
            <a:noFill/>
          </a:ln>
        </p:spPr>
        <p:txBody>
          <a:bodyPr spcFirstLastPara="1" wrap="square" lIns="91425" tIns="45700" rIns="91425" bIns="45700" anchor="t" anchorCtr="0">
            <a:spAutoFit/>
          </a:bodyPr>
          <a:lstStyle/>
          <a:p>
            <a:pPr marL="0" marR="0" lvl="0" indent="-177800" algn="l" rtl="0">
              <a:spcBef>
                <a:spcPts val="0"/>
              </a:spcBef>
              <a:spcAft>
                <a:spcPts val="0"/>
              </a:spcAft>
              <a:buClr>
                <a:schemeClr val="dk1"/>
              </a:buClr>
              <a:buSzPts val="2800"/>
              <a:buFont typeface="Arial"/>
              <a:buChar char="•"/>
            </a:pPr>
            <a:r>
              <a:rPr lang="en-US" dirty="0">
                <a:solidFill>
                  <a:schemeClr val="dk1"/>
                </a:solidFill>
                <a:latin typeface="Times New Roman"/>
                <a:ea typeface="Times New Roman"/>
                <a:cs typeface="Times New Roman"/>
                <a:sym typeface="Times New Roman"/>
              </a:rPr>
              <a:t>Introduction</a:t>
            </a:r>
          </a:p>
          <a:p>
            <a:pPr marL="0" marR="0" lvl="0" indent="-177800" algn="l" rtl="0">
              <a:spcBef>
                <a:spcPts val="0"/>
              </a:spcBef>
              <a:spcAft>
                <a:spcPts val="0"/>
              </a:spcAft>
              <a:buClr>
                <a:schemeClr val="dk1"/>
              </a:buClr>
              <a:buSzPts val="2800"/>
              <a:buFont typeface="Arial"/>
              <a:buChar char="•"/>
            </a:pPr>
            <a:endParaRPr lang="en-US" dirty="0">
              <a:solidFill>
                <a:schemeClr val="dk1"/>
              </a:solidFill>
              <a:latin typeface="Times New Roman"/>
              <a:ea typeface="Times New Roman"/>
              <a:cs typeface="Times New Roman"/>
              <a:sym typeface="Times New Roman"/>
            </a:endParaRPr>
          </a:p>
          <a:p>
            <a:pPr marL="0" marR="0" lvl="0" indent="-177800" algn="l" rtl="0">
              <a:spcBef>
                <a:spcPts val="0"/>
              </a:spcBef>
              <a:spcAft>
                <a:spcPts val="0"/>
              </a:spcAft>
              <a:buClr>
                <a:schemeClr val="dk1"/>
              </a:buClr>
              <a:buSzPts val="2800"/>
              <a:buFont typeface="Arial"/>
              <a:buChar char="•"/>
            </a:pPr>
            <a:r>
              <a:rPr lang="en-US" dirty="0">
                <a:solidFill>
                  <a:schemeClr val="dk1"/>
                </a:solidFill>
                <a:latin typeface="Times New Roman"/>
                <a:ea typeface="Times New Roman"/>
                <a:cs typeface="Times New Roman"/>
                <a:sym typeface="Times New Roman"/>
              </a:rPr>
              <a:t>Problem overview</a:t>
            </a:r>
          </a:p>
          <a:p>
            <a:pPr marL="0" marR="0" lvl="0" indent="-177800" algn="l" rtl="0">
              <a:spcBef>
                <a:spcPts val="0"/>
              </a:spcBef>
              <a:spcAft>
                <a:spcPts val="0"/>
              </a:spcAft>
              <a:buClr>
                <a:schemeClr val="dk1"/>
              </a:buClr>
              <a:buSzPts val="2800"/>
              <a:buFont typeface="Arial"/>
              <a:buChar char="•"/>
            </a:pPr>
            <a:endParaRPr lang="en-US" dirty="0">
              <a:solidFill>
                <a:schemeClr val="dk1"/>
              </a:solidFill>
              <a:latin typeface="Times New Roman"/>
              <a:ea typeface="Times New Roman"/>
              <a:cs typeface="Times New Roman"/>
              <a:sym typeface="Times New Roman"/>
            </a:endParaRPr>
          </a:p>
          <a:p>
            <a:pPr marL="0" marR="0" lvl="0" indent="-177800" algn="l" rtl="0">
              <a:spcBef>
                <a:spcPts val="0"/>
              </a:spcBef>
              <a:spcAft>
                <a:spcPts val="0"/>
              </a:spcAft>
              <a:buClr>
                <a:schemeClr val="dk1"/>
              </a:buClr>
              <a:buSzPts val="2800"/>
              <a:buFont typeface="Arial"/>
              <a:buChar char="•"/>
            </a:pPr>
            <a:r>
              <a:rPr lang="en-US" dirty="0">
                <a:solidFill>
                  <a:schemeClr val="dk1"/>
                </a:solidFill>
                <a:latin typeface="Times New Roman"/>
                <a:ea typeface="Times New Roman"/>
                <a:cs typeface="Times New Roman"/>
                <a:sym typeface="Times New Roman"/>
              </a:rPr>
              <a:t>Scope of the Project</a:t>
            </a:r>
          </a:p>
          <a:p>
            <a:pPr marL="0" marR="0" lvl="0" indent="-177800" algn="l" rtl="0">
              <a:spcBef>
                <a:spcPts val="0"/>
              </a:spcBef>
              <a:spcAft>
                <a:spcPts val="0"/>
              </a:spcAft>
              <a:buClr>
                <a:schemeClr val="dk1"/>
              </a:buClr>
              <a:buSzPts val="2800"/>
              <a:buFont typeface="Arial"/>
              <a:buChar char="•"/>
            </a:pPr>
            <a:endParaRPr lang="en-US" dirty="0">
              <a:solidFill>
                <a:schemeClr val="dk1"/>
              </a:solidFill>
              <a:latin typeface="Times New Roman"/>
              <a:ea typeface="Times New Roman"/>
              <a:cs typeface="Times New Roman"/>
              <a:sym typeface="Times New Roman"/>
            </a:endParaRPr>
          </a:p>
          <a:p>
            <a:pPr marL="0" marR="0" lvl="0" indent="-177800" algn="l" rtl="0">
              <a:spcBef>
                <a:spcPts val="0"/>
              </a:spcBef>
              <a:spcAft>
                <a:spcPts val="0"/>
              </a:spcAft>
              <a:buClr>
                <a:schemeClr val="dk1"/>
              </a:buClr>
              <a:buSzPts val="2800"/>
              <a:buFont typeface="Arial"/>
              <a:buChar char="•"/>
            </a:pPr>
            <a:r>
              <a:rPr lang="en-US" dirty="0">
                <a:solidFill>
                  <a:schemeClr val="dk1"/>
                </a:solidFill>
                <a:latin typeface="Times New Roman"/>
                <a:ea typeface="Times New Roman"/>
                <a:cs typeface="Times New Roman"/>
                <a:sym typeface="Times New Roman"/>
              </a:rPr>
              <a:t>Entities and Attributes</a:t>
            </a:r>
          </a:p>
          <a:p>
            <a:pPr marL="0" marR="0" lvl="0" indent="-177800" algn="l" rtl="0">
              <a:spcBef>
                <a:spcPts val="0"/>
              </a:spcBef>
              <a:spcAft>
                <a:spcPts val="0"/>
              </a:spcAft>
              <a:buClr>
                <a:schemeClr val="dk1"/>
              </a:buClr>
              <a:buSzPts val="2800"/>
              <a:buFont typeface="Arial"/>
              <a:buChar char="•"/>
            </a:pPr>
            <a:endParaRPr lang="en-US" dirty="0">
              <a:solidFill>
                <a:schemeClr val="dk1"/>
              </a:solidFill>
              <a:latin typeface="Times New Roman"/>
              <a:ea typeface="Times New Roman"/>
              <a:cs typeface="Times New Roman"/>
              <a:sym typeface="Times New Roman"/>
            </a:endParaRPr>
          </a:p>
          <a:p>
            <a:pPr marL="0" marR="0" lvl="0" indent="-177800" algn="l" rtl="0">
              <a:spcBef>
                <a:spcPts val="0"/>
              </a:spcBef>
              <a:spcAft>
                <a:spcPts val="0"/>
              </a:spcAft>
              <a:buClr>
                <a:schemeClr val="dk1"/>
              </a:buClr>
              <a:buSzPts val="2800"/>
              <a:buFont typeface="Arial"/>
              <a:buChar char="•"/>
            </a:pPr>
            <a:r>
              <a:rPr lang="en-IN" dirty="0">
                <a:solidFill>
                  <a:schemeClr val="dk1"/>
                </a:solidFill>
                <a:latin typeface="Times New Roman"/>
                <a:ea typeface="Times New Roman"/>
                <a:cs typeface="Times New Roman"/>
                <a:sym typeface="Times New Roman"/>
              </a:rPr>
              <a:t>Relationships</a:t>
            </a:r>
          </a:p>
          <a:p>
            <a:pPr marL="0" marR="0" lvl="0" indent="-177800" algn="l" rtl="0">
              <a:spcBef>
                <a:spcPts val="0"/>
              </a:spcBef>
              <a:spcAft>
                <a:spcPts val="0"/>
              </a:spcAft>
              <a:buClr>
                <a:schemeClr val="dk1"/>
              </a:buClr>
              <a:buSzPts val="2800"/>
              <a:buFont typeface="Arial"/>
              <a:buChar char="•"/>
            </a:pPr>
            <a:endParaRPr lang="en-IN" dirty="0">
              <a:solidFill>
                <a:schemeClr val="dk1"/>
              </a:solidFill>
              <a:latin typeface="Times New Roman"/>
              <a:ea typeface="Times New Roman"/>
              <a:cs typeface="Times New Roman"/>
              <a:sym typeface="Times New Roman"/>
            </a:endParaRPr>
          </a:p>
          <a:p>
            <a:pPr marL="0" marR="0" lvl="0" indent="-177800" algn="l" rtl="0">
              <a:spcBef>
                <a:spcPts val="0"/>
              </a:spcBef>
              <a:spcAft>
                <a:spcPts val="0"/>
              </a:spcAft>
              <a:buClr>
                <a:schemeClr val="dk1"/>
              </a:buClr>
              <a:buSzPts val="2800"/>
              <a:buFont typeface="Arial"/>
              <a:buChar char="•"/>
            </a:pPr>
            <a:r>
              <a:rPr lang="en-IN" dirty="0">
                <a:solidFill>
                  <a:schemeClr val="dk1"/>
                </a:solidFill>
                <a:latin typeface="Times New Roman"/>
                <a:ea typeface="Times New Roman"/>
                <a:cs typeface="Times New Roman"/>
                <a:sym typeface="Times New Roman"/>
              </a:rPr>
              <a:t>ER Diagram</a:t>
            </a:r>
          </a:p>
          <a:p>
            <a:pPr marL="0" marR="0" lvl="0" indent="-177800" algn="l" rtl="0">
              <a:spcBef>
                <a:spcPts val="0"/>
              </a:spcBef>
              <a:spcAft>
                <a:spcPts val="0"/>
              </a:spcAft>
              <a:buClr>
                <a:schemeClr val="dk1"/>
              </a:buClr>
              <a:buSzPts val="2800"/>
              <a:buFont typeface="Arial"/>
              <a:buChar char="•"/>
            </a:pPr>
            <a:endParaRPr lang="en-IN" dirty="0">
              <a:solidFill>
                <a:schemeClr val="dk1"/>
              </a:solidFill>
              <a:latin typeface="Times New Roman"/>
              <a:ea typeface="Times New Roman"/>
              <a:cs typeface="Times New Roman"/>
              <a:sym typeface="Times New Roman"/>
            </a:endParaRPr>
          </a:p>
          <a:p>
            <a:pPr marL="0" marR="0" lvl="0" indent="-177800" algn="l" rtl="0">
              <a:spcBef>
                <a:spcPts val="0"/>
              </a:spcBef>
              <a:spcAft>
                <a:spcPts val="0"/>
              </a:spcAft>
              <a:buClr>
                <a:schemeClr val="dk1"/>
              </a:buClr>
              <a:buSzPts val="2800"/>
              <a:buFont typeface="Arial"/>
              <a:buChar char="•"/>
            </a:pPr>
            <a:r>
              <a:rPr lang="en-US" dirty="0">
                <a:solidFill>
                  <a:schemeClr val="dk1"/>
                </a:solidFill>
                <a:latin typeface="Times New Roman"/>
                <a:ea typeface="Times New Roman"/>
                <a:cs typeface="Times New Roman"/>
                <a:sym typeface="Times New Roman"/>
              </a:rPr>
              <a:t>ER To Relational Schema</a:t>
            </a:r>
          </a:p>
          <a:p>
            <a:pPr marL="0" marR="0" lvl="0" indent="-177800" algn="l" rtl="0">
              <a:spcBef>
                <a:spcPts val="0"/>
              </a:spcBef>
              <a:spcAft>
                <a:spcPts val="0"/>
              </a:spcAft>
              <a:buClr>
                <a:schemeClr val="dk1"/>
              </a:buClr>
              <a:buSzPts val="2800"/>
              <a:buFont typeface="Arial"/>
              <a:buChar char="•"/>
            </a:pPr>
            <a:endParaRPr lang="en-US" dirty="0">
              <a:solidFill>
                <a:schemeClr val="dk1"/>
              </a:solidFill>
              <a:latin typeface="Times New Roman"/>
              <a:ea typeface="Times New Roman"/>
              <a:cs typeface="Times New Roman"/>
              <a:sym typeface="Times New Roman"/>
            </a:endParaRPr>
          </a:p>
          <a:p>
            <a:pPr marL="0" marR="0" lvl="0" indent="-177800" algn="l" rtl="0">
              <a:spcBef>
                <a:spcPts val="0"/>
              </a:spcBef>
              <a:spcAft>
                <a:spcPts val="0"/>
              </a:spcAft>
              <a:buClr>
                <a:schemeClr val="dk1"/>
              </a:buClr>
              <a:buSzPts val="2800"/>
              <a:buFont typeface="Arial"/>
              <a:buChar char="•"/>
            </a:pPr>
            <a:r>
              <a:rPr lang="en-US" dirty="0">
                <a:solidFill>
                  <a:schemeClr val="dk1"/>
                </a:solidFill>
                <a:latin typeface="Times New Roman"/>
                <a:ea typeface="Times New Roman"/>
                <a:cs typeface="Times New Roman"/>
                <a:sym typeface="Times New Roman"/>
              </a:rPr>
              <a:t> Queries</a:t>
            </a:r>
          </a:p>
          <a:p>
            <a:pPr marR="0" lvl="0" algn="l" rtl="0">
              <a:spcBef>
                <a:spcPts val="0"/>
              </a:spcBef>
              <a:spcAft>
                <a:spcPts val="0"/>
              </a:spcAft>
              <a:buClr>
                <a:schemeClr val="dk1"/>
              </a:buClr>
              <a:buSzPts val="2800"/>
            </a:pPr>
            <a:endParaRPr lang="en-US" dirty="0">
              <a:solidFill>
                <a:schemeClr val="dk1"/>
              </a:solidFill>
              <a:latin typeface="Times New Roman"/>
              <a:ea typeface="Times New Roman"/>
              <a:cs typeface="Times New Roman"/>
              <a:sym typeface="Times New Roman"/>
            </a:endParaRPr>
          </a:p>
          <a:p>
            <a:pPr marL="0" marR="0" lvl="0" indent="-177800" algn="l" rtl="0">
              <a:spcBef>
                <a:spcPts val="0"/>
              </a:spcBef>
              <a:spcAft>
                <a:spcPts val="0"/>
              </a:spcAft>
              <a:buClr>
                <a:schemeClr val="dk1"/>
              </a:buClr>
              <a:buSzPts val="2800"/>
              <a:buFont typeface="Arial"/>
              <a:buChar char="•"/>
            </a:pPr>
            <a:r>
              <a:rPr lang="en-US" dirty="0">
                <a:solidFill>
                  <a:schemeClr val="dk1"/>
                </a:solidFill>
                <a:latin typeface="Times New Roman"/>
                <a:ea typeface="Times New Roman"/>
                <a:cs typeface="Times New Roman"/>
                <a:sym typeface="Times New Roman"/>
              </a:rPr>
              <a:t>Relational Algebra to SQL</a:t>
            </a:r>
          </a:p>
          <a:p>
            <a:pPr marL="0" marR="0" lvl="0" indent="-177800" algn="l" rtl="0">
              <a:spcBef>
                <a:spcPts val="0"/>
              </a:spcBef>
              <a:spcAft>
                <a:spcPts val="0"/>
              </a:spcAft>
              <a:buClr>
                <a:schemeClr val="dk1"/>
              </a:buClr>
              <a:buSzPts val="2800"/>
              <a:buFont typeface="Arial"/>
              <a:buChar char="•"/>
            </a:pPr>
            <a:endParaRPr lang="en-US" dirty="0">
              <a:solidFill>
                <a:schemeClr val="dk1"/>
              </a:solidFill>
              <a:latin typeface="Times New Roman"/>
              <a:ea typeface="Times New Roman"/>
              <a:cs typeface="Times New Roman"/>
              <a:sym typeface="Times New Roman"/>
            </a:endParaRPr>
          </a:p>
          <a:p>
            <a:pPr marL="0" marR="0" lvl="0" indent="-177800" algn="l" rtl="0">
              <a:spcBef>
                <a:spcPts val="0"/>
              </a:spcBef>
              <a:spcAft>
                <a:spcPts val="0"/>
              </a:spcAft>
              <a:buClr>
                <a:schemeClr val="dk1"/>
              </a:buClr>
              <a:buSzPts val="2800"/>
              <a:buFont typeface="Arial"/>
              <a:buChar char="•"/>
            </a:pPr>
            <a:r>
              <a:rPr lang="en-US" dirty="0">
                <a:solidFill>
                  <a:schemeClr val="dk1"/>
                </a:solidFill>
                <a:latin typeface="Times New Roman"/>
                <a:ea typeface="Times New Roman"/>
                <a:cs typeface="Times New Roman"/>
                <a:sym typeface="Times New Roman"/>
              </a:rPr>
              <a:t>Procedures</a:t>
            </a:r>
          </a:p>
          <a:p>
            <a:pPr marL="0" marR="0" lvl="0" indent="-177800" algn="l" rtl="0">
              <a:spcBef>
                <a:spcPts val="0"/>
              </a:spcBef>
              <a:spcAft>
                <a:spcPts val="0"/>
              </a:spcAft>
              <a:buClr>
                <a:schemeClr val="dk1"/>
              </a:buClr>
              <a:buSzPts val="2800"/>
              <a:buFont typeface="Arial"/>
              <a:buChar char="•"/>
            </a:pPr>
            <a:endParaRPr lang="en-US" dirty="0">
              <a:solidFill>
                <a:schemeClr val="dk1"/>
              </a:solidFill>
              <a:latin typeface="Times New Roman"/>
              <a:ea typeface="Times New Roman"/>
              <a:cs typeface="Times New Roman"/>
              <a:sym typeface="Times New Roman"/>
            </a:endParaRPr>
          </a:p>
          <a:p>
            <a:pPr marL="0" marR="0" lvl="0" indent="-177800" algn="l" rtl="0">
              <a:spcBef>
                <a:spcPts val="0"/>
              </a:spcBef>
              <a:spcAft>
                <a:spcPts val="0"/>
              </a:spcAft>
              <a:buClr>
                <a:schemeClr val="dk1"/>
              </a:buClr>
              <a:buSzPts val="2800"/>
              <a:buFont typeface="Arial"/>
              <a:buChar char="•"/>
            </a:pPr>
            <a:r>
              <a:rPr lang="en-US" dirty="0">
                <a:solidFill>
                  <a:schemeClr val="dk1"/>
                </a:solidFill>
                <a:latin typeface="Times New Roman"/>
                <a:ea typeface="Times New Roman"/>
                <a:cs typeface="Times New Roman"/>
                <a:sym typeface="Times New Roman"/>
              </a:rPr>
              <a:t>Triggers</a:t>
            </a:r>
          </a:p>
          <a:p>
            <a:pPr marL="0" marR="0" lvl="0" indent="-177800" algn="l" rtl="0">
              <a:spcBef>
                <a:spcPts val="0"/>
              </a:spcBef>
              <a:spcAft>
                <a:spcPts val="0"/>
              </a:spcAft>
              <a:buClr>
                <a:schemeClr val="dk1"/>
              </a:buClr>
              <a:buSzPts val="2800"/>
              <a:buFont typeface="Arial"/>
              <a:buChar char="•"/>
            </a:pPr>
            <a:endParaRPr lang="en-US" dirty="0">
              <a:solidFill>
                <a:schemeClr val="dk1"/>
              </a:solidFill>
              <a:latin typeface="Times New Roman"/>
              <a:ea typeface="Times New Roman"/>
              <a:cs typeface="Times New Roman"/>
              <a:sym typeface="Times New Roman"/>
            </a:endParaRPr>
          </a:p>
          <a:p>
            <a:pPr marL="0" marR="0" lvl="0" indent="-177800" algn="l" rtl="0">
              <a:spcBef>
                <a:spcPts val="0"/>
              </a:spcBef>
              <a:spcAft>
                <a:spcPts val="0"/>
              </a:spcAft>
              <a:buClr>
                <a:schemeClr val="dk1"/>
              </a:buClr>
              <a:buSzPts val="2800"/>
              <a:buFont typeface="Arial"/>
              <a:buChar char="•"/>
            </a:pPr>
            <a:r>
              <a:rPr lang="en-US" dirty="0">
                <a:solidFill>
                  <a:schemeClr val="dk1"/>
                </a:solidFill>
                <a:latin typeface="Times New Roman"/>
                <a:ea typeface="Times New Roman"/>
                <a:cs typeface="Times New Roman"/>
                <a:sym typeface="Times New Roman"/>
              </a:rPr>
              <a:t>Views</a:t>
            </a:r>
          </a:p>
          <a:p>
            <a:pPr marL="0" marR="0" lvl="0" indent="-177800" algn="l" rtl="0">
              <a:spcBef>
                <a:spcPts val="0"/>
              </a:spcBef>
              <a:spcAft>
                <a:spcPts val="0"/>
              </a:spcAft>
              <a:buClr>
                <a:schemeClr val="dk1"/>
              </a:buClr>
              <a:buSzPts val="2800"/>
              <a:buFont typeface="Arial"/>
              <a:buChar char="•"/>
            </a:pPr>
            <a:endParaRPr lang="en-US" dirty="0">
              <a:solidFill>
                <a:schemeClr val="dk1"/>
              </a:solidFill>
              <a:latin typeface="Times New Roman"/>
              <a:ea typeface="Times New Roman"/>
              <a:cs typeface="Times New Roman"/>
              <a:sym typeface="Times New Roman"/>
            </a:endParaRPr>
          </a:p>
          <a:p>
            <a:pPr marL="0" marR="0" lvl="0" indent="-177800" algn="l" rtl="0">
              <a:spcBef>
                <a:spcPts val="0"/>
              </a:spcBef>
              <a:spcAft>
                <a:spcPts val="0"/>
              </a:spcAft>
              <a:buClr>
                <a:schemeClr val="dk1"/>
              </a:buClr>
              <a:buSzPts val="2800"/>
              <a:buFont typeface="Arial"/>
              <a:buChar char="•"/>
            </a:pPr>
            <a:r>
              <a:rPr lang="en-IN" dirty="0">
                <a:solidFill>
                  <a:schemeClr val="dk1"/>
                </a:solidFill>
                <a:latin typeface="Times New Roman"/>
                <a:ea typeface="Times New Roman"/>
                <a:cs typeface="Times New Roman"/>
                <a:sym typeface="Times New Roman"/>
              </a:rPr>
              <a:t>Conclusion </a:t>
            </a:r>
            <a:endParaRPr lang="en-US" dirty="0">
              <a:solidFill>
                <a:schemeClr val="dk1"/>
              </a:solidFill>
              <a:latin typeface="Times New Roman"/>
              <a:ea typeface="Times New Roman"/>
              <a:cs typeface="Times New Roman"/>
              <a:sym typeface="Times New Roman"/>
            </a:endParaRPr>
          </a:p>
          <a:p>
            <a:pPr marL="0" marR="0" lvl="0" indent="-177800" algn="l" rtl="0">
              <a:spcBef>
                <a:spcPts val="0"/>
              </a:spcBef>
              <a:spcAft>
                <a:spcPts val="0"/>
              </a:spcAft>
              <a:buClr>
                <a:schemeClr val="dk1"/>
              </a:buClr>
              <a:buSzPts val="2800"/>
              <a:buFont typeface="Arial"/>
              <a:buChar char="•"/>
            </a:pPr>
            <a:endParaRPr lang="en-US" sz="2800" dirty="0">
              <a:solidFill>
                <a:schemeClr val="dk1"/>
              </a:solidFill>
              <a:latin typeface="Times New Roman"/>
              <a:ea typeface="Times New Roman"/>
              <a:cs typeface="Times New Roman"/>
              <a:sym typeface="Times New Roman"/>
            </a:endParaRPr>
          </a:p>
          <a:p>
            <a:pPr marL="0" marR="0" lvl="0" indent="-177800" algn="l" rtl="0">
              <a:spcBef>
                <a:spcPts val="0"/>
              </a:spcBef>
              <a:spcAft>
                <a:spcPts val="0"/>
              </a:spcAft>
              <a:buClr>
                <a:schemeClr val="dk1"/>
              </a:buClr>
              <a:buSzPts val="2800"/>
              <a:buFont typeface="Arial"/>
              <a:buChar char="•"/>
            </a:pPr>
            <a:endParaRPr lang="en-US" sz="2800" dirty="0">
              <a:solidFill>
                <a:schemeClr val="dk1"/>
              </a:solidFill>
              <a:latin typeface="Times New Roman"/>
              <a:ea typeface="Times New Roman"/>
              <a:cs typeface="Times New Roman"/>
              <a:sym typeface="Times New Roman"/>
            </a:endParaRPr>
          </a:p>
          <a:p>
            <a:pPr marL="0" marR="0" lvl="0" indent="-177800" algn="l" rtl="0">
              <a:spcBef>
                <a:spcPts val="0"/>
              </a:spcBef>
              <a:spcAft>
                <a:spcPts val="0"/>
              </a:spcAft>
              <a:buClr>
                <a:schemeClr val="dk1"/>
              </a:buClr>
              <a:buSzPts val="2800"/>
              <a:buFont typeface="Arial"/>
              <a:buChar char="•"/>
            </a:pPr>
            <a:endParaRPr lang="en-US" sz="2800" dirty="0">
              <a:solidFill>
                <a:schemeClr val="dk1"/>
              </a:solidFill>
              <a:latin typeface="Times New Roman"/>
              <a:ea typeface="Times New Roman"/>
              <a:cs typeface="Times New Roman"/>
              <a:sym typeface="Times New Roman"/>
            </a:endParaRPr>
          </a:p>
          <a:p>
            <a:pPr marL="457200" marR="0" lvl="0" indent="0" algn="l" rtl="0">
              <a:spcBef>
                <a:spcPts val="0"/>
              </a:spcBef>
              <a:spcAft>
                <a:spcPts val="0"/>
              </a:spcAft>
              <a:buNone/>
            </a:pPr>
            <a:endParaRPr lang="en-US" dirty="0"/>
          </a:p>
          <a:p>
            <a:pPr marL="0" marR="0" lvl="0" indent="0" algn="l" rtl="0">
              <a:spcBef>
                <a:spcPts val="0"/>
              </a:spcBef>
              <a:spcAft>
                <a:spcPts val="0"/>
              </a:spcAft>
              <a:buClr>
                <a:schemeClr val="dk1"/>
              </a:buClr>
              <a:buSzPts val="2800"/>
              <a:buFont typeface="Arial"/>
              <a:buNone/>
            </a:pPr>
            <a:endParaRPr lang="en-US" sz="28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2800"/>
              <a:buFont typeface="Arial"/>
              <a:buNone/>
            </a:pPr>
            <a:endParaRPr sz="2800" dirty="0">
              <a:solidFill>
                <a:schemeClr val="dk1"/>
              </a:solidFill>
              <a:latin typeface="Times New Roman"/>
              <a:ea typeface="Times New Roman"/>
              <a:cs typeface="Times New Roman"/>
              <a:sym typeface="Times New Roman"/>
            </a:endParaRPr>
          </a:p>
        </p:txBody>
      </p:sp>
    </p:spTree>
  </p:cSld>
  <p:clrMapOvr>
    <a:masterClrMapping/>
  </p:clrMapOvr>
  <p:transition>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7"/>
          <p:cNvSpPr txBox="1"/>
          <p:nvPr/>
        </p:nvSpPr>
        <p:spPr>
          <a:xfrm>
            <a:off x="316867" y="240984"/>
            <a:ext cx="5897120" cy="492402"/>
          </a:xfrm>
          <a:prstGeom prst="rect">
            <a:avLst/>
          </a:prstGeom>
          <a:noFill/>
          <a:ln>
            <a:noFill/>
          </a:ln>
        </p:spPr>
        <p:txBody>
          <a:bodyPr spcFirstLastPara="1" wrap="square" lIns="91425" tIns="45700" rIns="91425" bIns="45700" anchor="t" anchorCtr="0">
            <a:spAutoFit/>
          </a:bodyPr>
          <a:lstStyle/>
          <a:p>
            <a:pPr lvl="0"/>
            <a:r>
              <a:rPr lang="en-US" sz="2600" b="1" dirty="0">
                <a:latin typeface="Times New Roman" panose="02020603050405020304" pitchFamily="18" charset="0"/>
                <a:cs typeface="Times New Roman" panose="02020603050405020304" pitchFamily="18" charset="0"/>
              </a:rPr>
              <a:t>Introduction</a:t>
            </a:r>
            <a:endParaRPr sz="2600" b="1" dirty="0">
              <a:latin typeface="Times New Roman" panose="02020603050405020304" pitchFamily="18" charset="0"/>
              <a:cs typeface="Times New Roman" panose="02020603050405020304" pitchFamily="18" charset="0"/>
            </a:endParaRPr>
          </a:p>
        </p:txBody>
      </p:sp>
      <p:sp>
        <p:nvSpPr>
          <p:cNvPr id="61" name="Google Shape;61;p7"/>
          <p:cNvSpPr/>
          <p:nvPr/>
        </p:nvSpPr>
        <p:spPr>
          <a:xfrm>
            <a:off x="395525" y="1196746"/>
            <a:ext cx="8136900" cy="4906800"/>
          </a:xfrm>
          <a:prstGeom prst="rect">
            <a:avLst/>
          </a:prstGeom>
          <a:noFill/>
          <a:ln>
            <a:noFill/>
          </a:ln>
        </p:spPr>
        <p:txBody>
          <a:bodyPr spcFirstLastPara="1" wrap="square" lIns="91425" tIns="45700" rIns="91425" bIns="45700" anchor="t" anchorCtr="0">
            <a:noAutofit/>
          </a:bodyPr>
          <a:lstStyle/>
          <a:p>
            <a:pPr marL="0" indent="0">
              <a:buNone/>
            </a:pPr>
            <a:r>
              <a:rPr lang="en-US" sz="1800" dirty="0"/>
              <a:t>The healthcare industry is vital for society, with hospitals managing thousands of patients, staff, and processes daily. Traditional paper-based record-keeping is prone to errors, delays, and inefficiency.</a:t>
            </a:r>
          </a:p>
          <a:p>
            <a:pPr marL="0" indent="0">
              <a:buNone/>
            </a:pPr>
            <a:r>
              <a:rPr lang="en-US" sz="1800" dirty="0"/>
              <a:t>The Hospital Management System (HMS) is a digital solution that integrates all hospital departments into a single system, ensuring smooth information flow and efficient operations.</a:t>
            </a:r>
          </a:p>
          <a:p>
            <a:endParaRPr lang="en-US" sz="1800" dirty="0"/>
          </a:p>
          <a:p>
            <a:pPr marL="0" indent="0">
              <a:buNone/>
            </a:pPr>
            <a:r>
              <a:rPr lang="en-US" sz="1800" dirty="0"/>
              <a:t>Key Modules:</a:t>
            </a:r>
          </a:p>
          <a:p>
            <a:endParaRPr lang="en-US" sz="1800" dirty="0"/>
          </a:p>
          <a:p>
            <a:r>
              <a:rPr lang="en-US" sz="1800" dirty="0"/>
              <a:t>Patient Management – Registration, admission, discharge, transfer</a:t>
            </a:r>
          </a:p>
          <a:p>
            <a:r>
              <a:rPr lang="en-US" sz="1800" dirty="0"/>
              <a:t>Doctor &amp; Staff Management – Scheduling, duty allocation, staff records</a:t>
            </a:r>
          </a:p>
          <a:p>
            <a:r>
              <a:rPr lang="en-US" sz="1800" dirty="0"/>
              <a:t>Medical Records – Secure storage of patient history, diagnostics, prescriptions</a:t>
            </a:r>
          </a:p>
          <a:p>
            <a:r>
              <a:rPr lang="en-US" sz="1800" dirty="0"/>
              <a:t>Appointments – Easy booking, reduced waiting time</a:t>
            </a:r>
          </a:p>
          <a:p>
            <a:r>
              <a:rPr lang="en-US" sz="1800" dirty="0"/>
              <a:t>Billing &amp; Accounting – Automated bills, payments, insurance claims</a:t>
            </a:r>
          </a:p>
          <a:p>
            <a:r>
              <a:rPr lang="en-US" sz="1800" dirty="0"/>
              <a:t>Inventory &amp; Pharmacy – Tracking medicines, equipment, and supplies</a:t>
            </a:r>
          </a:p>
          <a:p>
            <a:r>
              <a:rPr lang="en-US" sz="1800" dirty="0"/>
              <a:t>Benefits: Faster processes, accurate records, reduced errors, secure data handling, and improved efficiency.</a:t>
            </a:r>
            <a:endParaRPr lang="pa-IN" sz="1800" dirty="0"/>
          </a:p>
          <a:p>
            <a:pPr algn="just"/>
            <a:endParaRPr sz="2100" b="1" dirty="0">
              <a:solidFill>
                <a:schemeClr val="dk1"/>
              </a:solidFill>
              <a:latin typeface="Times New Roman"/>
              <a:ea typeface="Times New Roman"/>
              <a:cs typeface="Times New Roman"/>
              <a:sym typeface="Times New Roman"/>
            </a:endParaRPr>
          </a:p>
        </p:txBody>
      </p:sp>
    </p:spTree>
  </p:cSld>
  <p:clrMapOvr>
    <a:masterClrMapping/>
  </p:clrMapOvr>
  <p:transition>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51D071E-0E36-808F-50C7-196CD9ECEF37}"/>
              </a:ext>
            </a:extLst>
          </p:cNvPr>
          <p:cNvSpPr>
            <a:spLocks noGrp="1"/>
          </p:cNvSpPr>
          <p:nvPr>
            <p:ph type="ctrTitle"/>
          </p:nvPr>
        </p:nvSpPr>
        <p:spPr/>
        <p:txBody>
          <a:bodyPr/>
          <a:lstStyle/>
          <a:p>
            <a:r>
              <a:rPr lang="en-IN" dirty="0"/>
              <a:t>Problem Overview </a:t>
            </a:r>
          </a:p>
        </p:txBody>
      </p:sp>
      <p:sp>
        <p:nvSpPr>
          <p:cNvPr id="3" name="Subtitle 2">
            <a:extLst>
              <a:ext uri="{FF2B5EF4-FFF2-40B4-BE49-F238E27FC236}">
                <a16:creationId xmlns="" xmlns:a16="http://schemas.microsoft.com/office/drawing/2014/main" id="{B40186F7-147D-790B-FC9F-4AC3B9591DFA}"/>
              </a:ext>
            </a:extLst>
          </p:cNvPr>
          <p:cNvSpPr>
            <a:spLocks noGrp="1"/>
          </p:cNvSpPr>
          <p:nvPr>
            <p:ph type="subTitle" idx="1"/>
          </p:nvPr>
        </p:nvSpPr>
        <p:spPr>
          <a:xfrm>
            <a:off x="411480" y="1112520"/>
            <a:ext cx="8275320" cy="4983480"/>
          </a:xfrm>
        </p:spPr>
        <p:txBody>
          <a:bodyPr/>
          <a:lstStyle/>
          <a:p>
            <a:pPr marL="0" indent="0" algn="l"/>
            <a:r>
              <a:rPr lang="en-IN" sz="1800" dirty="0">
                <a:solidFill>
                  <a:schemeClr val="tx1"/>
                </a:solidFill>
              </a:rPr>
              <a:t>Hospitals are complex organizations that handle a wide range of activities such as patient care, staff coordination, billing, pharmacy services, laboratory testing, and inventory management. Traditionally, many hospitals still depend on manual methods like paper records, registers, and handwritten files to store and track information. This approach creates several problems, including delays, human errors, and difficulties in maintaining and retrieving records.</a:t>
            </a:r>
            <a:endParaRPr lang="en-US" sz="1800" dirty="0">
              <a:solidFill>
                <a:schemeClr val="tx1"/>
              </a:solidFill>
            </a:endParaRPr>
          </a:p>
          <a:p>
            <a:pPr marL="0" indent="0" algn="l"/>
            <a:r>
              <a:rPr lang="en-IN" sz="1800" dirty="0">
                <a:solidFill>
                  <a:schemeClr val="tx1"/>
                </a:solidFill>
              </a:rPr>
              <a:t>Some of the common issues faced in hospitals without a computerized system include:</a:t>
            </a:r>
            <a:endParaRPr lang="en-IN" sz="1600" dirty="0">
              <a:solidFill>
                <a:schemeClr val="tx1"/>
              </a:solidFill>
            </a:endParaRPr>
          </a:p>
          <a:p>
            <a:pPr marL="0" indent="0" algn="l"/>
            <a:r>
              <a:rPr lang="en-US" altLang="en-IN" sz="2000" b="1" dirty="0">
                <a:solidFill>
                  <a:schemeClr val="tx1"/>
                </a:solidFill>
                <a:sym typeface="+mn-ea"/>
              </a:rPr>
              <a:t>1.   </a:t>
            </a:r>
            <a:r>
              <a:rPr lang="en-IN" sz="2000" b="1" dirty="0">
                <a:solidFill>
                  <a:schemeClr val="tx1"/>
                </a:solidFill>
                <a:sym typeface="+mn-ea"/>
              </a:rPr>
              <a:t>Time Consuming : </a:t>
            </a:r>
            <a:r>
              <a:rPr lang="en-IN" sz="2000" dirty="0">
                <a:solidFill>
                  <a:schemeClr val="tx1"/>
                </a:solidFill>
                <a:sym typeface="+mn-ea"/>
              </a:rPr>
              <a:t>Registering a patient , booking an appointment , or retrieving old records take a lot of time and cause delays</a:t>
            </a:r>
            <a:endParaRPr lang="en-US" sz="1600" dirty="0">
              <a:solidFill>
                <a:schemeClr val="tx1"/>
              </a:solidFill>
            </a:endParaRPr>
          </a:p>
          <a:p>
            <a:pPr marL="0" lvl="0" indent="0" algn="l"/>
            <a:r>
              <a:rPr lang="en-US" altLang="en-IN" sz="2000" b="1" dirty="0">
                <a:solidFill>
                  <a:schemeClr val="tx1"/>
                </a:solidFill>
              </a:rPr>
              <a:t>2. </a:t>
            </a:r>
            <a:r>
              <a:rPr lang="en-IN" sz="2000" b="1" dirty="0">
                <a:solidFill>
                  <a:schemeClr val="tx1"/>
                </a:solidFill>
              </a:rPr>
              <a:t>Billing Errors</a:t>
            </a:r>
            <a:r>
              <a:rPr lang="en-IN" sz="1400" dirty="0">
                <a:solidFill>
                  <a:schemeClr val="tx1"/>
                </a:solidFill>
              </a:rPr>
              <a:t>: </a:t>
            </a:r>
            <a:r>
              <a:rPr lang="en-IN" sz="2000" dirty="0">
                <a:solidFill>
                  <a:schemeClr val="tx1"/>
                </a:solidFill>
              </a:rPr>
              <a:t>Manual billing increases the chances of mistakes, which may cause disputes between patients and hospital administration</a:t>
            </a:r>
            <a:r>
              <a:rPr lang="en-IN" sz="1200" dirty="0">
                <a:solidFill>
                  <a:schemeClr val="tx1"/>
                </a:solidFill>
              </a:rPr>
              <a:t>.</a:t>
            </a:r>
          </a:p>
          <a:p>
            <a:pPr marL="0" lvl="0" indent="0" algn="l"/>
            <a:r>
              <a:rPr lang="en-US" altLang="en-IN" sz="2000" b="1" dirty="0">
                <a:solidFill>
                  <a:schemeClr val="tx1"/>
                </a:solidFill>
              </a:rPr>
              <a:t>3.</a:t>
            </a:r>
            <a:r>
              <a:rPr lang="en-US" altLang="en-IN" sz="2000" dirty="0">
                <a:solidFill>
                  <a:schemeClr val="tx1"/>
                </a:solidFill>
              </a:rPr>
              <a:t> </a:t>
            </a:r>
            <a:r>
              <a:rPr lang="en-IN" sz="2000" b="1" dirty="0">
                <a:solidFill>
                  <a:schemeClr val="tx1"/>
                </a:solidFill>
              </a:rPr>
              <a:t>Data Security Concerns</a:t>
            </a:r>
            <a:r>
              <a:rPr lang="en-IN" sz="2000" dirty="0">
                <a:solidFill>
                  <a:schemeClr val="tx1"/>
                </a:solidFill>
              </a:rPr>
              <a:t>: </a:t>
            </a:r>
            <a:r>
              <a:rPr lang="en-IN" sz="2000" dirty="0">
                <a:solidFill>
                  <a:schemeClr val="tx1"/>
                </a:solidFill>
                <a:sym typeface="+mn-ea"/>
              </a:rPr>
              <a:t> Paper records are not secure, and unauthorized can easily access them.</a:t>
            </a:r>
          </a:p>
          <a:p>
            <a:pPr marL="0" lvl="0" indent="0" algn="l"/>
            <a:r>
              <a:rPr lang="en-US" altLang="en-IN" sz="2000" b="1" dirty="0">
                <a:solidFill>
                  <a:schemeClr val="tx1"/>
                </a:solidFill>
                <a:sym typeface="+mn-ea"/>
              </a:rPr>
              <a:t>4. </a:t>
            </a:r>
            <a:r>
              <a:rPr lang="en-IN" sz="2000" b="1" dirty="0">
                <a:solidFill>
                  <a:schemeClr val="tx1"/>
                </a:solidFill>
                <a:sym typeface="+mn-ea"/>
              </a:rPr>
              <a:t>Relationship Management issues  :  </a:t>
            </a:r>
            <a:r>
              <a:rPr lang="en-IN" sz="2000" dirty="0">
                <a:solidFill>
                  <a:schemeClr val="tx1"/>
                </a:solidFill>
                <a:sym typeface="+mn-ea"/>
              </a:rPr>
              <a:t>A single patient may have multiple appointments and one doctor may treat many patients. In a manual system, it is very difficult to track such relationships.</a:t>
            </a:r>
            <a:endParaRPr lang="en-US" sz="2000" dirty="0">
              <a:solidFill>
                <a:schemeClr val="tx1"/>
              </a:solidFill>
            </a:endParaRPr>
          </a:p>
          <a:p>
            <a:pPr marL="0" lvl="0" indent="0" algn="l"/>
            <a:endParaRPr lang="en-IN" sz="1200" dirty="0">
              <a:solidFill>
                <a:schemeClr val="tx1"/>
              </a:solidFill>
            </a:endParaRPr>
          </a:p>
          <a:p>
            <a:pPr marL="25400" indent="0" algn="l"/>
            <a:endParaRPr lang="en-US" sz="1800" b="1" dirty="0">
              <a:solidFill>
                <a:schemeClr val="tx1"/>
              </a:solidFill>
              <a:latin typeface="+mj-lt"/>
            </a:endParaRPr>
          </a:p>
        </p:txBody>
      </p:sp>
    </p:spTree>
    <p:extLst>
      <p:ext uri="{BB962C8B-B14F-4D97-AF65-F5344CB8AC3E}">
        <p14:creationId xmlns="" xmlns:p14="http://schemas.microsoft.com/office/powerpoint/2010/main" val="716551978"/>
      </p:ext>
    </p:extLst>
  </p:cSld>
  <p:clrMapOvr>
    <a:masterClrMapping/>
  </p:clrMapOvr>
  <p:transition>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05D6DA2-7BB6-24A9-850A-58BFD8B78862}"/>
              </a:ext>
            </a:extLst>
          </p:cNvPr>
          <p:cNvSpPr>
            <a:spLocks noGrp="1"/>
          </p:cNvSpPr>
          <p:nvPr>
            <p:ph type="ctrTitle"/>
          </p:nvPr>
        </p:nvSpPr>
        <p:spPr/>
        <p:txBody>
          <a:bodyPr/>
          <a:lstStyle/>
          <a:p>
            <a:r>
              <a:rPr lang="en-IN" dirty="0"/>
              <a:t>Scope of the Project</a:t>
            </a:r>
          </a:p>
        </p:txBody>
      </p:sp>
      <p:sp>
        <p:nvSpPr>
          <p:cNvPr id="3" name="Subtitle 2">
            <a:extLst>
              <a:ext uri="{FF2B5EF4-FFF2-40B4-BE49-F238E27FC236}">
                <a16:creationId xmlns="" xmlns:a16="http://schemas.microsoft.com/office/drawing/2014/main" id="{443286EB-9354-ECFB-FB24-3CF05C328673}"/>
              </a:ext>
            </a:extLst>
          </p:cNvPr>
          <p:cNvSpPr>
            <a:spLocks noGrp="1"/>
          </p:cNvSpPr>
          <p:nvPr>
            <p:ph type="subTitle" idx="1"/>
          </p:nvPr>
        </p:nvSpPr>
        <p:spPr>
          <a:xfrm>
            <a:off x="176169" y="914401"/>
            <a:ext cx="8647791" cy="5410199"/>
          </a:xfrm>
        </p:spPr>
        <p:txBody>
          <a:bodyPr/>
          <a:lstStyle/>
          <a:p>
            <a:pPr marL="0" indent="0" algn="l"/>
            <a:r>
              <a:rPr lang="en-IN" sz="2000" dirty="0">
                <a:solidFill>
                  <a:schemeClr val="tx1"/>
                </a:solidFill>
              </a:rPr>
              <a:t> </a:t>
            </a:r>
            <a:r>
              <a:rPr lang="en-IN" sz="1800" dirty="0">
                <a:solidFill>
                  <a:schemeClr val="tx1"/>
                </a:solidFill>
              </a:rPr>
              <a:t>The scope of this project is to design and develop a system that can streamline and automate the daily  operations of a hospital. The system will be capable of handling various tasks such as patient registration, appointment scheduling, doctor and staff management, billing, pharmacy services, and inventory control. By using this system, hospitals can reduce paperwork, improve efficiency, and ensure that information is easily available whenever needed.</a:t>
            </a:r>
          </a:p>
          <a:p>
            <a:pPr marL="0" indent="0" algn="l"/>
            <a:r>
              <a:rPr lang="en-IN" sz="1800" dirty="0">
                <a:solidFill>
                  <a:schemeClr val="tx1"/>
                </a:solidFill>
              </a:rPr>
              <a:t>The project covers the following areas:</a:t>
            </a:r>
          </a:p>
          <a:p>
            <a:pPr lvl="0" algn="l"/>
            <a:r>
              <a:rPr lang="en-IN" sz="1800" b="1" dirty="0">
                <a:solidFill>
                  <a:schemeClr val="tx1"/>
                </a:solidFill>
              </a:rPr>
              <a:t>1. Patient Services</a:t>
            </a:r>
            <a:r>
              <a:rPr lang="en-IN" sz="1800" dirty="0">
                <a:solidFill>
                  <a:schemeClr val="tx1"/>
                </a:solidFill>
              </a:rPr>
              <a:t>: Registration, admission, discharge and maintaining complete medical history.</a:t>
            </a:r>
            <a:endParaRPr lang="en-US" sz="1800" dirty="0">
              <a:solidFill>
                <a:schemeClr val="tx1"/>
              </a:solidFill>
            </a:endParaRPr>
          </a:p>
          <a:p>
            <a:pPr lvl="0" algn="l"/>
            <a:r>
              <a:rPr lang="en-IN" sz="1800" b="1" dirty="0">
                <a:solidFill>
                  <a:schemeClr val="tx1"/>
                </a:solidFill>
              </a:rPr>
              <a:t>2. Doctor and Staff Services</a:t>
            </a:r>
            <a:r>
              <a:rPr lang="en-IN" sz="1800" dirty="0">
                <a:solidFill>
                  <a:schemeClr val="tx1"/>
                </a:solidFill>
              </a:rPr>
              <a:t>: Storing details of doctors and hospital staff, managing their schedules, and assigning duties.</a:t>
            </a:r>
            <a:endParaRPr lang="en-US" sz="1800" dirty="0">
              <a:solidFill>
                <a:schemeClr val="tx1"/>
              </a:solidFill>
            </a:endParaRPr>
          </a:p>
          <a:p>
            <a:pPr lvl="0" algn="l"/>
            <a:r>
              <a:rPr lang="en-IN" sz="1800" b="1" dirty="0">
                <a:solidFill>
                  <a:schemeClr val="tx1"/>
                </a:solidFill>
              </a:rPr>
              <a:t>3. Appointments</a:t>
            </a:r>
            <a:r>
              <a:rPr lang="en-IN" sz="1800" dirty="0">
                <a:solidFill>
                  <a:schemeClr val="tx1"/>
                </a:solidFill>
              </a:rPr>
              <a:t>: Allowing patients to book appointments with doctors and view availability.</a:t>
            </a:r>
            <a:endParaRPr lang="en-US" sz="1800" dirty="0">
              <a:solidFill>
                <a:schemeClr val="tx1"/>
              </a:solidFill>
            </a:endParaRPr>
          </a:p>
          <a:p>
            <a:pPr lvl="0" algn="l"/>
            <a:r>
              <a:rPr lang="en-IN" sz="1800" b="1" dirty="0">
                <a:solidFill>
                  <a:schemeClr val="tx1"/>
                </a:solidFill>
              </a:rPr>
              <a:t>4. Billing and Accounts</a:t>
            </a:r>
            <a:r>
              <a:rPr lang="en-IN" sz="1800" dirty="0">
                <a:solidFill>
                  <a:schemeClr val="tx1"/>
                </a:solidFill>
              </a:rPr>
              <a:t>: Generating accurate bills for patients and managing payment details.</a:t>
            </a:r>
            <a:endParaRPr lang="en-US" sz="1800" dirty="0">
              <a:solidFill>
                <a:schemeClr val="tx1"/>
              </a:solidFill>
            </a:endParaRPr>
          </a:p>
          <a:p>
            <a:pPr lvl="0" algn="l"/>
            <a:r>
              <a:rPr lang="en-IN" sz="1800" b="1" dirty="0">
                <a:solidFill>
                  <a:schemeClr val="tx1"/>
                </a:solidFill>
              </a:rPr>
              <a:t>5. Pharmacy and Inventory</a:t>
            </a:r>
            <a:r>
              <a:rPr lang="en-IN" sz="1800" dirty="0">
                <a:solidFill>
                  <a:schemeClr val="tx1"/>
                </a:solidFill>
              </a:rPr>
              <a:t>: Keeping track of medicines, medical supplies, and equipment availability.</a:t>
            </a:r>
            <a:endParaRPr lang="en-US" sz="2800" dirty="0">
              <a:solidFill>
                <a:schemeClr val="tx1"/>
              </a:solidFill>
            </a:endParaRPr>
          </a:p>
          <a:p>
            <a:pPr algn="l"/>
            <a:endParaRPr lang="en-IN" sz="2800" dirty="0">
              <a:solidFill>
                <a:schemeClr val="tx1"/>
              </a:solidFill>
            </a:endParaRPr>
          </a:p>
        </p:txBody>
      </p:sp>
    </p:spTree>
    <p:extLst>
      <p:ext uri="{BB962C8B-B14F-4D97-AF65-F5344CB8AC3E}">
        <p14:creationId xmlns="" xmlns:p14="http://schemas.microsoft.com/office/powerpoint/2010/main" val="4276736180"/>
      </p:ext>
    </p:extLst>
  </p:cSld>
  <p:clrMapOvr>
    <a:masterClrMapping/>
  </p:clrMapOvr>
  <p:transition>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5F8F86B-86EA-A1E6-5084-1341B2394DDF}"/>
              </a:ext>
            </a:extLst>
          </p:cNvPr>
          <p:cNvSpPr>
            <a:spLocks noGrp="1"/>
          </p:cNvSpPr>
          <p:nvPr>
            <p:ph type="ctrTitle"/>
          </p:nvPr>
        </p:nvSpPr>
        <p:spPr/>
        <p:txBody>
          <a:bodyPr/>
          <a:lstStyle/>
          <a:p>
            <a:r>
              <a:rPr lang="en-IN" dirty="0"/>
              <a:t>Objectives of the Project</a:t>
            </a:r>
          </a:p>
        </p:txBody>
      </p:sp>
      <p:sp>
        <p:nvSpPr>
          <p:cNvPr id="3" name="Subtitle 2">
            <a:extLst>
              <a:ext uri="{FF2B5EF4-FFF2-40B4-BE49-F238E27FC236}">
                <a16:creationId xmlns="" xmlns:a16="http://schemas.microsoft.com/office/drawing/2014/main" id="{73C665CA-C475-CC9B-44FA-E0BA1A8FF698}"/>
              </a:ext>
            </a:extLst>
          </p:cNvPr>
          <p:cNvSpPr>
            <a:spLocks noGrp="1"/>
          </p:cNvSpPr>
          <p:nvPr>
            <p:ph type="subTitle" idx="1"/>
          </p:nvPr>
        </p:nvSpPr>
        <p:spPr>
          <a:xfrm>
            <a:off x="533400" y="914401"/>
            <a:ext cx="8153400" cy="5699759"/>
          </a:xfrm>
        </p:spPr>
        <p:txBody>
          <a:bodyPr/>
          <a:lstStyle/>
          <a:p>
            <a:pPr marL="0" indent="0" algn="l"/>
            <a:r>
              <a:rPr lang="en-IN" sz="1800" dirty="0">
                <a:solidFill>
                  <a:schemeClr val="tx1"/>
                </a:solidFill>
              </a:rPr>
              <a:t>The main objective of this project is to design and implement a system that simplifies and automates the various operations of a hospital. The system aims to provide an efficient way to manage patient information, staff details, billing, and other essential hospital activities while ensuring accuracy, reliability, and security of data.</a:t>
            </a:r>
            <a:endParaRPr lang="en-US" sz="1800" dirty="0">
              <a:solidFill>
                <a:schemeClr val="tx1"/>
              </a:solidFill>
            </a:endParaRPr>
          </a:p>
          <a:p>
            <a:pPr marL="0" indent="0" algn="l"/>
            <a:r>
              <a:rPr lang="en-IN" sz="1800" dirty="0">
                <a:solidFill>
                  <a:schemeClr val="tx1"/>
                </a:solidFill>
              </a:rPr>
              <a:t>The specific </a:t>
            </a:r>
            <a:r>
              <a:rPr lang="en-IN" sz="1800" b="1" dirty="0">
                <a:solidFill>
                  <a:schemeClr val="tx1"/>
                </a:solidFill>
              </a:rPr>
              <a:t>objectives</a:t>
            </a:r>
            <a:r>
              <a:rPr lang="en-IN" sz="1800" dirty="0">
                <a:solidFill>
                  <a:schemeClr val="tx1"/>
                </a:solidFill>
              </a:rPr>
              <a:t> are as follows:</a:t>
            </a:r>
          </a:p>
          <a:p>
            <a:pPr marL="0" indent="0" algn="l"/>
            <a:endParaRPr lang="en-US" sz="1800" dirty="0">
              <a:solidFill>
                <a:schemeClr val="tx1"/>
              </a:solidFill>
            </a:endParaRPr>
          </a:p>
          <a:p>
            <a:pPr marL="25400" lvl="0" indent="0" algn="l"/>
            <a:r>
              <a:rPr lang="en-IN" sz="1800" dirty="0">
                <a:solidFill>
                  <a:schemeClr val="tx1"/>
                </a:solidFill>
              </a:rPr>
              <a:t>1. To reduce paperwork and manual effort by computerizing hospital operations.</a:t>
            </a:r>
          </a:p>
          <a:p>
            <a:pPr lvl="0" algn="l">
              <a:buAutoNum type="arabicPeriod"/>
            </a:pPr>
            <a:endParaRPr lang="en-US" sz="1800" dirty="0">
              <a:solidFill>
                <a:schemeClr val="tx1"/>
              </a:solidFill>
            </a:endParaRPr>
          </a:p>
          <a:p>
            <a:pPr lvl="0" algn="l"/>
            <a:r>
              <a:rPr lang="en-IN" sz="1800" dirty="0">
                <a:solidFill>
                  <a:schemeClr val="tx1"/>
                </a:solidFill>
              </a:rPr>
              <a:t>2. To maintain accurate and up-to-date patient records, including personal details, medical history, and treatment information.</a:t>
            </a:r>
          </a:p>
          <a:p>
            <a:pPr lvl="0" algn="l"/>
            <a:endParaRPr lang="en-US" sz="1800" dirty="0">
              <a:solidFill>
                <a:schemeClr val="tx1"/>
              </a:solidFill>
            </a:endParaRPr>
          </a:p>
          <a:p>
            <a:pPr lvl="0" algn="l"/>
            <a:r>
              <a:rPr lang="en-IN" sz="1800" dirty="0">
                <a:solidFill>
                  <a:schemeClr val="tx1"/>
                </a:solidFill>
              </a:rPr>
              <a:t>3. To simplify appointment booking and scheduling of doctors, reducing waiting time for patients.</a:t>
            </a:r>
          </a:p>
          <a:p>
            <a:pPr lvl="0" algn="l"/>
            <a:endParaRPr lang="en-US" sz="1800" dirty="0">
              <a:solidFill>
                <a:schemeClr val="tx1"/>
              </a:solidFill>
            </a:endParaRPr>
          </a:p>
          <a:p>
            <a:pPr lvl="0" algn="l"/>
            <a:r>
              <a:rPr lang="en-IN" sz="1800" dirty="0">
                <a:solidFill>
                  <a:schemeClr val="tx1"/>
                </a:solidFill>
              </a:rPr>
              <a:t>4. To automate billing and payment processes, ensuring accuracy and transparency.</a:t>
            </a:r>
          </a:p>
        </p:txBody>
      </p:sp>
    </p:spTree>
    <p:extLst>
      <p:ext uri="{BB962C8B-B14F-4D97-AF65-F5344CB8AC3E}">
        <p14:creationId xmlns="" xmlns:p14="http://schemas.microsoft.com/office/powerpoint/2010/main" val="1260156158"/>
      </p:ext>
    </p:extLst>
  </p:cSld>
  <p:clrMapOvr>
    <a:masterClrMapping/>
  </p:clrMapOvr>
  <p:transition>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0A59D9E-1103-0987-3BF1-5FD7D6362445}"/>
              </a:ext>
            </a:extLst>
          </p:cNvPr>
          <p:cNvSpPr>
            <a:spLocks noGrp="1"/>
          </p:cNvSpPr>
          <p:nvPr>
            <p:ph type="ctrTitle"/>
          </p:nvPr>
        </p:nvSpPr>
        <p:spPr/>
        <p:txBody>
          <a:bodyPr/>
          <a:lstStyle/>
          <a:p>
            <a:r>
              <a:rPr lang="en-IN" dirty="0"/>
              <a:t>Significance of the Project</a:t>
            </a:r>
          </a:p>
        </p:txBody>
      </p:sp>
      <p:sp>
        <p:nvSpPr>
          <p:cNvPr id="3" name="Subtitle 2">
            <a:extLst>
              <a:ext uri="{FF2B5EF4-FFF2-40B4-BE49-F238E27FC236}">
                <a16:creationId xmlns="" xmlns:a16="http://schemas.microsoft.com/office/drawing/2014/main" id="{3CB7ABF4-A101-DE34-D246-DCAEECA11871}"/>
              </a:ext>
            </a:extLst>
          </p:cNvPr>
          <p:cNvSpPr>
            <a:spLocks noGrp="1"/>
          </p:cNvSpPr>
          <p:nvPr>
            <p:ph type="subTitle" idx="1"/>
          </p:nvPr>
        </p:nvSpPr>
        <p:spPr>
          <a:xfrm>
            <a:off x="285226" y="1015068"/>
            <a:ext cx="8401574" cy="5080932"/>
          </a:xfrm>
        </p:spPr>
        <p:txBody>
          <a:bodyPr/>
          <a:lstStyle/>
          <a:p>
            <a:pPr marL="0" indent="0" algn="l"/>
            <a:r>
              <a:rPr lang="en-IN" sz="1800" dirty="0">
                <a:solidFill>
                  <a:schemeClr val="tx1"/>
                </a:solidFill>
              </a:rPr>
              <a:t>The Hospital Management System plays an important role in improving the overall functioning of a hospital by replacing traditional manual methods with a computerized approach. This project is significant because it provides a reliable and efficient solution to handle large amounts of hospital data and day-to-day operations.</a:t>
            </a:r>
            <a:endParaRPr lang="en-US" sz="1800" dirty="0">
              <a:solidFill>
                <a:schemeClr val="tx1"/>
              </a:solidFill>
            </a:endParaRPr>
          </a:p>
          <a:p>
            <a:pPr marL="0" indent="0" algn="l"/>
            <a:r>
              <a:rPr lang="en-IN" sz="1800" dirty="0">
                <a:solidFill>
                  <a:schemeClr val="tx1"/>
                </a:solidFill>
              </a:rPr>
              <a:t>The key </a:t>
            </a:r>
            <a:r>
              <a:rPr lang="en-IN" sz="1800" b="1" dirty="0">
                <a:solidFill>
                  <a:schemeClr val="tx1"/>
                </a:solidFill>
              </a:rPr>
              <a:t>significance </a:t>
            </a:r>
            <a:r>
              <a:rPr lang="en-IN" sz="1800" dirty="0">
                <a:solidFill>
                  <a:schemeClr val="tx1"/>
                </a:solidFill>
              </a:rPr>
              <a:t>of the project includes:</a:t>
            </a:r>
          </a:p>
          <a:p>
            <a:pPr marL="0" indent="0" algn="l"/>
            <a:endParaRPr lang="en-US" sz="1800" dirty="0">
              <a:solidFill>
                <a:schemeClr val="tx1"/>
              </a:solidFill>
            </a:endParaRPr>
          </a:p>
          <a:p>
            <a:pPr lvl="0" algn="l"/>
            <a:r>
              <a:rPr lang="en-IN" sz="1800" b="1" dirty="0">
                <a:solidFill>
                  <a:schemeClr val="tx1"/>
                </a:solidFill>
              </a:rPr>
              <a:t>1. Improved Efficiency</a:t>
            </a:r>
            <a:r>
              <a:rPr lang="en-IN" sz="1800" dirty="0">
                <a:solidFill>
                  <a:schemeClr val="tx1"/>
                </a:solidFill>
              </a:rPr>
              <a:t> – Automates routine tasks such as patient registration, billing, and appointment scheduling, which reduces workload on hospital staff.</a:t>
            </a:r>
            <a:endParaRPr lang="en-US" sz="1800" dirty="0">
              <a:solidFill>
                <a:schemeClr val="tx1"/>
              </a:solidFill>
            </a:endParaRPr>
          </a:p>
          <a:p>
            <a:pPr lvl="0" algn="l"/>
            <a:r>
              <a:rPr lang="en-IN" sz="1800" b="1" dirty="0">
                <a:solidFill>
                  <a:schemeClr val="tx1"/>
                </a:solidFill>
              </a:rPr>
              <a:t>2. Time Saving</a:t>
            </a:r>
            <a:r>
              <a:rPr lang="en-IN" sz="1800" dirty="0">
                <a:solidFill>
                  <a:schemeClr val="tx1"/>
                </a:solidFill>
              </a:rPr>
              <a:t> – Enables faster access to patient records and quick report generation, saving time for both doctors and patients.</a:t>
            </a:r>
            <a:endParaRPr lang="en-US" sz="1800" dirty="0">
              <a:solidFill>
                <a:schemeClr val="tx1"/>
              </a:solidFill>
            </a:endParaRPr>
          </a:p>
          <a:p>
            <a:pPr lvl="0" algn="l"/>
            <a:r>
              <a:rPr lang="en-IN" sz="1800" b="1" dirty="0">
                <a:solidFill>
                  <a:schemeClr val="tx1"/>
                </a:solidFill>
              </a:rPr>
              <a:t>3. Error Reduction</a:t>
            </a:r>
            <a:r>
              <a:rPr lang="en-IN" sz="1800" dirty="0">
                <a:solidFill>
                  <a:schemeClr val="tx1"/>
                </a:solidFill>
              </a:rPr>
              <a:t> – Minimizes human errors in patient records, billing, and inventory management.</a:t>
            </a:r>
            <a:endParaRPr lang="en-US" sz="1800" dirty="0">
              <a:solidFill>
                <a:schemeClr val="tx1"/>
              </a:solidFill>
            </a:endParaRPr>
          </a:p>
          <a:p>
            <a:pPr lvl="0" algn="l"/>
            <a:r>
              <a:rPr lang="en-IN" sz="1800" b="1" dirty="0">
                <a:solidFill>
                  <a:schemeClr val="tx1"/>
                </a:solidFill>
              </a:rPr>
              <a:t>4. Better Patient Care</a:t>
            </a:r>
            <a:r>
              <a:rPr lang="en-IN" sz="1800" dirty="0">
                <a:solidFill>
                  <a:schemeClr val="tx1"/>
                </a:solidFill>
              </a:rPr>
              <a:t> – Ensures accurate medical history and timely access to information, which helps doctors provide better treatment.</a:t>
            </a:r>
            <a:endParaRPr lang="en-US" sz="1800" dirty="0">
              <a:solidFill>
                <a:schemeClr val="tx1"/>
              </a:solidFill>
            </a:endParaRPr>
          </a:p>
          <a:p>
            <a:pPr algn="l"/>
            <a:r>
              <a:rPr lang="en-IN" sz="1800" b="1" dirty="0">
                <a:solidFill>
                  <a:schemeClr val="tx1"/>
                </a:solidFill>
              </a:rPr>
              <a:t>5. Secure Data Handling</a:t>
            </a:r>
            <a:r>
              <a:rPr lang="en-IN" sz="1800" dirty="0">
                <a:solidFill>
                  <a:schemeClr val="tx1"/>
                </a:solidFill>
              </a:rPr>
              <a:t> – Protects sensitive patient and hospital information through authorized access and secure storage.</a:t>
            </a:r>
            <a:endParaRPr lang="en-US" sz="1800" dirty="0">
              <a:solidFill>
                <a:schemeClr val="tx1"/>
              </a:solidFill>
            </a:endParaRPr>
          </a:p>
          <a:p>
            <a:pPr algn="l"/>
            <a:endParaRPr lang="en-IN" sz="1800" dirty="0">
              <a:solidFill>
                <a:schemeClr val="tx1"/>
              </a:solidFill>
            </a:endParaRPr>
          </a:p>
        </p:txBody>
      </p:sp>
    </p:spTree>
    <p:extLst>
      <p:ext uri="{BB962C8B-B14F-4D97-AF65-F5344CB8AC3E}">
        <p14:creationId xmlns="" xmlns:p14="http://schemas.microsoft.com/office/powerpoint/2010/main" val="4234332408"/>
      </p:ext>
    </p:extLst>
  </p:cSld>
  <p:clrMapOvr>
    <a:masterClrMapping/>
  </p:clrMapOvr>
  <p:transition>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884FA16-5034-F15C-3533-A715305BAA0B}"/>
              </a:ext>
            </a:extLst>
          </p:cNvPr>
          <p:cNvSpPr>
            <a:spLocks noGrp="1"/>
          </p:cNvSpPr>
          <p:nvPr>
            <p:ph type="ctrTitle"/>
          </p:nvPr>
        </p:nvSpPr>
        <p:spPr/>
        <p:txBody>
          <a:bodyPr/>
          <a:lstStyle/>
          <a:p>
            <a:r>
              <a:rPr lang="en-IN" dirty="0"/>
              <a:t>Entities and Attributes</a:t>
            </a:r>
          </a:p>
        </p:txBody>
      </p:sp>
      <p:sp>
        <p:nvSpPr>
          <p:cNvPr id="3" name="Subtitle 2">
            <a:extLst>
              <a:ext uri="{FF2B5EF4-FFF2-40B4-BE49-F238E27FC236}">
                <a16:creationId xmlns="" xmlns:a16="http://schemas.microsoft.com/office/drawing/2014/main" id="{17ED2506-FA44-A640-63E7-1986F9B83834}"/>
              </a:ext>
            </a:extLst>
          </p:cNvPr>
          <p:cNvSpPr>
            <a:spLocks noGrp="1"/>
          </p:cNvSpPr>
          <p:nvPr>
            <p:ph type="subTitle" idx="1"/>
          </p:nvPr>
        </p:nvSpPr>
        <p:spPr>
          <a:xfrm>
            <a:off x="0" y="792480"/>
            <a:ext cx="45719" cy="121921"/>
          </a:xfrm>
        </p:spPr>
        <p:txBody>
          <a:bodyPr/>
          <a:lstStyle/>
          <a:p>
            <a:pPr marL="0" indent="0" algn="l"/>
            <a:endParaRPr lang="en-US" sz="2400" b="1" dirty="0">
              <a:solidFill>
                <a:schemeClr val="tx1"/>
              </a:solidFill>
            </a:endParaRPr>
          </a:p>
          <a:p>
            <a:endParaRPr lang="en-IN" dirty="0"/>
          </a:p>
        </p:txBody>
      </p:sp>
      <p:sp>
        <p:nvSpPr>
          <p:cNvPr id="4" name="TextBox 3">
            <a:extLst>
              <a:ext uri="{FF2B5EF4-FFF2-40B4-BE49-F238E27FC236}">
                <a16:creationId xmlns="" xmlns:a16="http://schemas.microsoft.com/office/drawing/2014/main" id="{626D4DAD-144B-AB61-5380-6DFE881696EC}"/>
              </a:ext>
            </a:extLst>
          </p:cNvPr>
          <p:cNvSpPr txBox="1"/>
          <p:nvPr/>
        </p:nvSpPr>
        <p:spPr>
          <a:xfrm>
            <a:off x="4572000" y="1569720"/>
            <a:ext cx="3931920" cy="3970318"/>
          </a:xfrm>
          <a:prstGeom prst="rect">
            <a:avLst/>
          </a:prstGeom>
          <a:noFill/>
        </p:spPr>
        <p:txBody>
          <a:bodyPr wrap="square" rtlCol="0">
            <a:spAutoFit/>
          </a:bodyPr>
          <a:lstStyle/>
          <a:p>
            <a:pPr marL="0" indent="0">
              <a:buNone/>
            </a:pPr>
            <a:r>
              <a:rPr lang="en-IN" sz="2400" b="1" dirty="0"/>
              <a:t>2. Doctors</a:t>
            </a:r>
            <a:endParaRPr lang="en-US" sz="2400" dirty="0"/>
          </a:p>
          <a:p>
            <a:pPr marL="0" indent="0">
              <a:buNone/>
            </a:pPr>
            <a:r>
              <a:rPr lang="en-IN" sz="2400" b="1" dirty="0"/>
              <a:t>Attributes:</a:t>
            </a:r>
            <a:endParaRPr lang="en-US" sz="2400" dirty="0"/>
          </a:p>
          <a:p>
            <a:pPr lvl="0"/>
            <a:r>
              <a:rPr lang="en-IN" sz="2800" dirty="0" err="1"/>
              <a:t>doctor_id</a:t>
            </a:r>
            <a:r>
              <a:rPr lang="en-IN" sz="2800" dirty="0"/>
              <a:t> (Primary Key)</a:t>
            </a:r>
            <a:endParaRPr lang="en-US" sz="2800" dirty="0"/>
          </a:p>
          <a:p>
            <a:pPr lvl="0"/>
            <a:r>
              <a:rPr lang="en-IN" sz="2800" dirty="0"/>
              <a:t>name</a:t>
            </a:r>
            <a:endParaRPr lang="en-US" sz="2800" dirty="0"/>
          </a:p>
          <a:p>
            <a:pPr lvl="0"/>
            <a:r>
              <a:rPr lang="en-IN" sz="2800" dirty="0"/>
              <a:t>specialization</a:t>
            </a:r>
            <a:endParaRPr lang="en-US" sz="2800" dirty="0"/>
          </a:p>
          <a:p>
            <a:pPr lvl="0"/>
            <a:r>
              <a:rPr lang="en-IN" sz="2800" dirty="0"/>
              <a:t>phone</a:t>
            </a:r>
            <a:endParaRPr lang="en-US" sz="2800" dirty="0"/>
          </a:p>
          <a:p>
            <a:pPr lvl="0"/>
            <a:r>
              <a:rPr lang="en-IN" sz="2800" dirty="0"/>
              <a:t>email</a:t>
            </a:r>
            <a:endParaRPr lang="en-US" sz="2800" dirty="0"/>
          </a:p>
          <a:p>
            <a:pPr lvl="0"/>
            <a:r>
              <a:rPr lang="en-IN" sz="2800" dirty="0" err="1"/>
              <a:t>shift_time</a:t>
            </a:r>
            <a:endParaRPr lang="en-US" sz="2800" dirty="0"/>
          </a:p>
          <a:p>
            <a:pPr lvl="0"/>
            <a:r>
              <a:rPr lang="en-IN" sz="2800" dirty="0" err="1"/>
              <a:t>dept_id</a:t>
            </a:r>
            <a:r>
              <a:rPr lang="en-IN" sz="2800" dirty="0"/>
              <a:t> (Foreign Key)</a:t>
            </a:r>
            <a:endParaRPr lang="en-US" sz="2800" dirty="0"/>
          </a:p>
        </p:txBody>
      </p:sp>
      <p:sp>
        <p:nvSpPr>
          <p:cNvPr id="5" name="TextBox 4">
            <a:extLst>
              <a:ext uri="{FF2B5EF4-FFF2-40B4-BE49-F238E27FC236}">
                <a16:creationId xmlns="" xmlns:a16="http://schemas.microsoft.com/office/drawing/2014/main" id="{17F9F9DB-6E93-6E4B-205B-0F80E957C701}"/>
              </a:ext>
            </a:extLst>
          </p:cNvPr>
          <p:cNvSpPr txBox="1"/>
          <p:nvPr/>
        </p:nvSpPr>
        <p:spPr>
          <a:xfrm>
            <a:off x="640080" y="1569720"/>
            <a:ext cx="3261360" cy="4154984"/>
          </a:xfrm>
          <a:prstGeom prst="rect">
            <a:avLst/>
          </a:prstGeom>
          <a:noFill/>
        </p:spPr>
        <p:txBody>
          <a:bodyPr wrap="square" rtlCol="0">
            <a:spAutoFit/>
          </a:bodyPr>
          <a:lstStyle/>
          <a:p>
            <a:pPr marL="0" indent="0">
              <a:buNone/>
            </a:pPr>
            <a:r>
              <a:rPr lang="en-IN" sz="2400" b="1" dirty="0"/>
              <a:t>1. Patients </a:t>
            </a:r>
            <a:endParaRPr lang="en-US" sz="2400" dirty="0"/>
          </a:p>
          <a:p>
            <a:pPr marL="0" indent="0">
              <a:buNone/>
            </a:pPr>
            <a:r>
              <a:rPr lang="en-IN" sz="2400" b="1" dirty="0"/>
              <a:t>Attributes:</a:t>
            </a:r>
            <a:endParaRPr lang="en-US" sz="2400" dirty="0"/>
          </a:p>
          <a:p>
            <a:pPr lvl="0"/>
            <a:r>
              <a:rPr lang="en-IN" sz="2400" dirty="0" err="1"/>
              <a:t>patient_id</a:t>
            </a:r>
            <a:r>
              <a:rPr lang="en-IN" sz="2400" dirty="0"/>
              <a:t> (Primary Key)</a:t>
            </a:r>
            <a:endParaRPr lang="en-US" sz="2400" dirty="0"/>
          </a:p>
          <a:p>
            <a:pPr lvl="0"/>
            <a:r>
              <a:rPr lang="en-IN" sz="2400" dirty="0"/>
              <a:t>name</a:t>
            </a:r>
            <a:endParaRPr lang="en-US" sz="2400" dirty="0"/>
          </a:p>
          <a:p>
            <a:pPr lvl="0"/>
            <a:r>
              <a:rPr lang="en-IN" sz="2400" dirty="0"/>
              <a:t>dob (Date of Birth)</a:t>
            </a:r>
            <a:endParaRPr lang="en-US" sz="2400" dirty="0"/>
          </a:p>
          <a:p>
            <a:pPr lvl="0"/>
            <a:r>
              <a:rPr lang="en-IN" sz="2400" dirty="0"/>
              <a:t>gender</a:t>
            </a:r>
            <a:endParaRPr lang="en-US" sz="2400" dirty="0"/>
          </a:p>
          <a:p>
            <a:pPr lvl="0"/>
            <a:r>
              <a:rPr lang="en-IN" sz="2400" dirty="0"/>
              <a:t>phone</a:t>
            </a:r>
            <a:endParaRPr lang="en-US" sz="2400" dirty="0"/>
          </a:p>
          <a:p>
            <a:pPr lvl="0"/>
            <a:r>
              <a:rPr lang="en-IN" sz="2400" dirty="0"/>
              <a:t>email</a:t>
            </a:r>
            <a:endParaRPr lang="en-US" sz="2400" dirty="0"/>
          </a:p>
          <a:p>
            <a:pPr lvl="0"/>
            <a:r>
              <a:rPr lang="en-IN" sz="2400" dirty="0"/>
              <a:t>street</a:t>
            </a:r>
            <a:endParaRPr lang="en-US" sz="2400" dirty="0"/>
          </a:p>
          <a:p>
            <a:pPr lvl="0"/>
            <a:r>
              <a:rPr lang="en-IN" sz="2400" dirty="0"/>
              <a:t>city</a:t>
            </a:r>
            <a:endParaRPr lang="en-US" sz="2400" dirty="0"/>
          </a:p>
        </p:txBody>
      </p:sp>
    </p:spTree>
    <p:extLst>
      <p:ext uri="{BB962C8B-B14F-4D97-AF65-F5344CB8AC3E}">
        <p14:creationId xmlns="" xmlns:p14="http://schemas.microsoft.com/office/powerpoint/2010/main" val="596934861"/>
      </p:ext>
    </p:extLst>
  </p:cSld>
  <p:clrMapOvr>
    <a:masterClrMapping/>
  </p:clrMapOvr>
  <p:transition>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FDD42AF-C87F-CA3C-A4E5-194BD5439E48}"/>
              </a:ext>
            </a:extLst>
          </p:cNvPr>
          <p:cNvSpPr>
            <a:spLocks noGrp="1"/>
          </p:cNvSpPr>
          <p:nvPr>
            <p:ph type="ctrTitle"/>
          </p:nvPr>
        </p:nvSpPr>
        <p:spPr/>
        <p:txBody>
          <a:bodyPr/>
          <a:lstStyle/>
          <a:p>
            <a:r>
              <a:rPr lang="en-IN" dirty="0"/>
              <a:t>Entities and Attributes</a:t>
            </a:r>
          </a:p>
        </p:txBody>
      </p:sp>
      <p:sp>
        <p:nvSpPr>
          <p:cNvPr id="7" name="TextBox 6">
            <a:extLst>
              <a:ext uri="{FF2B5EF4-FFF2-40B4-BE49-F238E27FC236}">
                <a16:creationId xmlns="" xmlns:a16="http://schemas.microsoft.com/office/drawing/2014/main" id="{169B7F31-A8E0-A9BD-1670-F8DA21239D06}"/>
              </a:ext>
            </a:extLst>
          </p:cNvPr>
          <p:cNvSpPr txBox="1"/>
          <p:nvPr/>
        </p:nvSpPr>
        <p:spPr>
          <a:xfrm>
            <a:off x="167640" y="1143000"/>
            <a:ext cx="2788920" cy="1938992"/>
          </a:xfrm>
          <a:prstGeom prst="rect">
            <a:avLst/>
          </a:prstGeom>
          <a:noFill/>
        </p:spPr>
        <p:txBody>
          <a:bodyPr wrap="square" rtlCol="0">
            <a:spAutoFit/>
          </a:bodyPr>
          <a:lstStyle/>
          <a:p>
            <a:pPr marL="0" indent="0">
              <a:buNone/>
            </a:pPr>
            <a:r>
              <a:rPr lang="en-IN" sz="2000" b="1" dirty="0"/>
              <a:t>3. Departments</a:t>
            </a:r>
            <a:endParaRPr lang="en-US" sz="2000" dirty="0"/>
          </a:p>
          <a:p>
            <a:pPr marL="0" indent="0">
              <a:buNone/>
            </a:pPr>
            <a:r>
              <a:rPr lang="en-IN" sz="2000" b="1" dirty="0"/>
              <a:t>Attributes:</a:t>
            </a:r>
            <a:endParaRPr lang="en-US" sz="2000" dirty="0"/>
          </a:p>
          <a:p>
            <a:pPr lvl="0"/>
            <a:r>
              <a:rPr lang="en-IN" sz="2000" dirty="0" err="1"/>
              <a:t>dept_id</a:t>
            </a:r>
            <a:r>
              <a:rPr lang="en-IN" sz="2000" dirty="0"/>
              <a:t> (Primary Key)</a:t>
            </a:r>
            <a:endParaRPr lang="en-US" sz="2000" dirty="0"/>
          </a:p>
          <a:p>
            <a:pPr lvl="0"/>
            <a:r>
              <a:rPr lang="en-IN" sz="2000" dirty="0"/>
              <a:t>name</a:t>
            </a:r>
            <a:endParaRPr lang="en-US" sz="2000" dirty="0"/>
          </a:p>
          <a:p>
            <a:pPr lvl="0"/>
            <a:r>
              <a:rPr lang="en-IN" sz="2000" dirty="0"/>
              <a:t>location</a:t>
            </a:r>
            <a:endParaRPr lang="en-US" sz="2000" dirty="0"/>
          </a:p>
          <a:p>
            <a:pPr lvl="0"/>
            <a:r>
              <a:rPr lang="en-IN" sz="2000" dirty="0" err="1"/>
              <a:t>head_of_dept</a:t>
            </a:r>
            <a:endParaRPr lang="en-US" sz="2000" dirty="0"/>
          </a:p>
        </p:txBody>
      </p:sp>
      <p:sp>
        <p:nvSpPr>
          <p:cNvPr id="10" name="TextBox 9">
            <a:extLst>
              <a:ext uri="{FF2B5EF4-FFF2-40B4-BE49-F238E27FC236}">
                <a16:creationId xmlns="" xmlns:a16="http://schemas.microsoft.com/office/drawing/2014/main" id="{53394A0D-6C95-82BB-0BCB-730B0A40DC9C}"/>
              </a:ext>
            </a:extLst>
          </p:cNvPr>
          <p:cNvSpPr txBox="1"/>
          <p:nvPr/>
        </p:nvSpPr>
        <p:spPr>
          <a:xfrm>
            <a:off x="167640" y="3429000"/>
            <a:ext cx="2956560" cy="2862322"/>
          </a:xfrm>
          <a:prstGeom prst="rect">
            <a:avLst/>
          </a:prstGeom>
          <a:noFill/>
        </p:spPr>
        <p:txBody>
          <a:bodyPr wrap="square" rtlCol="0">
            <a:spAutoFit/>
          </a:bodyPr>
          <a:lstStyle/>
          <a:p>
            <a:pPr marL="0" indent="0">
              <a:buNone/>
            </a:pPr>
            <a:r>
              <a:rPr lang="en-IN" sz="2000" b="1" dirty="0"/>
              <a:t>5. Appointments</a:t>
            </a:r>
            <a:endParaRPr lang="en-US" sz="2000" dirty="0"/>
          </a:p>
          <a:p>
            <a:pPr marL="0" indent="0">
              <a:buNone/>
            </a:pPr>
            <a:r>
              <a:rPr lang="en-IN" sz="2000" b="1" dirty="0"/>
              <a:t>Attributes:</a:t>
            </a:r>
            <a:endParaRPr lang="en-US" sz="2000" dirty="0"/>
          </a:p>
          <a:p>
            <a:pPr lvl="0"/>
            <a:r>
              <a:rPr lang="en-IN" sz="2000" dirty="0" err="1"/>
              <a:t>appointment_id</a:t>
            </a:r>
            <a:r>
              <a:rPr lang="en-IN" sz="2000" dirty="0"/>
              <a:t> (Primary Key)</a:t>
            </a:r>
            <a:endParaRPr lang="en-US" sz="2000" dirty="0"/>
          </a:p>
          <a:p>
            <a:pPr lvl="0"/>
            <a:r>
              <a:rPr lang="en-IN" sz="2000" dirty="0" err="1"/>
              <a:t>patient_id</a:t>
            </a:r>
            <a:r>
              <a:rPr lang="en-IN" sz="2000" dirty="0"/>
              <a:t> (Foreign Key)</a:t>
            </a:r>
            <a:endParaRPr lang="en-US" sz="2000" dirty="0"/>
          </a:p>
          <a:p>
            <a:pPr lvl="0"/>
            <a:r>
              <a:rPr lang="en-IN" sz="2000" dirty="0" err="1"/>
              <a:t>doctor_id</a:t>
            </a:r>
            <a:r>
              <a:rPr lang="en-IN" sz="2000" dirty="0"/>
              <a:t> (Foreign Key)</a:t>
            </a:r>
            <a:endParaRPr lang="en-US" sz="2000" dirty="0"/>
          </a:p>
          <a:p>
            <a:pPr lvl="0"/>
            <a:r>
              <a:rPr lang="en-IN" sz="2000" dirty="0"/>
              <a:t>date</a:t>
            </a:r>
            <a:endParaRPr lang="en-US" sz="2000" dirty="0"/>
          </a:p>
          <a:p>
            <a:pPr lvl="0"/>
            <a:r>
              <a:rPr lang="en-IN" sz="2000" dirty="0"/>
              <a:t>time</a:t>
            </a:r>
            <a:endParaRPr lang="en-US" sz="2000" dirty="0"/>
          </a:p>
          <a:p>
            <a:pPr lvl="0"/>
            <a:r>
              <a:rPr lang="en-IN" sz="2000" dirty="0"/>
              <a:t>status</a:t>
            </a:r>
            <a:endParaRPr lang="en-US" sz="2000" dirty="0"/>
          </a:p>
        </p:txBody>
      </p:sp>
      <p:sp>
        <p:nvSpPr>
          <p:cNvPr id="11" name="TextBox 10">
            <a:extLst>
              <a:ext uri="{FF2B5EF4-FFF2-40B4-BE49-F238E27FC236}">
                <a16:creationId xmlns="" xmlns:a16="http://schemas.microsoft.com/office/drawing/2014/main" id="{48F446C2-7261-4D7F-F957-5815300BD1C8}"/>
              </a:ext>
            </a:extLst>
          </p:cNvPr>
          <p:cNvSpPr txBox="1"/>
          <p:nvPr/>
        </p:nvSpPr>
        <p:spPr>
          <a:xfrm>
            <a:off x="5486400" y="1143000"/>
            <a:ext cx="2788920" cy="1938992"/>
          </a:xfrm>
          <a:prstGeom prst="rect">
            <a:avLst/>
          </a:prstGeom>
          <a:noFill/>
        </p:spPr>
        <p:txBody>
          <a:bodyPr wrap="square" rtlCol="0">
            <a:spAutoFit/>
          </a:bodyPr>
          <a:lstStyle/>
          <a:p>
            <a:pPr marL="0" indent="0">
              <a:buNone/>
            </a:pPr>
            <a:r>
              <a:rPr lang="en-IN" sz="2000" b="1" dirty="0"/>
              <a:t>4. Rooms</a:t>
            </a:r>
            <a:endParaRPr lang="en-US" sz="2000" dirty="0"/>
          </a:p>
          <a:p>
            <a:pPr marL="0" indent="0">
              <a:buNone/>
            </a:pPr>
            <a:r>
              <a:rPr lang="en-IN" sz="2000" b="1" dirty="0"/>
              <a:t>Attributes:</a:t>
            </a:r>
            <a:endParaRPr lang="en-US" sz="2000" dirty="0"/>
          </a:p>
          <a:p>
            <a:pPr lvl="0"/>
            <a:r>
              <a:rPr lang="en-IN" sz="2000" dirty="0" err="1"/>
              <a:t>room_id</a:t>
            </a:r>
            <a:r>
              <a:rPr lang="en-IN" sz="2000" dirty="0"/>
              <a:t> (Primary Key)</a:t>
            </a:r>
            <a:endParaRPr lang="en-US" sz="2000" dirty="0"/>
          </a:p>
          <a:p>
            <a:pPr lvl="0"/>
            <a:r>
              <a:rPr lang="en-IN" sz="2000" dirty="0" err="1"/>
              <a:t>room_type</a:t>
            </a:r>
            <a:endParaRPr lang="en-US" sz="2000" dirty="0"/>
          </a:p>
          <a:p>
            <a:pPr lvl="0"/>
            <a:r>
              <a:rPr lang="en-IN" sz="2000" dirty="0"/>
              <a:t>capacity</a:t>
            </a:r>
            <a:endParaRPr lang="en-US" sz="2000" dirty="0"/>
          </a:p>
          <a:p>
            <a:pPr lvl="0"/>
            <a:r>
              <a:rPr lang="en-IN" sz="2000" dirty="0" err="1"/>
              <a:t>availability_status</a:t>
            </a:r>
            <a:endParaRPr lang="en-US" sz="2000" dirty="0"/>
          </a:p>
        </p:txBody>
      </p:sp>
      <p:sp>
        <p:nvSpPr>
          <p:cNvPr id="12" name="TextBox 11">
            <a:extLst>
              <a:ext uri="{FF2B5EF4-FFF2-40B4-BE49-F238E27FC236}">
                <a16:creationId xmlns="" xmlns:a16="http://schemas.microsoft.com/office/drawing/2014/main" id="{5E29C68E-BBD1-DD80-DCEF-D4F00F82DA78}"/>
              </a:ext>
            </a:extLst>
          </p:cNvPr>
          <p:cNvSpPr txBox="1"/>
          <p:nvPr/>
        </p:nvSpPr>
        <p:spPr>
          <a:xfrm>
            <a:off x="5593080" y="3429000"/>
            <a:ext cx="2682240" cy="3170099"/>
          </a:xfrm>
          <a:prstGeom prst="rect">
            <a:avLst/>
          </a:prstGeom>
          <a:noFill/>
        </p:spPr>
        <p:txBody>
          <a:bodyPr wrap="square" rtlCol="0">
            <a:spAutoFit/>
          </a:bodyPr>
          <a:lstStyle/>
          <a:p>
            <a:pPr marL="0" indent="0">
              <a:buNone/>
            </a:pPr>
            <a:r>
              <a:rPr lang="en-IN" sz="2000" b="1" dirty="0"/>
              <a:t>6. Billing</a:t>
            </a:r>
            <a:endParaRPr lang="en-US" sz="2000" dirty="0"/>
          </a:p>
          <a:p>
            <a:pPr marL="0" indent="0">
              <a:buNone/>
            </a:pPr>
            <a:r>
              <a:rPr lang="en-IN" sz="2000" b="1" dirty="0"/>
              <a:t>Attributes:</a:t>
            </a:r>
            <a:endParaRPr lang="en-US" sz="2000" dirty="0"/>
          </a:p>
          <a:p>
            <a:pPr lvl="0"/>
            <a:r>
              <a:rPr lang="en-IN" sz="2000" dirty="0" err="1"/>
              <a:t>bill_id</a:t>
            </a:r>
            <a:r>
              <a:rPr lang="en-IN" sz="2000" dirty="0"/>
              <a:t> (Primary Key)</a:t>
            </a:r>
            <a:endParaRPr lang="en-US" sz="2000" dirty="0"/>
          </a:p>
          <a:p>
            <a:pPr lvl="0"/>
            <a:r>
              <a:rPr lang="en-IN" sz="2000" dirty="0" err="1"/>
              <a:t>patient_id</a:t>
            </a:r>
            <a:r>
              <a:rPr lang="en-IN" sz="2000" dirty="0"/>
              <a:t> (Foreign Key)</a:t>
            </a:r>
            <a:endParaRPr lang="en-US" sz="2000" dirty="0"/>
          </a:p>
          <a:p>
            <a:pPr lvl="0"/>
            <a:r>
              <a:rPr lang="en-IN" sz="2000" dirty="0" err="1"/>
              <a:t>appointment_id</a:t>
            </a:r>
            <a:r>
              <a:rPr lang="en-IN" sz="2000" dirty="0"/>
              <a:t> (Foreign Key)</a:t>
            </a:r>
            <a:endParaRPr lang="en-US" sz="2000" dirty="0"/>
          </a:p>
          <a:p>
            <a:pPr lvl="0"/>
            <a:r>
              <a:rPr lang="en-IN" sz="2000" dirty="0"/>
              <a:t>amount</a:t>
            </a:r>
            <a:endParaRPr lang="en-US" sz="2000" dirty="0"/>
          </a:p>
          <a:p>
            <a:pPr lvl="0"/>
            <a:r>
              <a:rPr lang="en-IN" sz="2000" dirty="0" err="1"/>
              <a:t>payment_status</a:t>
            </a:r>
            <a:endParaRPr lang="en-US" sz="2000" dirty="0"/>
          </a:p>
          <a:p>
            <a:pPr lvl="0"/>
            <a:r>
              <a:rPr lang="en-IN" sz="2000" dirty="0" err="1"/>
              <a:t>payment_date</a:t>
            </a:r>
            <a:endParaRPr lang="en-US" sz="2000" dirty="0"/>
          </a:p>
        </p:txBody>
      </p:sp>
    </p:spTree>
    <p:extLst>
      <p:ext uri="{BB962C8B-B14F-4D97-AF65-F5344CB8AC3E}">
        <p14:creationId xmlns="" xmlns:p14="http://schemas.microsoft.com/office/powerpoint/2010/main" val="3256072142"/>
      </p:ext>
    </p:extLst>
  </p:cSld>
  <p:clrMapOvr>
    <a:masterClrMapping/>
  </p:clrMapOvr>
  <p:transition>
    <p:fade thruBlk="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E6B824B-BFE6-7D86-7846-FE25B94A27FA}"/>
              </a:ext>
            </a:extLst>
          </p:cNvPr>
          <p:cNvSpPr>
            <a:spLocks noGrp="1"/>
          </p:cNvSpPr>
          <p:nvPr>
            <p:ph type="ctrTitle"/>
          </p:nvPr>
        </p:nvSpPr>
        <p:spPr/>
        <p:txBody>
          <a:bodyPr/>
          <a:lstStyle/>
          <a:p>
            <a:r>
              <a:rPr lang="en-IN" dirty="0"/>
              <a:t>Relationships</a:t>
            </a:r>
          </a:p>
        </p:txBody>
      </p:sp>
      <p:sp>
        <p:nvSpPr>
          <p:cNvPr id="6" name="TextBox 5">
            <a:extLst>
              <a:ext uri="{FF2B5EF4-FFF2-40B4-BE49-F238E27FC236}">
                <a16:creationId xmlns="" xmlns:a16="http://schemas.microsoft.com/office/drawing/2014/main" id="{AEFD2500-9969-B55B-45DA-649487D10FE2}"/>
              </a:ext>
            </a:extLst>
          </p:cNvPr>
          <p:cNvSpPr txBox="1"/>
          <p:nvPr/>
        </p:nvSpPr>
        <p:spPr>
          <a:xfrm>
            <a:off x="259080" y="914401"/>
            <a:ext cx="3992880" cy="5078313"/>
          </a:xfrm>
          <a:prstGeom prst="rect">
            <a:avLst/>
          </a:prstGeom>
          <a:noFill/>
        </p:spPr>
        <p:txBody>
          <a:bodyPr wrap="square" rtlCol="0">
            <a:spAutoFit/>
          </a:bodyPr>
          <a:lstStyle/>
          <a:p>
            <a:pPr marL="0" lvl="0" indent="0">
              <a:buNone/>
            </a:pPr>
            <a:r>
              <a:rPr lang="en-IN" sz="1800" b="1" dirty="0"/>
              <a:t>1. Patients – Appointments</a:t>
            </a:r>
            <a:endParaRPr lang="en-US" sz="1800" dirty="0"/>
          </a:p>
          <a:p>
            <a:pPr marL="0" lvl="0" indent="0">
              <a:buNone/>
            </a:pPr>
            <a:r>
              <a:rPr lang="en-IN" sz="1800" b="1" dirty="0"/>
              <a:t>Relationship Name:</a:t>
            </a:r>
            <a:r>
              <a:rPr lang="en-IN" sz="1800" dirty="0"/>
              <a:t> Book</a:t>
            </a:r>
            <a:endParaRPr lang="en-US" sz="1800" dirty="0"/>
          </a:p>
          <a:p>
            <a:pPr lvl="0"/>
            <a:r>
              <a:rPr lang="en-IN" sz="1800" b="1" dirty="0"/>
              <a:t>Type:</a:t>
            </a:r>
            <a:r>
              <a:rPr lang="en-IN" sz="1800" dirty="0"/>
              <a:t> One-to-Many</a:t>
            </a:r>
            <a:endParaRPr lang="en-US" sz="1800" dirty="0"/>
          </a:p>
          <a:p>
            <a:pPr lvl="0"/>
            <a:r>
              <a:rPr lang="en-IN" sz="1800" b="1" dirty="0"/>
              <a:t>Description:</a:t>
            </a:r>
            <a:r>
              <a:rPr lang="en-IN" sz="1800" dirty="0"/>
              <a:t> A patient can book many appointments, but each appointment is linked to one patient.</a:t>
            </a:r>
            <a:endParaRPr lang="en-US" sz="1800" dirty="0"/>
          </a:p>
          <a:p>
            <a:pPr lvl="0"/>
            <a:r>
              <a:rPr lang="en-IN" sz="1800" b="1" dirty="0"/>
              <a:t>Keys:</a:t>
            </a:r>
            <a:r>
              <a:rPr lang="en-IN" sz="1800" dirty="0"/>
              <a:t> </a:t>
            </a:r>
            <a:r>
              <a:rPr lang="en-IN" sz="1800" dirty="0" err="1"/>
              <a:t>Appointments.patient_id</a:t>
            </a:r>
            <a:r>
              <a:rPr lang="en-IN" sz="1800" dirty="0"/>
              <a:t> → </a:t>
            </a:r>
            <a:r>
              <a:rPr lang="en-IN" sz="1800" dirty="0" err="1"/>
              <a:t>Patients.patient_id</a:t>
            </a:r>
            <a:endParaRPr lang="en-IN" sz="1800" dirty="0"/>
          </a:p>
          <a:p>
            <a:pPr lvl="0"/>
            <a:endParaRPr lang="en-US" sz="1800" dirty="0"/>
          </a:p>
          <a:p>
            <a:pPr marL="0" indent="0">
              <a:buNone/>
            </a:pPr>
            <a:r>
              <a:rPr lang="en-US" sz="1800" b="1" dirty="0"/>
              <a:t>3. Departments – Appointments</a:t>
            </a:r>
          </a:p>
          <a:p>
            <a:r>
              <a:rPr lang="en-US" sz="1800" b="1" dirty="0"/>
              <a:t>Relationship Name: </a:t>
            </a:r>
            <a:r>
              <a:rPr lang="en-US" sz="1800" dirty="0"/>
              <a:t>Conducts</a:t>
            </a:r>
          </a:p>
          <a:p>
            <a:r>
              <a:rPr lang="en-US" sz="1800" b="1" dirty="0"/>
              <a:t>Type: </a:t>
            </a:r>
            <a:r>
              <a:rPr lang="en-US" sz="1800" dirty="0"/>
              <a:t>One-to-Many</a:t>
            </a:r>
          </a:p>
          <a:p>
            <a:r>
              <a:rPr lang="en-US" sz="1800" b="1" dirty="0"/>
              <a:t>Description: </a:t>
            </a:r>
            <a:r>
              <a:rPr lang="en-US" sz="1800" dirty="0"/>
              <a:t>A department can conduct multiple appointments, but each appointment is linked to one department.</a:t>
            </a:r>
          </a:p>
          <a:p>
            <a:r>
              <a:rPr lang="en-US" sz="1800" b="1" dirty="0"/>
              <a:t>Keys: </a:t>
            </a:r>
            <a:r>
              <a:rPr lang="en-US" sz="1800" dirty="0" err="1"/>
              <a:t>Appointments.dept_id</a:t>
            </a:r>
            <a:r>
              <a:rPr lang="en-US" sz="1800" dirty="0"/>
              <a:t> → </a:t>
            </a:r>
            <a:r>
              <a:rPr lang="en-US" sz="1800" dirty="0" err="1"/>
              <a:t>Departments.dept_id</a:t>
            </a:r>
            <a:endParaRPr lang="pa-IN" sz="1800" dirty="0"/>
          </a:p>
        </p:txBody>
      </p:sp>
      <p:sp>
        <p:nvSpPr>
          <p:cNvPr id="7" name="TextBox 6">
            <a:extLst>
              <a:ext uri="{FF2B5EF4-FFF2-40B4-BE49-F238E27FC236}">
                <a16:creationId xmlns="" xmlns:a16="http://schemas.microsoft.com/office/drawing/2014/main" id="{9F271D42-CE09-D670-C5C7-6527845EBFEF}"/>
              </a:ext>
            </a:extLst>
          </p:cNvPr>
          <p:cNvSpPr txBox="1"/>
          <p:nvPr/>
        </p:nvSpPr>
        <p:spPr>
          <a:xfrm>
            <a:off x="5486400" y="914401"/>
            <a:ext cx="3398520" cy="5632311"/>
          </a:xfrm>
          <a:prstGeom prst="rect">
            <a:avLst/>
          </a:prstGeom>
          <a:noFill/>
        </p:spPr>
        <p:txBody>
          <a:bodyPr wrap="square" rtlCol="0">
            <a:spAutoFit/>
          </a:bodyPr>
          <a:lstStyle/>
          <a:p>
            <a:pPr marL="0" lvl="0" indent="0">
              <a:buNone/>
            </a:pPr>
            <a:r>
              <a:rPr lang="en-IN" sz="1800" b="1" dirty="0"/>
              <a:t>2.Doctors – Appointments</a:t>
            </a:r>
            <a:endParaRPr lang="en-US" sz="1800" dirty="0"/>
          </a:p>
          <a:p>
            <a:pPr marL="0" lvl="0" indent="0">
              <a:buNone/>
            </a:pPr>
            <a:r>
              <a:rPr lang="en-IN" sz="1800" b="1" dirty="0"/>
              <a:t>Relationship Name:</a:t>
            </a:r>
            <a:r>
              <a:rPr lang="en-IN" sz="1800" dirty="0"/>
              <a:t> Schedules</a:t>
            </a:r>
            <a:endParaRPr lang="en-US" sz="1800" dirty="0"/>
          </a:p>
          <a:p>
            <a:pPr lvl="0"/>
            <a:r>
              <a:rPr lang="en-IN" sz="1800" b="1" dirty="0"/>
              <a:t>Type:</a:t>
            </a:r>
            <a:r>
              <a:rPr lang="en-IN" sz="1800" dirty="0"/>
              <a:t> One-to-Many</a:t>
            </a:r>
            <a:endParaRPr lang="en-US" sz="1800" dirty="0"/>
          </a:p>
          <a:p>
            <a:pPr lvl="0"/>
            <a:r>
              <a:rPr lang="en-IN" sz="1800" b="1" dirty="0"/>
              <a:t>Description:</a:t>
            </a:r>
            <a:r>
              <a:rPr lang="en-IN" sz="1800" dirty="0"/>
              <a:t> A doctor can have multiple appointments, but each appointment is with one doctor.</a:t>
            </a:r>
            <a:endParaRPr lang="en-US" sz="1800" dirty="0"/>
          </a:p>
          <a:p>
            <a:pPr lvl="0"/>
            <a:r>
              <a:rPr lang="en-IN" sz="1800" b="1" dirty="0"/>
              <a:t>Keys:</a:t>
            </a:r>
            <a:r>
              <a:rPr lang="en-IN" sz="1800" dirty="0"/>
              <a:t> </a:t>
            </a:r>
            <a:r>
              <a:rPr lang="en-IN" sz="1800" dirty="0" err="1"/>
              <a:t>Appointments.doctor_id</a:t>
            </a:r>
            <a:r>
              <a:rPr lang="en-IN" sz="1800" dirty="0"/>
              <a:t> → </a:t>
            </a:r>
            <a:r>
              <a:rPr lang="en-IN" sz="1800" dirty="0" err="1"/>
              <a:t>Doctors.doctor_id</a:t>
            </a:r>
            <a:endParaRPr lang="en-US" sz="1800" dirty="0"/>
          </a:p>
          <a:p>
            <a:endParaRPr lang="en-IN" sz="1800" dirty="0"/>
          </a:p>
          <a:p>
            <a:pPr marL="0" indent="0">
              <a:buNone/>
            </a:pPr>
            <a:r>
              <a:rPr lang="en-US" sz="1800" b="1" dirty="0"/>
              <a:t>4. Rooms – Appointments</a:t>
            </a:r>
          </a:p>
          <a:p>
            <a:r>
              <a:rPr lang="en-US" sz="1800" b="1" dirty="0"/>
              <a:t>Relationship Name: </a:t>
            </a:r>
            <a:r>
              <a:rPr lang="en-US" sz="1800" dirty="0"/>
              <a:t>Held In</a:t>
            </a:r>
          </a:p>
          <a:p>
            <a:r>
              <a:rPr lang="en-US" sz="1800" b="1" dirty="0"/>
              <a:t>Type:</a:t>
            </a:r>
            <a:r>
              <a:rPr lang="en-US" sz="1800" dirty="0"/>
              <a:t> One-to-Many</a:t>
            </a:r>
          </a:p>
          <a:p>
            <a:r>
              <a:rPr lang="en-US" sz="1800" b="1" dirty="0"/>
              <a:t>Description:</a:t>
            </a:r>
            <a:r>
              <a:rPr lang="en-US" sz="1800" dirty="0"/>
              <a:t> A room can host multiple appointments over time, but each appointment is held in one room.</a:t>
            </a:r>
          </a:p>
          <a:p>
            <a:r>
              <a:rPr lang="en-US" sz="1800" b="1" dirty="0"/>
              <a:t>Keys:</a:t>
            </a:r>
            <a:r>
              <a:rPr lang="en-US" sz="1800" dirty="0"/>
              <a:t> </a:t>
            </a:r>
            <a:r>
              <a:rPr lang="en-US" sz="1800" dirty="0" err="1"/>
              <a:t>Appointments.room_id</a:t>
            </a:r>
            <a:r>
              <a:rPr lang="en-US" sz="1800" dirty="0"/>
              <a:t> → </a:t>
            </a:r>
            <a:r>
              <a:rPr lang="en-US" sz="1800" dirty="0" err="1"/>
              <a:t>Rooms.room_id</a:t>
            </a:r>
            <a:endParaRPr lang="pa-IN" sz="1800" dirty="0"/>
          </a:p>
        </p:txBody>
      </p:sp>
    </p:spTree>
    <p:extLst>
      <p:ext uri="{BB962C8B-B14F-4D97-AF65-F5344CB8AC3E}">
        <p14:creationId xmlns="" xmlns:p14="http://schemas.microsoft.com/office/powerpoint/2010/main" val="4279650689"/>
      </p:ext>
    </p:extLst>
  </p:cSld>
  <p:clrMapOvr>
    <a:masterClrMapping/>
  </p:clrMapOvr>
  <p:transition>
    <p:fade thruBlk="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1432F79-7EEA-6725-AE02-5CBA39DEBB8D}"/>
              </a:ext>
            </a:extLst>
          </p:cNvPr>
          <p:cNvSpPr>
            <a:spLocks noGrp="1"/>
          </p:cNvSpPr>
          <p:nvPr>
            <p:ph type="ctrTitle"/>
          </p:nvPr>
        </p:nvSpPr>
        <p:spPr/>
        <p:txBody>
          <a:bodyPr/>
          <a:lstStyle/>
          <a:p>
            <a:r>
              <a:rPr lang="en-IN" dirty="0"/>
              <a:t>Relationships</a:t>
            </a:r>
          </a:p>
        </p:txBody>
      </p:sp>
      <p:sp>
        <p:nvSpPr>
          <p:cNvPr id="6" name="TextBox 5">
            <a:extLst>
              <a:ext uri="{FF2B5EF4-FFF2-40B4-BE49-F238E27FC236}">
                <a16:creationId xmlns="" xmlns:a16="http://schemas.microsoft.com/office/drawing/2014/main" id="{E143DD11-CC13-1078-3C58-57F3E917B9AA}"/>
              </a:ext>
            </a:extLst>
          </p:cNvPr>
          <p:cNvSpPr txBox="1"/>
          <p:nvPr/>
        </p:nvSpPr>
        <p:spPr>
          <a:xfrm>
            <a:off x="320040" y="1206938"/>
            <a:ext cx="3535680" cy="4524315"/>
          </a:xfrm>
          <a:prstGeom prst="rect">
            <a:avLst/>
          </a:prstGeom>
          <a:noFill/>
        </p:spPr>
        <p:txBody>
          <a:bodyPr wrap="square" rtlCol="0">
            <a:spAutoFit/>
          </a:bodyPr>
          <a:lstStyle/>
          <a:p>
            <a:pPr marL="0" lvl="0" indent="0">
              <a:buNone/>
            </a:pPr>
            <a:r>
              <a:rPr lang="en-IN" sz="1600" b="1" dirty="0"/>
              <a:t>5. Departments – Doctors</a:t>
            </a:r>
            <a:endParaRPr lang="en-US" sz="1600" dirty="0"/>
          </a:p>
          <a:p>
            <a:pPr marL="0" lvl="0" indent="0">
              <a:buNone/>
            </a:pPr>
            <a:r>
              <a:rPr lang="en-IN" sz="1600" b="1" dirty="0"/>
              <a:t>Relationship Name:</a:t>
            </a:r>
            <a:r>
              <a:rPr lang="en-IN" sz="1600" dirty="0"/>
              <a:t> Belongs To</a:t>
            </a:r>
            <a:endParaRPr lang="en-US" sz="1600" dirty="0"/>
          </a:p>
          <a:p>
            <a:pPr lvl="0"/>
            <a:r>
              <a:rPr lang="en-IN" sz="1600" b="1" dirty="0"/>
              <a:t>Type:</a:t>
            </a:r>
            <a:r>
              <a:rPr lang="en-IN" sz="1600" dirty="0"/>
              <a:t> </a:t>
            </a:r>
            <a:r>
              <a:rPr lang="en-IN" sz="1600" dirty="0" smtClean="0"/>
              <a:t>Many-to-Many</a:t>
            </a:r>
            <a:endParaRPr lang="en-US" sz="1600" dirty="0"/>
          </a:p>
          <a:p>
            <a:pPr lvl="0"/>
            <a:r>
              <a:rPr lang="en-IN" sz="1600" b="1" dirty="0"/>
              <a:t>Description:</a:t>
            </a:r>
            <a:r>
              <a:rPr lang="en-IN" sz="1600" dirty="0"/>
              <a:t> A department can have many doctors, but each doctor belongs to one department.</a:t>
            </a:r>
            <a:endParaRPr lang="en-US" sz="1600" dirty="0"/>
          </a:p>
          <a:p>
            <a:pPr lvl="0"/>
            <a:r>
              <a:rPr lang="en-IN" sz="1600" b="1" dirty="0"/>
              <a:t>Keys:</a:t>
            </a:r>
            <a:r>
              <a:rPr lang="en-IN" sz="1600" dirty="0"/>
              <a:t> </a:t>
            </a:r>
            <a:r>
              <a:rPr lang="en-IN" sz="1600" dirty="0" err="1"/>
              <a:t>Doctors.dept_id</a:t>
            </a:r>
            <a:r>
              <a:rPr lang="en-IN" sz="1600" dirty="0"/>
              <a:t> → </a:t>
            </a:r>
            <a:r>
              <a:rPr lang="en-IN" sz="1600" dirty="0" err="1"/>
              <a:t>Departments.dept_id</a:t>
            </a:r>
            <a:endParaRPr lang="en-IN" sz="1600" dirty="0"/>
          </a:p>
          <a:p>
            <a:pPr marL="0" lvl="0" indent="0">
              <a:buNone/>
            </a:pPr>
            <a:r>
              <a:rPr lang="en-US" sz="1600" dirty="0"/>
              <a:t>_________________________________________</a:t>
            </a:r>
          </a:p>
          <a:p>
            <a:pPr marL="0" lvl="0" indent="0">
              <a:buNone/>
            </a:pPr>
            <a:r>
              <a:rPr lang="en-IN" sz="1600" b="1" dirty="0"/>
              <a:t>7. Patients – Billing</a:t>
            </a:r>
            <a:endParaRPr lang="en-US" sz="1600" dirty="0"/>
          </a:p>
          <a:p>
            <a:pPr marL="0" lvl="0" indent="0">
              <a:buNone/>
            </a:pPr>
            <a:r>
              <a:rPr lang="en-IN" sz="1600" b="1" dirty="0"/>
              <a:t>Relationship Name:</a:t>
            </a:r>
            <a:r>
              <a:rPr lang="en-IN" sz="1600" dirty="0"/>
              <a:t> Generates</a:t>
            </a:r>
            <a:endParaRPr lang="en-US" sz="1600" dirty="0"/>
          </a:p>
          <a:p>
            <a:pPr lvl="0"/>
            <a:r>
              <a:rPr lang="en-IN" sz="1600" b="1" dirty="0"/>
              <a:t>Type:</a:t>
            </a:r>
            <a:r>
              <a:rPr lang="en-IN" sz="1600" dirty="0"/>
              <a:t> One-to-Many</a:t>
            </a:r>
            <a:endParaRPr lang="en-US" sz="1600" dirty="0"/>
          </a:p>
          <a:p>
            <a:pPr lvl="0"/>
            <a:r>
              <a:rPr lang="en-IN" sz="1600" b="1" dirty="0"/>
              <a:t>Description:</a:t>
            </a:r>
            <a:r>
              <a:rPr lang="en-IN" sz="1600" dirty="0"/>
              <a:t> A patient can have multiple bills, but each bill belongs to one patient.</a:t>
            </a:r>
            <a:endParaRPr lang="en-US" sz="1600" dirty="0"/>
          </a:p>
          <a:p>
            <a:pPr lvl="0"/>
            <a:r>
              <a:rPr lang="en-IN" sz="1600" b="1" dirty="0"/>
              <a:t>Keys:</a:t>
            </a:r>
            <a:r>
              <a:rPr lang="en-IN" sz="1600" dirty="0"/>
              <a:t> </a:t>
            </a:r>
            <a:r>
              <a:rPr lang="en-IN" sz="1600" dirty="0" err="1"/>
              <a:t>Billing.patient_id</a:t>
            </a:r>
            <a:r>
              <a:rPr lang="en-IN" sz="1600" dirty="0"/>
              <a:t> → </a:t>
            </a:r>
            <a:r>
              <a:rPr lang="en-IN" sz="1600" dirty="0" err="1"/>
              <a:t>Patients.patient_id</a:t>
            </a:r>
            <a:endParaRPr lang="en-US" sz="1600" dirty="0"/>
          </a:p>
        </p:txBody>
      </p:sp>
      <p:sp>
        <p:nvSpPr>
          <p:cNvPr id="7" name="TextBox 6">
            <a:extLst>
              <a:ext uri="{FF2B5EF4-FFF2-40B4-BE49-F238E27FC236}">
                <a16:creationId xmlns="" xmlns:a16="http://schemas.microsoft.com/office/drawing/2014/main" id="{B49A18F2-69DE-32DD-8DDA-BB2AEC1A48F3}"/>
              </a:ext>
            </a:extLst>
          </p:cNvPr>
          <p:cNvSpPr txBox="1"/>
          <p:nvPr/>
        </p:nvSpPr>
        <p:spPr>
          <a:xfrm>
            <a:off x="5623560" y="1225157"/>
            <a:ext cx="3337560" cy="4770537"/>
          </a:xfrm>
          <a:prstGeom prst="rect">
            <a:avLst/>
          </a:prstGeom>
          <a:noFill/>
        </p:spPr>
        <p:txBody>
          <a:bodyPr wrap="square" rtlCol="0">
            <a:spAutoFit/>
          </a:bodyPr>
          <a:lstStyle/>
          <a:p>
            <a:pPr marL="0" lvl="0" indent="0">
              <a:buNone/>
            </a:pPr>
            <a:r>
              <a:rPr lang="en-IN" sz="1600" b="1" dirty="0"/>
              <a:t>6. Rooms – Patients</a:t>
            </a:r>
            <a:endParaRPr lang="en-US" sz="1600" dirty="0"/>
          </a:p>
          <a:p>
            <a:pPr marL="0" lvl="0" indent="0">
              <a:buNone/>
            </a:pPr>
            <a:r>
              <a:rPr lang="en-IN" sz="1600" b="1" dirty="0"/>
              <a:t>Relationship Name:</a:t>
            </a:r>
            <a:r>
              <a:rPr lang="en-IN" sz="1600" dirty="0"/>
              <a:t> Allocated</a:t>
            </a:r>
            <a:endParaRPr lang="en-US" sz="1600" dirty="0"/>
          </a:p>
          <a:p>
            <a:pPr lvl="0"/>
            <a:r>
              <a:rPr lang="en-IN" sz="1600" b="1" dirty="0"/>
              <a:t>Type:</a:t>
            </a:r>
            <a:r>
              <a:rPr lang="en-IN" sz="1600" dirty="0"/>
              <a:t> One-to-Many</a:t>
            </a:r>
            <a:endParaRPr lang="en-US" sz="1600" dirty="0"/>
          </a:p>
          <a:p>
            <a:pPr lvl="0"/>
            <a:r>
              <a:rPr lang="en-IN" sz="1600" b="1" dirty="0"/>
              <a:t>Description:</a:t>
            </a:r>
            <a:r>
              <a:rPr lang="en-IN" sz="1600" dirty="0"/>
              <a:t> A room can be allocated to many patients over time, but at a given time a patient is assigned to one room.</a:t>
            </a:r>
            <a:endParaRPr lang="en-US" sz="1600" dirty="0"/>
          </a:p>
          <a:p>
            <a:pPr lvl="0"/>
            <a:r>
              <a:rPr lang="en-IN" sz="1600" b="1" dirty="0"/>
              <a:t>Keys:</a:t>
            </a:r>
            <a:r>
              <a:rPr lang="en-IN" sz="1600" dirty="0"/>
              <a:t> </a:t>
            </a:r>
            <a:r>
              <a:rPr lang="en-IN" sz="1600" dirty="0" err="1"/>
              <a:t>Patients.room_id</a:t>
            </a:r>
            <a:r>
              <a:rPr lang="en-IN" sz="1600" dirty="0"/>
              <a:t> → </a:t>
            </a:r>
            <a:r>
              <a:rPr lang="en-IN" sz="1600" dirty="0" err="1"/>
              <a:t>Rooms.room_id</a:t>
            </a:r>
            <a:endParaRPr lang="en-IN" sz="1600" dirty="0"/>
          </a:p>
          <a:p>
            <a:pPr marL="0" lvl="0" indent="0">
              <a:buNone/>
            </a:pPr>
            <a:r>
              <a:rPr lang="en-US" sz="1600" dirty="0"/>
              <a:t>_______________________________________</a:t>
            </a:r>
          </a:p>
          <a:p>
            <a:pPr marL="0" lvl="0" indent="0">
              <a:buNone/>
            </a:pPr>
            <a:r>
              <a:rPr lang="en-IN" sz="1600" b="1" dirty="0"/>
              <a:t>8. Appointments – Billing</a:t>
            </a:r>
            <a:endParaRPr lang="en-US" sz="1600" dirty="0"/>
          </a:p>
          <a:p>
            <a:pPr marL="0" lvl="0" indent="0">
              <a:buNone/>
            </a:pPr>
            <a:r>
              <a:rPr lang="en-IN" sz="1600" b="1" dirty="0"/>
              <a:t>Relationship Name:</a:t>
            </a:r>
            <a:r>
              <a:rPr lang="en-IN" sz="1600" dirty="0"/>
              <a:t> Linked With</a:t>
            </a:r>
            <a:endParaRPr lang="en-US" sz="1600" dirty="0"/>
          </a:p>
          <a:p>
            <a:pPr lvl="0"/>
            <a:r>
              <a:rPr lang="en-IN" sz="1600" b="1" dirty="0"/>
              <a:t>Type:</a:t>
            </a:r>
            <a:r>
              <a:rPr lang="en-IN" sz="1600" dirty="0"/>
              <a:t> One-to-One</a:t>
            </a:r>
            <a:endParaRPr lang="en-US" sz="1600" dirty="0"/>
          </a:p>
          <a:p>
            <a:pPr lvl="0"/>
            <a:r>
              <a:rPr lang="en-IN" sz="1600" b="1" dirty="0"/>
              <a:t>Description:</a:t>
            </a:r>
            <a:r>
              <a:rPr lang="en-IN" sz="1600" dirty="0"/>
              <a:t> Each appointment generates one bill, and each bill corresponds to one appointment.</a:t>
            </a:r>
            <a:endParaRPr lang="en-US" sz="1600" dirty="0"/>
          </a:p>
          <a:p>
            <a:pPr lvl="0"/>
            <a:r>
              <a:rPr lang="en-IN" sz="1600" b="1" dirty="0"/>
              <a:t>Keys:</a:t>
            </a:r>
            <a:r>
              <a:rPr lang="en-IN" sz="1600" dirty="0"/>
              <a:t> </a:t>
            </a:r>
            <a:r>
              <a:rPr lang="en-IN" sz="1600" dirty="0" err="1"/>
              <a:t>Billing.appointment_id</a:t>
            </a:r>
            <a:r>
              <a:rPr lang="en-IN" sz="1600" dirty="0"/>
              <a:t> → </a:t>
            </a:r>
            <a:r>
              <a:rPr lang="en-IN" sz="1600" dirty="0" err="1"/>
              <a:t>Appointments.appointment_id</a:t>
            </a:r>
            <a:endParaRPr lang="en-US" sz="1600" dirty="0"/>
          </a:p>
        </p:txBody>
      </p:sp>
    </p:spTree>
    <p:extLst>
      <p:ext uri="{BB962C8B-B14F-4D97-AF65-F5344CB8AC3E}">
        <p14:creationId xmlns="" xmlns:p14="http://schemas.microsoft.com/office/powerpoint/2010/main" val="129053798"/>
      </p:ext>
    </p:extLst>
  </p:cSld>
  <p:clrMapOvr>
    <a:masterClrMapping/>
  </p:clrMapOvr>
  <p:transition>
    <p:fade thruBlk="1"/>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26B3DD5-8092-F4A6-8B2E-55C7AD13BE9F}"/>
              </a:ext>
            </a:extLst>
          </p:cNvPr>
          <p:cNvSpPr>
            <a:spLocks noGrp="1"/>
          </p:cNvSpPr>
          <p:nvPr>
            <p:ph type="ctrTitle"/>
          </p:nvPr>
        </p:nvSpPr>
        <p:spPr/>
        <p:txBody>
          <a:bodyPr/>
          <a:lstStyle/>
          <a:p>
            <a:r>
              <a:rPr lang="en-IN" dirty="0"/>
              <a:t>ER Diagram</a:t>
            </a:r>
          </a:p>
        </p:txBody>
      </p:sp>
      <p:sp>
        <p:nvSpPr>
          <p:cNvPr id="3" name="Subtitle 2">
            <a:extLst>
              <a:ext uri="{FF2B5EF4-FFF2-40B4-BE49-F238E27FC236}">
                <a16:creationId xmlns="" xmlns:a16="http://schemas.microsoft.com/office/drawing/2014/main" id="{798C5501-5D4E-94F1-8CFF-86560A9BCA9F}"/>
              </a:ext>
            </a:extLst>
          </p:cNvPr>
          <p:cNvSpPr>
            <a:spLocks noGrp="1"/>
          </p:cNvSpPr>
          <p:nvPr>
            <p:ph type="subTitle" idx="1"/>
          </p:nvPr>
        </p:nvSpPr>
        <p:spPr/>
        <p:txBody>
          <a:bodyPr/>
          <a:lstStyle/>
          <a:p>
            <a:endParaRPr lang="en-IN" dirty="0"/>
          </a:p>
        </p:txBody>
      </p:sp>
      <p:pic>
        <p:nvPicPr>
          <p:cNvPr id="5" name="Picture 4">
            <a:extLst>
              <a:ext uri="{FF2B5EF4-FFF2-40B4-BE49-F238E27FC236}">
                <a16:creationId xmlns="" xmlns:a16="http://schemas.microsoft.com/office/drawing/2014/main" id="{A66598B9-0039-BF23-0AA6-980337D8E6F5}"/>
              </a:ext>
            </a:extLst>
          </p:cNvPr>
          <p:cNvPicPr>
            <a:picLocks noChangeAspect="1"/>
          </p:cNvPicPr>
          <p:nvPr/>
        </p:nvPicPr>
        <p:blipFill>
          <a:blip r:embed="rId2"/>
          <a:stretch>
            <a:fillRect/>
          </a:stretch>
        </p:blipFill>
        <p:spPr>
          <a:xfrm>
            <a:off x="457200" y="1149292"/>
            <a:ext cx="8229600" cy="5209564"/>
          </a:xfrm>
          <a:prstGeom prst="rect">
            <a:avLst/>
          </a:prstGeom>
        </p:spPr>
      </p:pic>
    </p:spTree>
    <p:extLst>
      <p:ext uri="{BB962C8B-B14F-4D97-AF65-F5344CB8AC3E}">
        <p14:creationId xmlns="" xmlns:p14="http://schemas.microsoft.com/office/powerpoint/2010/main" val="2367975712"/>
      </p:ext>
    </p:extLst>
  </p:cSld>
  <p:clrMapOvr>
    <a:masterClrMapping/>
  </p:clrMapOvr>
  <p:transition>
    <p:fade thruBlk="1"/>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42CCE3D-6295-87DE-B072-7DCE7C17B03E}"/>
              </a:ext>
            </a:extLst>
          </p:cNvPr>
          <p:cNvSpPr>
            <a:spLocks noGrp="1"/>
          </p:cNvSpPr>
          <p:nvPr>
            <p:ph type="ctrTitle"/>
          </p:nvPr>
        </p:nvSpPr>
        <p:spPr/>
        <p:txBody>
          <a:bodyPr/>
          <a:lstStyle/>
          <a:p>
            <a:r>
              <a:rPr lang="en-IN" dirty="0"/>
              <a:t>Relational Algebra to SQL</a:t>
            </a:r>
          </a:p>
        </p:txBody>
      </p:sp>
      <p:sp>
        <p:nvSpPr>
          <p:cNvPr id="3" name="Subtitle 2">
            <a:extLst>
              <a:ext uri="{FF2B5EF4-FFF2-40B4-BE49-F238E27FC236}">
                <a16:creationId xmlns="" xmlns:a16="http://schemas.microsoft.com/office/drawing/2014/main" id="{2E34DCFA-889C-0F9A-8F68-205B716FFF7B}"/>
              </a:ext>
            </a:extLst>
          </p:cNvPr>
          <p:cNvSpPr>
            <a:spLocks noGrp="1"/>
          </p:cNvSpPr>
          <p:nvPr>
            <p:ph type="subTitle" idx="1"/>
          </p:nvPr>
        </p:nvSpPr>
        <p:spPr/>
        <p:txBody>
          <a:bodyPr/>
          <a:lstStyle/>
          <a:p>
            <a:pPr marL="0" indent="0" algn="l"/>
            <a:r>
              <a:rPr lang="en-US" sz="2000" dirty="0">
                <a:solidFill>
                  <a:schemeClr val="tx1"/>
                </a:solidFill>
              </a:rPr>
              <a:t>1. </a:t>
            </a:r>
            <a:r>
              <a:rPr lang="en-IN" sz="2000" dirty="0">
                <a:solidFill>
                  <a:schemeClr val="tx1"/>
                </a:solidFill>
              </a:rPr>
              <a:t>Get names of patients who booked appointments.</a:t>
            </a:r>
            <a:endParaRPr lang="en-US" sz="2000" dirty="0">
              <a:solidFill>
                <a:schemeClr val="tx1"/>
              </a:solidFill>
            </a:endParaRPr>
          </a:p>
          <a:p>
            <a:pPr marL="0" indent="0" algn="l"/>
            <a:r>
              <a:rPr lang="en-IN" sz="2000" dirty="0">
                <a:solidFill>
                  <a:schemeClr val="tx1"/>
                </a:solidFill>
              </a:rPr>
              <a:t>    RA :- π_name (Patients ⨝ Appointments).</a:t>
            </a:r>
          </a:p>
          <a:p>
            <a:pPr marL="0" indent="0" algn="l"/>
            <a:r>
              <a:rPr lang="en-IN" sz="2000" dirty="0">
                <a:solidFill>
                  <a:schemeClr val="tx1"/>
                </a:solidFill>
              </a:rPr>
              <a:t>    SQL :- </a:t>
            </a:r>
            <a:r>
              <a:rPr lang="en-US" sz="2000" dirty="0">
                <a:solidFill>
                  <a:schemeClr val="tx1"/>
                </a:solidFill>
              </a:rPr>
              <a:t>SELECT DISTINCT </a:t>
            </a:r>
            <a:r>
              <a:rPr lang="en-US" sz="2000" dirty="0" err="1">
                <a:solidFill>
                  <a:schemeClr val="tx1"/>
                </a:solidFill>
              </a:rPr>
              <a:t>p.Name</a:t>
            </a:r>
            <a:r>
              <a:rPr lang="en-US" sz="2000" dirty="0">
                <a:solidFill>
                  <a:schemeClr val="tx1"/>
                </a:solidFill>
              </a:rPr>
              <a:t> </a:t>
            </a:r>
          </a:p>
          <a:p>
            <a:pPr marL="0" indent="0" algn="l"/>
            <a:r>
              <a:rPr lang="en-US" sz="2000" dirty="0">
                <a:solidFill>
                  <a:schemeClr val="tx1"/>
                </a:solidFill>
              </a:rPr>
              <a:t>             FROM Patient p JOIN Appointment a  </a:t>
            </a:r>
          </a:p>
          <a:p>
            <a:pPr marL="0" indent="0" algn="l"/>
            <a:r>
              <a:rPr lang="en-US" sz="2000" dirty="0">
                <a:solidFill>
                  <a:schemeClr val="tx1"/>
                </a:solidFill>
              </a:rPr>
              <a:t>             ON </a:t>
            </a:r>
            <a:r>
              <a:rPr lang="en-US" sz="2000" dirty="0" err="1">
                <a:solidFill>
                  <a:schemeClr val="tx1"/>
                </a:solidFill>
              </a:rPr>
              <a:t>p.patient_id</a:t>
            </a:r>
            <a:r>
              <a:rPr lang="en-US" sz="2000" dirty="0">
                <a:solidFill>
                  <a:schemeClr val="tx1"/>
                </a:solidFill>
              </a:rPr>
              <a:t> = </a:t>
            </a:r>
            <a:r>
              <a:rPr lang="en-US" sz="2000" dirty="0" err="1">
                <a:solidFill>
                  <a:schemeClr val="tx1"/>
                </a:solidFill>
              </a:rPr>
              <a:t>a.patient_iD</a:t>
            </a:r>
            <a:r>
              <a:rPr lang="en-US" sz="2000" dirty="0">
                <a:solidFill>
                  <a:schemeClr val="tx1"/>
                </a:solidFill>
              </a:rPr>
              <a:t>;</a:t>
            </a:r>
          </a:p>
          <a:p>
            <a:pPr marL="0" indent="0" algn="l"/>
            <a:r>
              <a:rPr lang="en-US" sz="2000" dirty="0">
                <a:solidFill>
                  <a:schemeClr val="tx1"/>
                </a:solidFill>
              </a:rPr>
              <a:t>2. </a:t>
            </a:r>
            <a:r>
              <a:rPr lang="en-IN" sz="2000" dirty="0">
                <a:solidFill>
                  <a:schemeClr val="tx1"/>
                </a:solidFill>
              </a:rPr>
              <a:t>List patients with appointment status ‘Complete’.</a:t>
            </a:r>
            <a:endParaRPr lang="en-US" sz="2000" dirty="0">
              <a:solidFill>
                <a:schemeClr val="tx1"/>
              </a:solidFill>
            </a:endParaRPr>
          </a:p>
          <a:p>
            <a:pPr marL="0" indent="0" algn="l"/>
            <a:r>
              <a:rPr lang="en-IN" sz="2000" dirty="0">
                <a:solidFill>
                  <a:schemeClr val="tx1"/>
                </a:solidFill>
              </a:rPr>
              <a:t>   RA :- π_name (</a:t>
            </a:r>
            <a:r>
              <a:rPr lang="en-IN" sz="2000" dirty="0" err="1">
                <a:solidFill>
                  <a:schemeClr val="tx1"/>
                </a:solidFill>
              </a:rPr>
              <a:t>σ_status</a:t>
            </a:r>
            <a:r>
              <a:rPr lang="en-IN" sz="2000" dirty="0">
                <a:solidFill>
                  <a:schemeClr val="tx1"/>
                </a:solidFill>
              </a:rPr>
              <a:t>=‘Complete'(Patients ⨝ Appointments))</a:t>
            </a:r>
          </a:p>
          <a:p>
            <a:pPr marL="0" indent="0" algn="l"/>
            <a:r>
              <a:rPr lang="en-IN" sz="2000" dirty="0">
                <a:solidFill>
                  <a:schemeClr val="tx1"/>
                </a:solidFill>
              </a:rPr>
              <a:t>   SQL :- SELECT DISTINCT </a:t>
            </a:r>
            <a:r>
              <a:rPr lang="en-IN" sz="2000" dirty="0" err="1">
                <a:solidFill>
                  <a:schemeClr val="tx1"/>
                </a:solidFill>
              </a:rPr>
              <a:t>p.Name</a:t>
            </a:r>
            <a:endParaRPr lang="en-IN" sz="2000" dirty="0">
              <a:solidFill>
                <a:schemeClr val="tx1"/>
              </a:solidFill>
            </a:endParaRPr>
          </a:p>
          <a:p>
            <a:pPr marL="0" indent="0" algn="l"/>
            <a:r>
              <a:rPr lang="en-IN" sz="2000" dirty="0">
                <a:solidFill>
                  <a:schemeClr val="tx1"/>
                </a:solidFill>
              </a:rPr>
              <a:t>             FROM Patient p JOIN Appointment a</a:t>
            </a:r>
          </a:p>
          <a:p>
            <a:pPr marL="0" indent="0" algn="l"/>
            <a:r>
              <a:rPr lang="en-IN" sz="2000" dirty="0">
                <a:solidFill>
                  <a:schemeClr val="tx1"/>
                </a:solidFill>
              </a:rPr>
              <a:t>             ON </a:t>
            </a:r>
            <a:r>
              <a:rPr lang="en-IN" sz="2000" dirty="0" err="1">
                <a:solidFill>
                  <a:schemeClr val="tx1"/>
                </a:solidFill>
              </a:rPr>
              <a:t>p.patient_id</a:t>
            </a:r>
            <a:r>
              <a:rPr lang="en-IN" sz="2000" dirty="0">
                <a:solidFill>
                  <a:schemeClr val="tx1"/>
                </a:solidFill>
              </a:rPr>
              <a:t> = </a:t>
            </a:r>
            <a:r>
              <a:rPr lang="en-IN" sz="2000" dirty="0" err="1">
                <a:solidFill>
                  <a:schemeClr val="tx1"/>
                </a:solidFill>
              </a:rPr>
              <a:t>a.patient_id</a:t>
            </a:r>
            <a:r>
              <a:rPr lang="en-IN" sz="2000" dirty="0">
                <a:solidFill>
                  <a:schemeClr val="tx1"/>
                </a:solidFill>
              </a:rPr>
              <a:t> WHERE </a:t>
            </a:r>
            <a:r>
              <a:rPr lang="en-IN" sz="2000" dirty="0" err="1">
                <a:solidFill>
                  <a:schemeClr val="tx1"/>
                </a:solidFill>
              </a:rPr>
              <a:t>a.Status</a:t>
            </a:r>
            <a:r>
              <a:rPr lang="en-IN" sz="2000" dirty="0">
                <a:solidFill>
                  <a:schemeClr val="tx1"/>
                </a:solidFill>
              </a:rPr>
              <a:t> = 'Completed';</a:t>
            </a:r>
            <a:endParaRPr lang="en-US" sz="2000" dirty="0">
              <a:solidFill>
                <a:schemeClr val="tx1"/>
              </a:solidFill>
            </a:endParaRPr>
          </a:p>
          <a:p>
            <a:pPr marL="0" indent="0" algn="l"/>
            <a:endParaRPr lang="en-IN" sz="2000" dirty="0">
              <a:solidFill>
                <a:schemeClr val="tx1"/>
              </a:solidFill>
            </a:endParaRPr>
          </a:p>
          <a:p>
            <a:pPr algn="l"/>
            <a:endParaRPr lang="en-US" sz="2000" dirty="0">
              <a:solidFill>
                <a:schemeClr val="tx1"/>
              </a:solidFill>
            </a:endParaRPr>
          </a:p>
          <a:p>
            <a:pPr algn="l"/>
            <a:endParaRPr lang="en-IN" sz="2000" dirty="0">
              <a:solidFill>
                <a:schemeClr val="tx1"/>
              </a:solidFill>
            </a:endParaRPr>
          </a:p>
        </p:txBody>
      </p:sp>
    </p:spTree>
    <p:extLst>
      <p:ext uri="{BB962C8B-B14F-4D97-AF65-F5344CB8AC3E}">
        <p14:creationId xmlns="" xmlns:p14="http://schemas.microsoft.com/office/powerpoint/2010/main" val="2680062183"/>
      </p:ext>
    </p:extLst>
  </p:cSld>
  <p:clrMapOvr>
    <a:masterClrMapping/>
  </p:clrMapOvr>
  <p:transition>
    <p:fade thruBlk="1"/>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A304060-77D2-4C41-A195-02AD23FE1A70}"/>
              </a:ext>
            </a:extLst>
          </p:cNvPr>
          <p:cNvSpPr>
            <a:spLocks noGrp="1"/>
          </p:cNvSpPr>
          <p:nvPr>
            <p:ph type="ctrTitle"/>
          </p:nvPr>
        </p:nvSpPr>
        <p:spPr/>
        <p:txBody>
          <a:bodyPr/>
          <a:lstStyle/>
          <a:p>
            <a:r>
              <a:rPr lang="en-IN" dirty="0"/>
              <a:t>Relational Algebra to SQL</a:t>
            </a:r>
          </a:p>
        </p:txBody>
      </p:sp>
      <p:sp>
        <p:nvSpPr>
          <p:cNvPr id="3" name="Subtitle 2">
            <a:extLst>
              <a:ext uri="{FF2B5EF4-FFF2-40B4-BE49-F238E27FC236}">
                <a16:creationId xmlns="" xmlns:a16="http://schemas.microsoft.com/office/drawing/2014/main" id="{B058026C-9FD7-17A2-8231-9F738602C82C}"/>
              </a:ext>
            </a:extLst>
          </p:cNvPr>
          <p:cNvSpPr>
            <a:spLocks noGrp="1"/>
          </p:cNvSpPr>
          <p:nvPr>
            <p:ph type="subTitle" idx="1"/>
          </p:nvPr>
        </p:nvSpPr>
        <p:spPr>
          <a:xfrm>
            <a:off x="441960" y="1264920"/>
            <a:ext cx="8244840" cy="4831080"/>
          </a:xfrm>
        </p:spPr>
        <p:txBody>
          <a:bodyPr/>
          <a:lstStyle/>
          <a:p>
            <a:pPr algn="l"/>
            <a:r>
              <a:rPr lang="en-US" sz="2000" dirty="0">
                <a:solidFill>
                  <a:schemeClr val="tx1"/>
                </a:solidFill>
              </a:rPr>
              <a:t>3. </a:t>
            </a:r>
            <a:r>
              <a:rPr lang="en-IN" sz="2000" dirty="0">
                <a:solidFill>
                  <a:schemeClr val="tx1"/>
                </a:solidFill>
              </a:rPr>
              <a:t>List doctors with specialization ‘Cardiology’.</a:t>
            </a:r>
          </a:p>
          <a:p>
            <a:pPr algn="l"/>
            <a:endParaRPr lang="en-US" sz="2000" dirty="0">
              <a:solidFill>
                <a:schemeClr val="tx1"/>
              </a:solidFill>
            </a:endParaRPr>
          </a:p>
          <a:p>
            <a:pPr algn="l"/>
            <a:r>
              <a:rPr lang="en-IN" sz="2000" dirty="0">
                <a:solidFill>
                  <a:schemeClr val="tx1"/>
                </a:solidFill>
              </a:rPr>
              <a:t>       RA :-  π_name(</a:t>
            </a:r>
            <a:r>
              <a:rPr lang="en-IN" sz="2000" dirty="0" err="1">
                <a:solidFill>
                  <a:schemeClr val="tx1"/>
                </a:solidFill>
              </a:rPr>
              <a:t>σ_specialization</a:t>
            </a:r>
            <a:r>
              <a:rPr lang="en-IN" sz="2000" dirty="0">
                <a:solidFill>
                  <a:schemeClr val="tx1"/>
                </a:solidFill>
              </a:rPr>
              <a:t>='Cardiology'(Doctors))</a:t>
            </a:r>
          </a:p>
          <a:p>
            <a:pPr algn="l"/>
            <a:r>
              <a:rPr lang="en-IN" sz="2000" dirty="0">
                <a:solidFill>
                  <a:schemeClr val="tx1"/>
                </a:solidFill>
              </a:rPr>
              <a:t>       SQL  :-  </a:t>
            </a:r>
            <a:r>
              <a:rPr lang="en-US" sz="2000" dirty="0">
                <a:solidFill>
                  <a:schemeClr val="tx1"/>
                </a:solidFill>
              </a:rPr>
              <a:t> SELECT </a:t>
            </a:r>
            <a:r>
              <a:rPr lang="en-US" sz="2000" dirty="0" err="1">
                <a:solidFill>
                  <a:schemeClr val="tx1"/>
                </a:solidFill>
              </a:rPr>
              <a:t>doct_name</a:t>
            </a:r>
            <a:r>
              <a:rPr lang="en-US" sz="2000" dirty="0">
                <a:solidFill>
                  <a:schemeClr val="tx1"/>
                </a:solidFill>
              </a:rPr>
              <a:t> FROM </a:t>
            </a:r>
            <a:r>
              <a:rPr lang="en-US" sz="2000" dirty="0" err="1">
                <a:solidFill>
                  <a:schemeClr val="tx1"/>
                </a:solidFill>
              </a:rPr>
              <a:t>Docto</a:t>
            </a:r>
            <a:r>
              <a:rPr lang="en-US" sz="2000" dirty="0">
                <a:solidFill>
                  <a:schemeClr val="tx1"/>
                </a:solidFill>
              </a:rPr>
              <a:t> </a:t>
            </a:r>
            <a:r>
              <a:rPr lang="en-US" sz="2000" dirty="0" err="1">
                <a:solidFill>
                  <a:schemeClr val="tx1"/>
                </a:solidFill>
              </a:rPr>
              <a:t>rWHERE</a:t>
            </a:r>
            <a:endParaRPr lang="en-US" sz="2000" dirty="0">
              <a:solidFill>
                <a:schemeClr val="tx1"/>
              </a:solidFill>
            </a:endParaRPr>
          </a:p>
          <a:p>
            <a:pPr algn="l"/>
            <a:r>
              <a:rPr lang="en-US" sz="2000" dirty="0">
                <a:solidFill>
                  <a:schemeClr val="tx1"/>
                </a:solidFill>
              </a:rPr>
              <a:t>                      specialization =  'Cardiologist';</a:t>
            </a:r>
          </a:p>
          <a:p>
            <a:pPr algn="l"/>
            <a:endParaRPr lang="en-US" sz="2000" dirty="0">
              <a:solidFill>
                <a:schemeClr val="tx1"/>
              </a:solidFill>
            </a:endParaRPr>
          </a:p>
          <a:p>
            <a:pPr indent="-457200" algn="l"/>
            <a:r>
              <a:rPr lang="en-IN" sz="2000" dirty="0">
                <a:solidFill>
                  <a:schemeClr val="tx1"/>
                </a:solidFill>
              </a:rPr>
              <a:t>   4. List doctors working in the ‘Neurology’ department.</a:t>
            </a:r>
          </a:p>
          <a:p>
            <a:pPr indent="-457200" algn="l"/>
            <a:endParaRPr lang="en-US" sz="2000" dirty="0">
              <a:solidFill>
                <a:schemeClr val="tx1"/>
              </a:solidFill>
            </a:endParaRPr>
          </a:p>
          <a:p>
            <a:pPr algn="l"/>
            <a:r>
              <a:rPr lang="en-IN" sz="2000" dirty="0">
                <a:solidFill>
                  <a:schemeClr val="tx1"/>
                </a:solidFill>
              </a:rPr>
              <a:t>       RA :-  π_name(</a:t>
            </a:r>
            <a:r>
              <a:rPr lang="en-IN" sz="2000" dirty="0" err="1">
                <a:solidFill>
                  <a:schemeClr val="tx1"/>
                </a:solidFill>
              </a:rPr>
              <a:t>σ_name</a:t>
            </a:r>
            <a:r>
              <a:rPr lang="en-IN" sz="2000" dirty="0">
                <a:solidFill>
                  <a:schemeClr val="tx1"/>
                </a:solidFill>
              </a:rPr>
              <a:t>='Neurology'(Departments ⨝ Doctors))</a:t>
            </a:r>
          </a:p>
          <a:p>
            <a:pPr algn="l"/>
            <a:r>
              <a:rPr lang="en-IN" sz="2000" dirty="0">
                <a:solidFill>
                  <a:schemeClr val="tx1"/>
                </a:solidFill>
              </a:rPr>
              <a:t>       SQL :- SELECT DISTINCT  </a:t>
            </a:r>
            <a:r>
              <a:rPr lang="en-IN" sz="2000" dirty="0" err="1">
                <a:solidFill>
                  <a:schemeClr val="tx1"/>
                </a:solidFill>
              </a:rPr>
              <a:t>d.doct_name</a:t>
            </a:r>
            <a:r>
              <a:rPr lang="en-IN" sz="2000" dirty="0">
                <a:solidFill>
                  <a:schemeClr val="tx1"/>
                </a:solidFill>
              </a:rPr>
              <a:t> </a:t>
            </a:r>
          </a:p>
          <a:p>
            <a:pPr algn="l"/>
            <a:r>
              <a:rPr lang="en-IN" sz="2000" dirty="0">
                <a:solidFill>
                  <a:schemeClr val="tx1"/>
                </a:solidFill>
              </a:rPr>
              <a:t>                   FROM Doctor d JOIN Department dept ON  </a:t>
            </a:r>
          </a:p>
          <a:p>
            <a:pPr algn="l"/>
            <a:r>
              <a:rPr lang="en-IN" sz="2000" dirty="0">
                <a:solidFill>
                  <a:schemeClr val="tx1"/>
                </a:solidFill>
              </a:rPr>
              <a:t>                   </a:t>
            </a:r>
            <a:r>
              <a:rPr lang="en-IN" sz="2000" dirty="0" err="1">
                <a:solidFill>
                  <a:schemeClr val="tx1"/>
                </a:solidFill>
              </a:rPr>
              <a:t>d.dept_id</a:t>
            </a:r>
            <a:r>
              <a:rPr lang="en-IN" sz="2000" dirty="0">
                <a:solidFill>
                  <a:schemeClr val="tx1"/>
                </a:solidFill>
              </a:rPr>
              <a:t> = </a:t>
            </a:r>
            <a:r>
              <a:rPr lang="en-IN" sz="2000" dirty="0" err="1">
                <a:solidFill>
                  <a:schemeClr val="tx1"/>
                </a:solidFill>
              </a:rPr>
              <a:t>dept.dept_id</a:t>
            </a:r>
            <a:r>
              <a:rPr lang="en-IN" sz="2000" dirty="0">
                <a:solidFill>
                  <a:schemeClr val="tx1"/>
                </a:solidFill>
              </a:rPr>
              <a:t>  </a:t>
            </a:r>
          </a:p>
          <a:p>
            <a:pPr algn="l"/>
            <a:r>
              <a:rPr lang="en-IN" sz="2000" dirty="0">
                <a:solidFill>
                  <a:schemeClr val="tx1"/>
                </a:solidFill>
              </a:rPr>
              <a:t>                   WHERE </a:t>
            </a:r>
            <a:r>
              <a:rPr lang="en-IN" sz="2000" dirty="0" err="1">
                <a:solidFill>
                  <a:schemeClr val="tx1"/>
                </a:solidFill>
              </a:rPr>
              <a:t>dept.dept_name</a:t>
            </a:r>
            <a:r>
              <a:rPr lang="en-IN" sz="2000" dirty="0">
                <a:solidFill>
                  <a:schemeClr val="tx1"/>
                </a:solidFill>
              </a:rPr>
              <a:t> = 'neurology'; </a:t>
            </a:r>
            <a:endParaRPr lang="en-US" sz="20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IN" sz="1600" dirty="0">
              <a:solidFill>
                <a:schemeClr val="tx1"/>
              </a:solidFill>
            </a:endParaRPr>
          </a:p>
        </p:txBody>
      </p:sp>
    </p:spTree>
    <p:extLst>
      <p:ext uri="{BB962C8B-B14F-4D97-AF65-F5344CB8AC3E}">
        <p14:creationId xmlns="" xmlns:p14="http://schemas.microsoft.com/office/powerpoint/2010/main" val="1163058610"/>
      </p:ext>
    </p:extLst>
  </p:cSld>
  <p:clrMapOvr>
    <a:masterClrMapping/>
  </p:clrMapOvr>
  <p:transition>
    <p:fade thruBlk="1"/>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ECFE551-A237-B1D3-3B75-959CA1949871}"/>
              </a:ext>
            </a:extLst>
          </p:cNvPr>
          <p:cNvSpPr>
            <a:spLocks noGrp="1"/>
          </p:cNvSpPr>
          <p:nvPr>
            <p:ph type="ctrTitle"/>
          </p:nvPr>
        </p:nvSpPr>
        <p:spPr/>
        <p:txBody>
          <a:bodyPr/>
          <a:lstStyle/>
          <a:p>
            <a:r>
              <a:rPr lang="en-IN" dirty="0"/>
              <a:t>Relational Algebra to SQL</a:t>
            </a:r>
          </a:p>
        </p:txBody>
      </p:sp>
      <p:sp>
        <p:nvSpPr>
          <p:cNvPr id="3" name="Subtitle 2">
            <a:extLst>
              <a:ext uri="{FF2B5EF4-FFF2-40B4-BE49-F238E27FC236}">
                <a16:creationId xmlns="" xmlns:a16="http://schemas.microsoft.com/office/drawing/2014/main" id="{C721B44F-F6AD-63C1-53CB-94FADE4B07F7}"/>
              </a:ext>
            </a:extLst>
          </p:cNvPr>
          <p:cNvSpPr>
            <a:spLocks noGrp="1"/>
          </p:cNvSpPr>
          <p:nvPr>
            <p:ph type="subTitle" idx="1"/>
          </p:nvPr>
        </p:nvSpPr>
        <p:spPr/>
        <p:txBody>
          <a:bodyPr/>
          <a:lstStyle/>
          <a:p>
            <a:pPr algn="l"/>
            <a:r>
              <a:rPr lang="en-IN" sz="2000" dirty="0">
                <a:solidFill>
                  <a:schemeClr val="tx1"/>
                </a:solidFill>
              </a:rPr>
              <a:t>5. Get department names with their head of department.</a:t>
            </a:r>
            <a:r>
              <a:rPr lang="en-US" sz="2000" dirty="0">
                <a:solidFill>
                  <a:schemeClr val="tx1"/>
                </a:solidFill>
              </a:rPr>
              <a:t/>
            </a:r>
            <a:br>
              <a:rPr lang="en-US" sz="2000" dirty="0">
                <a:solidFill>
                  <a:schemeClr val="tx1"/>
                </a:solidFill>
              </a:rPr>
            </a:br>
            <a:r>
              <a:rPr lang="en-US" sz="2000" dirty="0">
                <a:solidFill>
                  <a:schemeClr val="tx1"/>
                </a:solidFill>
              </a:rPr>
              <a:t>             RA :- </a:t>
            </a:r>
            <a:r>
              <a:rPr lang="en-IN" sz="2000" dirty="0">
                <a:solidFill>
                  <a:schemeClr val="tx1"/>
                </a:solidFill>
              </a:rPr>
              <a:t>π_name, </a:t>
            </a:r>
            <a:r>
              <a:rPr lang="en-IN" sz="2000" dirty="0" err="1">
                <a:solidFill>
                  <a:schemeClr val="tx1"/>
                </a:solidFill>
              </a:rPr>
              <a:t>head_of_dept</a:t>
            </a:r>
            <a:r>
              <a:rPr lang="en-IN" sz="2000" dirty="0">
                <a:solidFill>
                  <a:schemeClr val="tx1"/>
                </a:solidFill>
              </a:rPr>
              <a:t> (Departments)</a:t>
            </a:r>
            <a:br>
              <a:rPr lang="en-IN" sz="2000" dirty="0">
                <a:solidFill>
                  <a:schemeClr val="tx1"/>
                </a:solidFill>
              </a:rPr>
            </a:br>
            <a:r>
              <a:rPr lang="en-IN" sz="2000" dirty="0">
                <a:solidFill>
                  <a:schemeClr val="tx1"/>
                </a:solidFill>
              </a:rPr>
              <a:t>              SQL :- SELECT </a:t>
            </a:r>
            <a:r>
              <a:rPr lang="en-IN" sz="2000" dirty="0" err="1">
                <a:solidFill>
                  <a:schemeClr val="tx1"/>
                </a:solidFill>
              </a:rPr>
              <a:t>dept_name</a:t>
            </a:r>
            <a:r>
              <a:rPr lang="en-IN" sz="2000" dirty="0">
                <a:solidFill>
                  <a:schemeClr val="tx1"/>
                </a:solidFill>
              </a:rPr>
              <a:t>,</a:t>
            </a:r>
          </a:p>
          <a:p>
            <a:pPr algn="l"/>
            <a:r>
              <a:rPr lang="en-IN" sz="2000" dirty="0">
                <a:solidFill>
                  <a:schemeClr val="tx1"/>
                </a:solidFill>
              </a:rPr>
              <a:t>                        </a:t>
            </a:r>
            <a:r>
              <a:rPr lang="en-IN" sz="2000" dirty="0" err="1">
                <a:solidFill>
                  <a:schemeClr val="tx1"/>
                </a:solidFill>
              </a:rPr>
              <a:t>head_dept</a:t>
            </a:r>
            <a:r>
              <a:rPr lang="en-IN" sz="2000" dirty="0">
                <a:solidFill>
                  <a:schemeClr val="tx1"/>
                </a:solidFill>
              </a:rPr>
              <a:t>  FROM Department;</a:t>
            </a:r>
          </a:p>
          <a:p>
            <a:pPr algn="l"/>
            <a:endParaRPr lang="en-IN" sz="2000" dirty="0">
              <a:solidFill>
                <a:schemeClr val="tx1"/>
              </a:solidFill>
            </a:endParaRPr>
          </a:p>
          <a:p>
            <a:pPr algn="l"/>
            <a:r>
              <a:rPr lang="en-IN" sz="2000" dirty="0">
                <a:solidFill>
                  <a:schemeClr val="tx1"/>
                </a:solidFill>
              </a:rPr>
              <a:t>6. Get departments with more than 1 doctors.</a:t>
            </a:r>
            <a:endParaRPr lang="en-US" sz="2000" dirty="0">
              <a:solidFill>
                <a:schemeClr val="tx1"/>
              </a:solidFill>
            </a:endParaRPr>
          </a:p>
          <a:p>
            <a:pPr algn="l"/>
            <a:r>
              <a:rPr lang="en-IN" sz="2000" dirty="0">
                <a:solidFill>
                  <a:schemeClr val="tx1"/>
                </a:solidFill>
              </a:rPr>
              <a:t>              RA :- π_name(</a:t>
            </a:r>
            <a:r>
              <a:rPr lang="en-IN" sz="2000" dirty="0" err="1">
                <a:solidFill>
                  <a:schemeClr val="tx1"/>
                </a:solidFill>
              </a:rPr>
              <a:t>σ_count</a:t>
            </a:r>
            <a:r>
              <a:rPr lang="en-IN" sz="2000" dirty="0">
                <a:solidFill>
                  <a:schemeClr val="tx1"/>
                </a:solidFill>
              </a:rPr>
              <a:t>&gt;1Departments ⨝ Doctors))</a:t>
            </a:r>
          </a:p>
          <a:p>
            <a:pPr algn="l"/>
            <a:r>
              <a:rPr lang="en-IN" sz="2000" dirty="0">
                <a:solidFill>
                  <a:schemeClr val="tx1"/>
                </a:solidFill>
              </a:rPr>
              <a:t>               SQL :- SELECT </a:t>
            </a:r>
            <a:r>
              <a:rPr lang="en-IN" sz="2000" dirty="0" err="1">
                <a:solidFill>
                  <a:schemeClr val="tx1"/>
                </a:solidFill>
              </a:rPr>
              <a:t>dept.dept_name</a:t>
            </a:r>
            <a:r>
              <a:rPr lang="en-IN" sz="2000" dirty="0">
                <a:solidFill>
                  <a:schemeClr val="tx1"/>
                </a:solidFill>
              </a:rPr>
              <a:t> </a:t>
            </a:r>
          </a:p>
          <a:p>
            <a:pPr algn="l"/>
            <a:r>
              <a:rPr lang="en-IN" sz="2000" dirty="0">
                <a:solidFill>
                  <a:schemeClr val="tx1"/>
                </a:solidFill>
              </a:rPr>
              <a:t>                           FROM Department dept </a:t>
            </a:r>
          </a:p>
          <a:p>
            <a:pPr algn="l"/>
            <a:r>
              <a:rPr lang="en-IN" sz="2000" dirty="0">
                <a:solidFill>
                  <a:schemeClr val="tx1"/>
                </a:solidFill>
              </a:rPr>
              <a:t>                           JOIN Doctor d   </a:t>
            </a:r>
          </a:p>
          <a:p>
            <a:pPr algn="l"/>
            <a:r>
              <a:rPr lang="en-IN" sz="2000" dirty="0">
                <a:solidFill>
                  <a:schemeClr val="tx1"/>
                </a:solidFill>
              </a:rPr>
              <a:t>                           ON </a:t>
            </a:r>
            <a:r>
              <a:rPr lang="en-IN" sz="2000" dirty="0" err="1">
                <a:solidFill>
                  <a:schemeClr val="tx1"/>
                </a:solidFill>
              </a:rPr>
              <a:t>dept.dept_id</a:t>
            </a:r>
            <a:r>
              <a:rPr lang="en-IN" sz="2000" dirty="0">
                <a:solidFill>
                  <a:schemeClr val="tx1"/>
                </a:solidFill>
              </a:rPr>
              <a:t> = </a:t>
            </a:r>
            <a:r>
              <a:rPr lang="en-IN" sz="2000" dirty="0" err="1">
                <a:solidFill>
                  <a:schemeClr val="tx1"/>
                </a:solidFill>
              </a:rPr>
              <a:t>d.dept_id</a:t>
            </a:r>
            <a:endParaRPr lang="en-IN" sz="2000" dirty="0">
              <a:solidFill>
                <a:schemeClr val="tx1"/>
              </a:solidFill>
            </a:endParaRPr>
          </a:p>
          <a:p>
            <a:pPr algn="l"/>
            <a:r>
              <a:rPr lang="en-IN" sz="2000" dirty="0">
                <a:solidFill>
                  <a:schemeClr val="tx1"/>
                </a:solidFill>
              </a:rPr>
              <a:t>                           GROUP BY </a:t>
            </a:r>
            <a:r>
              <a:rPr lang="en-IN" sz="2000" dirty="0" err="1">
                <a:solidFill>
                  <a:schemeClr val="tx1"/>
                </a:solidFill>
              </a:rPr>
              <a:t>dept.dept_id</a:t>
            </a:r>
            <a:r>
              <a:rPr lang="en-IN" sz="2000" dirty="0">
                <a:solidFill>
                  <a:schemeClr val="tx1"/>
                </a:solidFill>
              </a:rPr>
              <a:t>, </a:t>
            </a:r>
            <a:r>
              <a:rPr lang="en-IN" sz="2000" dirty="0" err="1">
                <a:solidFill>
                  <a:schemeClr val="tx1"/>
                </a:solidFill>
              </a:rPr>
              <a:t>dept.dept_name</a:t>
            </a:r>
            <a:endParaRPr lang="en-IN" sz="2000" dirty="0">
              <a:solidFill>
                <a:schemeClr val="tx1"/>
              </a:solidFill>
            </a:endParaRPr>
          </a:p>
          <a:p>
            <a:pPr algn="l"/>
            <a:r>
              <a:rPr lang="en-IN" sz="2000" dirty="0">
                <a:solidFill>
                  <a:schemeClr val="tx1"/>
                </a:solidFill>
              </a:rPr>
              <a:t>                            HAVING COUNT(</a:t>
            </a:r>
            <a:r>
              <a:rPr lang="en-IN" sz="2000" dirty="0" err="1">
                <a:solidFill>
                  <a:schemeClr val="tx1"/>
                </a:solidFill>
              </a:rPr>
              <a:t>d.doctor_id</a:t>
            </a:r>
            <a:r>
              <a:rPr lang="en-IN" sz="2000" dirty="0">
                <a:solidFill>
                  <a:schemeClr val="tx1"/>
                </a:solidFill>
              </a:rPr>
              <a:t>) &gt; 1;</a:t>
            </a:r>
            <a:endParaRPr lang="en-US" sz="2000" dirty="0">
              <a:solidFill>
                <a:schemeClr val="tx1"/>
              </a:solidFill>
            </a:endParaRPr>
          </a:p>
          <a:p>
            <a:pPr algn="l"/>
            <a:r>
              <a:rPr lang="en-IN" sz="1800" dirty="0">
                <a:solidFill>
                  <a:schemeClr val="tx1"/>
                </a:solidFill>
              </a:rPr>
              <a:t> </a:t>
            </a:r>
            <a:endParaRPr lang="en-US" sz="1800" dirty="0">
              <a:solidFill>
                <a:schemeClr val="tx1"/>
              </a:solidFill>
            </a:endParaRPr>
          </a:p>
          <a:p>
            <a:pPr algn="l"/>
            <a:endParaRPr lang="en-US" sz="1800" dirty="0">
              <a:solidFill>
                <a:schemeClr val="tx1"/>
              </a:solidFill>
            </a:endParaRPr>
          </a:p>
          <a:p>
            <a:pPr algn="l"/>
            <a:endParaRPr lang="en-US" sz="1800" dirty="0">
              <a:solidFill>
                <a:schemeClr val="tx1"/>
              </a:solidFill>
            </a:endParaRPr>
          </a:p>
          <a:p>
            <a:pPr algn="l"/>
            <a:endParaRPr lang="en-US" sz="1800" dirty="0">
              <a:solidFill>
                <a:schemeClr val="tx1"/>
              </a:solidFill>
            </a:endParaRPr>
          </a:p>
          <a:p>
            <a:pPr algn="l"/>
            <a:endParaRPr lang="en-US" sz="1800" dirty="0">
              <a:solidFill>
                <a:schemeClr val="tx1"/>
              </a:solidFill>
            </a:endParaRPr>
          </a:p>
          <a:p>
            <a:pPr algn="l"/>
            <a:endParaRPr lang="en-US" sz="1800" dirty="0">
              <a:solidFill>
                <a:schemeClr val="tx1"/>
              </a:solidFill>
            </a:endParaRPr>
          </a:p>
          <a:p>
            <a:pPr algn="l"/>
            <a:endParaRPr lang="en-US" sz="1800" dirty="0">
              <a:solidFill>
                <a:schemeClr val="tx1"/>
              </a:solidFill>
            </a:endParaRPr>
          </a:p>
          <a:p>
            <a:pPr algn="l"/>
            <a:endParaRPr lang="en-US" sz="1800" dirty="0">
              <a:solidFill>
                <a:schemeClr val="tx1"/>
              </a:solidFill>
            </a:endParaRPr>
          </a:p>
          <a:p>
            <a:pPr algn="l"/>
            <a:endParaRPr lang="en-US" sz="1800" dirty="0">
              <a:solidFill>
                <a:schemeClr val="tx1"/>
              </a:solidFill>
            </a:endParaRPr>
          </a:p>
          <a:p>
            <a:pPr algn="l"/>
            <a:endParaRPr lang="en-US" sz="1800" dirty="0">
              <a:solidFill>
                <a:schemeClr val="tx1"/>
              </a:solidFill>
            </a:endParaRPr>
          </a:p>
          <a:p>
            <a:pPr algn="l"/>
            <a:endParaRPr lang="en-US" sz="1800" dirty="0">
              <a:solidFill>
                <a:schemeClr val="tx1"/>
              </a:solidFill>
            </a:endParaRPr>
          </a:p>
          <a:p>
            <a:pPr algn="l"/>
            <a:endParaRPr lang="en-US" sz="1800" dirty="0">
              <a:solidFill>
                <a:schemeClr val="tx1"/>
              </a:solidFill>
            </a:endParaRPr>
          </a:p>
          <a:p>
            <a:pPr algn="l"/>
            <a:endParaRPr lang="en-US" sz="1800" dirty="0">
              <a:solidFill>
                <a:schemeClr val="tx1"/>
              </a:solidFill>
            </a:endParaRPr>
          </a:p>
          <a:p>
            <a:pPr algn="l"/>
            <a:endParaRPr lang="en-US" sz="1800" dirty="0">
              <a:solidFill>
                <a:schemeClr val="tx1"/>
              </a:solidFill>
            </a:endParaRPr>
          </a:p>
          <a:p>
            <a:pPr algn="l"/>
            <a:endParaRPr lang="en-US" sz="1800" dirty="0">
              <a:solidFill>
                <a:schemeClr val="tx1"/>
              </a:solidFill>
            </a:endParaRPr>
          </a:p>
          <a:p>
            <a:pPr algn="l"/>
            <a:endParaRPr lang="en-US" sz="1800" dirty="0">
              <a:solidFill>
                <a:schemeClr val="tx1"/>
              </a:solidFill>
            </a:endParaRPr>
          </a:p>
          <a:p>
            <a:pPr algn="l"/>
            <a:endParaRPr lang="en-US" sz="1800" dirty="0">
              <a:solidFill>
                <a:schemeClr val="tx1"/>
              </a:solidFill>
            </a:endParaRPr>
          </a:p>
          <a:p>
            <a:pPr algn="l"/>
            <a:endParaRPr lang="en-US" sz="1800" dirty="0">
              <a:solidFill>
                <a:schemeClr val="tx1"/>
              </a:solidFill>
            </a:endParaRPr>
          </a:p>
          <a:p>
            <a:pPr algn="l"/>
            <a:endParaRPr lang="en-US" sz="1800" dirty="0">
              <a:solidFill>
                <a:schemeClr val="tx1"/>
              </a:solidFill>
            </a:endParaRPr>
          </a:p>
          <a:p>
            <a:pPr algn="l"/>
            <a:endParaRPr lang="en-US" sz="1800" dirty="0">
              <a:solidFill>
                <a:schemeClr val="tx1"/>
              </a:solidFill>
            </a:endParaRPr>
          </a:p>
          <a:p>
            <a:pPr algn="l"/>
            <a:endParaRPr lang="en-US" sz="1800" dirty="0">
              <a:solidFill>
                <a:schemeClr val="tx1"/>
              </a:solidFill>
            </a:endParaRPr>
          </a:p>
          <a:p>
            <a:pPr algn="l"/>
            <a:endParaRPr lang="en-US" sz="1800" dirty="0">
              <a:solidFill>
                <a:schemeClr val="tx1"/>
              </a:solidFill>
            </a:endParaRPr>
          </a:p>
          <a:p>
            <a:pPr algn="l"/>
            <a:endParaRPr lang="en-IN" sz="1800" dirty="0">
              <a:solidFill>
                <a:schemeClr val="tx1"/>
              </a:solidFill>
            </a:endParaRPr>
          </a:p>
        </p:txBody>
      </p:sp>
    </p:spTree>
    <p:extLst>
      <p:ext uri="{BB962C8B-B14F-4D97-AF65-F5344CB8AC3E}">
        <p14:creationId xmlns="" xmlns:p14="http://schemas.microsoft.com/office/powerpoint/2010/main" val="3404496432"/>
      </p:ext>
    </p:extLst>
  </p:cSld>
  <p:clrMapOvr>
    <a:masterClrMapping/>
  </p:clrMapOvr>
  <p:transition>
    <p:fade thruBlk="1"/>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F64D4A4-BA93-2A95-FC13-51BCFAEBB753}"/>
              </a:ext>
            </a:extLst>
          </p:cNvPr>
          <p:cNvSpPr>
            <a:spLocks noGrp="1"/>
          </p:cNvSpPr>
          <p:nvPr>
            <p:ph type="ctrTitle"/>
          </p:nvPr>
        </p:nvSpPr>
        <p:spPr/>
        <p:txBody>
          <a:bodyPr/>
          <a:lstStyle/>
          <a:p>
            <a:r>
              <a:rPr lang="en-IN" dirty="0"/>
              <a:t>Relational Algebra to SQL</a:t>
            </a:r>
          </a:p>
        </p:txBody>
      </p:sp>
      <p:sp>
        <p:nvSpPr>
          <p:cNvPr id="3" name="Subtitle 2">
            <a:extLst>
              <a:ext uri="{FF2B5EF4-FFF2-40B4-BE49-F238E27FC236}">
                <a16:creationId xmlns="" xmlns:a16="http://schemas.microsoft.com/office/drawing/2014/main" id="{55722829-59F6-6C82-AF45-BA2C7BE3AF69}"/>
              </a:ext>
            </a:extLst>
          </p:cNvPr>
          <p:cNvSpPr>
            <a:spLocks noGrp="1"/>
          </p:cNvSpPr>
          <p:nvPr>
            <p:ph type="subTitle" idx="1"/>
          </p:nvPr>
        </p:nvSpPr>
        <p:spPr>
          <a:xfrm>
            <a:off x="487680" y="1158240"/>
            <a:ext cx="8199120" cy="4937760"/>
          </a:xfrm>
        </p:spPr>
        <p:txBody>
          <a:bodyPr/>
          <a:lstStyle/>
          <a:p>
            <a:pPr algn="l"/>
            <a:r>
              <a:rPr lang="en-US" sz="2000" dirty="0">
                <a:solidFill>
                  <a:schemeClr val="tx1"/>
                </a:solidFill>
              </a:rPr>
              <a:t>7. Find names of patients and their allocated room IDs.</a:t>
            </a:r>
          </a:p>
          <a:p>
            <a:pPr algn="l"/>
            <a:r>
              <a:rPr lang="en-US" sz="2000" dirty="0">
                <a:solidFill>
                  <a:schemeClr val="tx1"/>
                </a:solidFill>
              </a:rPr>
              <a:t>    RA :-   </a:t>
            </a:r>
            <a:r>
              <a:rPr lang="en-IN" sz="2000" dirty="0">
                <a:solidFill>
                  <a:schemeClr val="tx1"/>
                </a:solidFill>
              </a:rPr>
              <a:t>π_patient.name, </a:t>
            </a:r>
            <a:r>
              <a:rPr lang="en-IN" sz="2000" dirty="0" err="1">
                <a:solidFill>
                  <a:schemeClr val="tx1"/>
                </a:solidFill>
              </a:rPr>
              <a:t>room_id</a:t>
            </a:r>
            <a:r>
              <a:rPr lang="en-IN" sz="2000" dirty="0">
                <a:solidFill>
                  <a:schemeClr val="tx1"/>
                </a:solidFill>
              </a:rPr>
              <a:t>(Patients ⨝ Rooms)</a:t>
            </a:r>
          </a:p>
          <a:p>
            <a:pPr algn="l"/>
            <a:r>
              <a:rPr lang="en-IN" sz="2000" dirty="0">
                <a:solidFill>
                  <a:schemeClr val="tx1"/>
                </a:solidFill>
              </a:rPr>
              <a:t>    SQL :-  SELECT p.name, </a:t>
            </a:r>
            <a:r>
              <a:rPr lang="en-IN" sz="2000" dirty="0" err="1">
                <a:solidFill>
                  <a:schemeClr val="tx1"/>
                </a:solidFill>
              </a:rPr>
              <a:t>r.room_id</a:t>
            </a:r>
            <a:endParaRPr lang="en-IN" sz="2000" dirty="0">
              <a:solidFill>
                <a:schemeClr val="tx1"/>
              </a:solidFill>
            </a:endParaRPr>
          </a:p>
          <a:p>
            <a:pPr algn="l"/>
            <a:r>
              <a:rPr lang="en-IN" sz="2000" dirty="0">
                <a:solidFill>
                  <a:schemeClr val="tx1"/>
                </a:solidFill>
              </a:rPr>
              <a:t>                 FROM Patient p</a:t>
            </a:r>
          </a:p>
          <a:p>
            <a:pPr algn="l"/>
            <a:r>
              <a:rPr lang="en-IN" sz="2000" dirty="0">
                <a:solidFill>
                  <a:schemeClr val="tx1"/>
                </a:solidFill>
              </a:rPr>
              <a:t>                 JOIN Room r</a:t>
            </a:r>
          </a:p>
          <a:p>
            <a:pPr algn="l"/>
            <a:r>
              <a:rPr lang="en-IN" sz="2000" dirty="0">
                <a:solidFill>
                  <a:schemeClr val="tx1"/>
                </a:solidFill>
              </a:rPr>
              <a:t>                 ON </a:t>
            </a:r>
            <a:r>
              <a:rPr lang="en-IN" sz="2000" dirty="0" err="1">
                <a:solidFill>
                  <a:schemeClr val="tx1"/>
                </a:solidFill>
              </a:rPr>
              <a:t>p.room_id</a:t>
            </a:r>
            <a:r>
              <a:rPr lang="en-IN" sz="2000" dirty="0">
                <a:solidFill>
                  <a:schemeClr val="tx1"/>
                </a:solidFill>
              </a:rPr>
              <a:t> = </a:t>
            </a:r>
            <a:r>
              <a:rPr lang="en-IN" sz="2000" dirty="0" err="1">
                <a:solidFill>
                  <a:schemeClr val="tx1"/>
                </a:solidFill>
              </a:rPr>
              <a:t>r.room_id</a:t>
            </a:r>
            <a:r>
              <a:rPr lang="en-IN" sz="2000" dirty="0">
                <a:solidFill>
                  <a:schemeClr val="tx1"/>
                </a:solidFill>
              </a:rPr>
              <a:t>;</a:t>
            </a:r>
          </a:p>
          <a:p>
            <a:pPr algn="l"/>
            <a:endParaRPr lang="en-IN" sz="2000" dirty="0">
              <a:solidFill>
                <a:schemeClr val="tx1"/>
              </a:solidFill>
            </a:endParaRPr>
          </a:p>
          <a:p>
            <a:pPr algn="l"/>
            <a:r>
              <a:rPr lang="en-IN" sz="2000" dirty="0">
                <a:solidFill>
                  <a:schemeClr val="tx1"/>
                </a:solidFill>
              </a:rPr>
              <a:t>8.  List patients in ICU rooms.</a:t>
            </a:r>
            <a:endParaRPr lang="en-US" sz="2000" dirty="0">
              <a:solidFill>
                <a:schemeClr val="tx1"/>
              </a:solidFill>
            </a:endParaRPr>
          </a:p>
          <a:p>
            <a:pPr algn="l"/>
            <a:r>
              <a:rPr lang="en-IN" sz="2000" dirty="0">
                <a:solidFill>
                  <a:schemeClr val="tx1"/>
                </a:solidFill>
              </a:rPr>
              <a:t>   RA :- π_name(</a:t>
            </a:r>
            <a:r>
              <a:rPr lang="en-IN" sz="2000" dirty="0" err="1">
                <a:solidFill>
                  <a:schemeClr val="tx1"/>
                </a:solidFill>
              </a:rPr>
              <a:t>σ_room_type</a:t>
            </a:r>
            <a:r>
              <a:rPr lang="en-IN" sz="2000" dirty="0">
                <a:solidFill>
                  <a:schemeClr val="tx1"/>
                </a:solidFill>
              </a:rPr>
              <a:t>='ICU'(Patients ⨝ Rooms))</a:t>
            </a:r>
          </a:p>
          <a:p>
            <a:pPr algn="l"/>
            <a:r>
              <a:rPr lang="en-IN" sz="2000" dirty="0">
                <a:solidFill>
                  <a:schemeClr val="tx1"/>
                </a:solidFill>
              </a:rPr>
              <a:t>   SQL :- SELECT DISTINCT p.name</a:t>
            </a:r>
          </a:p>
          <a:p>
            <a:pPr algn="l"/>
            <a:r>
              <a:rPr lang="en-IN" sz="2000" dirty="0">
                <a:solidFill>
                  <a:schemeClr val="tx1"/>
                </a:solidFill>
              </a:rPr>
              <a:t>             FROM Patient p</a:t>
            </a:r>
          </a:p>
          <a:p>
            <a:pPr algn="l"/>
            <a:r>
              <a:rPr lang="en-IN" sz="2000" dirty="0">
                <a:solidFill>
                  <a:schemeClr val="tx1"/>
                </a:solidFill>
              </a:rPr>
              <a:t>             JOIN Room r </a:t>
            </a:r>
          </a:p>
          <a:p>
            <a:pPr algn="l"/>
            <a:r>
              <a:rPr lang="en-IN" sz="2000" dirty="0">
                <a:solidFill>
                  <a:schemeClr val="tx1"/>
                </a:solidFill>
              </a:rPr>
              <a:t>            ON </a:t>
            </a:r>
            <a:r>
              <a:rPr lang="en-IN" sz="2000" dirty="0" err="1">
                <a:solidFill>
                  <a:schemeClr val="tx1"/>
                </a:solidFill>
              </a:rPr>
              <a:t>p.room_id</a:t>
            </a:r>
            <a:r>
              <a:rPr lang="en-IN" sz="2000" dirty="0">
                <a:solidFill>
                  <a:schemeClr val="tx1"/>
                </a:solidFill>
              </a:rPr>
              <a:t> = </a:t>
            </a:r>
            <a:r>
              <a:rPr lang="en-IN" sz="2000" dirty="0" err="1">
                <a:solidFill>
                  <a:schemeClr val="tx1"/>
                </a:solidFill>
              </a:rPr>
              <a:t>r.room_id</a:t>
            </a:r>
            <a:endParaRPr lang="en-IN" sz="2000" dirty="0">
              <a:solidFill>
                <a:schemeClr val="tx1"/>
              </a:solidFill>
            </a:endParaRPr>
          </a:p>
          <a:p>
            <a:pPr algn="l"/>
            <a:r>
              <a:rPr lang="en-IN" sz="2000" dirty="0">
                <a:solidFill>
                  <a:schemeClr val="tx1"/>
                </a:solidFill>
              </a:rPr>
              <a:t>           WHERE </a:t>
            </a:r>
            <a:r>
              <a:rPr lang="en-IN" sz="2000" dirty="0" err="1">
                <a:solidFill>
                  <a:schemeClr val="tx1"/>
                </a:solidFill>
              </a:rPr>
              <a:t>r.room_type</a:t>
            </a:r>
            <a:r>
              <a:rPr lang="en-IN" sz="2000" dirty="0">
                <a:solidFill>
                  <a:schemeClr val="tx1"/>
                </a:solidFill>
              </a:rPr>
              <a:t> = 'ICU';</a:t>
            </a:r>
          </a:p>
          <a:p>
            <a:pPr algn="l"/>
            <a:endParaRPr lang="en-US" sz="1600" dirty="0">
              <a:solidFill>
                <a:schemeClr val="tx1"/>
              </a:solidFill>
            </a:endParaRPr>
          </a:p>
          <a:p>
            <a:pPr algn="l"/>
            <a:endParaRPr lang="en-US" sz="1600" dirty="0">
              <a:solidFill>
                <a:schemeClr val="tx1"/>
              </a:solidFill>
            </a:endParaRPr>
          </a:p>
          <a:p>
            <a:pPr algn="l"/>
            <a:r>
              <a:rPr lang="en-IN" sz="1600" dirty="0">
                <a:solidFill>
                  <a:schemeClr val="tx1"/>
                </a:solidFill>
              </a:rPr>
              <a:t> </a:t>
            </a:r>
            <a:endParaRPr lang="en-US" sz="1600" dirty="0">
              <a:solidFill>
                <a:schemeClr val="tx1"/>
              </a:solidFill>
            </a:endParaRPr>
          </a:p>
          <a:p>
            <a:pPr lvl="0" algn="l"/>
            <a:r>
              <a:rPr lang="en-US" sz="1600" dirty="0">
                <a:solidFill>
                  <a:schemeClr val="tx1"/>
                </a:solidFill>
              </a:rPr>
              <a:t>  </a:t>
            </a: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IN" sz="1600" dirty="0">
              <a:solidFill>
                <a:schemeClr val="tx1"/>
              </a:solidFill>
            </a:endParaRPr>
          </a:p>
        </p:txBody>
      </p:sp>
    </p:spTree>
    <p:extLst>
      <p:ext uri="{BB962C8B-B14F-4D97-AF65-F5344CB8AC3E}">
        <p14:creationId xmlns="" xmlns:p14="http://schemas.microsoft.com/office/powerpoint/2010/main" val="463746906"/>
      </p:ext>
    </p:extLst>
  </p:cSld>
  <p:clrMapOvr>
    <a:masterClrMapping/>
  </p:clrMapOvr>
  <p:transition>
    <p:fade thruBlk="1"/>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138632C-BDC2-D911-FD4B-EE36C7D1793D}"/>
              </a:ext>
            </a:extLst>
          </p:cNvPr>
          <p:cNvSpPr>
            <a:spLocks noGrp="1"/>
          </p:cNvSpPr>
          <p:nvPr>
            <p:ph type="ctrTitle"/>
          </p:nvPr>
        </p:nvSpPr>
        <p:spPr/>
        <p:txBody>
          <a:bodyPr/>
          <a:lstStyle/>
          <a:p>
            <a:r>
              <a:rPr lang="en-IN" dirty="0"/>
              <a:t>Relational Algebra to SQL</a:t>
            </a:r>
          </a:p>
        </p:txBody>
      </p:sp>
      <p:sp>
        <p:nvSpPr>
          <p:cNvPr id="3" name="Subtitle 2">
            <a:extLst>
              <a:ext uri="{FF2B5EF4-FFF2-40B4-BE49-F238E27FC236}">
                <a16:creationId xmlns="" xmlns:a16="http://schemas.microsoft.com/office/drawing/2014/main" id="{5ED9FD65-4DC5-8B7F-0DF8-441C547B2930}"/>
              </a:ext>
            </a:extLst>
          </p:cNvPr>
          <p:cNvSpPr>
            <a:spLocks noGrp="1"/>
          </p:cNvSpPr>
          <p:nvPr>
            <p:ph type="subTitle" idx="1"/>
          </p:nvPr>
        </p:nvSpPr>
        <p:spPr>
          <a:xfrm>
            <a:off x="320040" y="914401"/>
            <a:ext cx="8366760" cy="5669279"/>
          </a:xfrm>
        </p:spPr>
        <p:txBody>
          <a:bodyPr/>
          <a:lstStyle/>
          <a:p>
            <a:pPr algn="l"/>
            <a:r>
              <a:rPr lang="en-US" sz="1800" dirty="0">
                <a:solidFill>
                  <a:schemeClr val="tx1"/>
                </a:solidFill>
              </a:rPr>
              <a:t>9 </a:t>
            </a:r>
            <a:r>
              <a:rPr lang="en-IN" sz="1800" dirty="0">
                <a:solidFill>
                  <a:schemeClr val="tx1"/>
                </a:solidFill>
              </a:rPr>
              <a:t>. Find patients who had an appointment but no bill generated.</a:t>
            </a:r>
            <a:endParaRPr lang="en-US" sz="1800" dirty="0">
              <a:solidFill>
                <a:schemeClr val="tx1"/>
              </a:solidFill>
            </a:endParaRPr>
          </a:p>
          <a:p>
            <a:pPr algn="l"/>
            <a:r>
              <a:rPr lang="en-IN" sz="1800" dirty="0">
                <a:solidFill>
                  <a:schemeClr val="tx1"/>
                </a:solidFill>
              </a:rPr>
              <a:t>    RA  :-  π_name(Patients ⨝ Appointments) − π_name(Patients ⨝ Billing)</a:t>
            </a:r>
          </a:p>
          <a:p>
            <a:pPr algn="l"/>
            <a:r>
              <a:rPr lang="en-IN" sz="1800" dirty="0">
                <a:solidFill>
                  <a:schemeClr val="tx1"/>
                </a:solidFill>
              </a:rPr>
              <a:t>     SQL :-   SELECT DISTINCT p.name</a:t>
            </a:r>
          </a:p>
          <a:p>
            <a:pPr algn="l"/>
            <a:r>
              <a:rPr lang="en-IN" sz="1800" dirty="0">
                <a:solidFill>
                  <a:schemeClr val="tx1"/>
                </a:solidFill>
              </a:rPr>
              <a:t>                  FROM Patient  p</a:t>
            </a:r>
          </a:p>
          <a:p>
            <a:pPr algn="l"/>
            <a:r>
              <a:rPr lang="en-IN" sz="1800" dirty="0">
                <a:solidFill>
                  <a:schemeClr val="tx1"/>
                </a:solidFill>
              </a:rPr>
              <a:t>                 JOIN Appointment  a</a:t>
            </a:r>
          </a:p>
          <a:p>
            <a:pPr algn="l"/>
            <a:r>
              <a:rPr lang="en-IN" sz="1800" dirty="0">
                <a:solidFill>
                  <a:schemeClr val="tx1"/>
                </a:solidFill>
              </a:rPr>
              <a:t>                      ON </a:t>
            </a:r>
            <a:r>
              <a:rPr lang="en-IN" sz="1800" dirty="0" err="1">
                <a:solidFill>
                  <a:schemeClr val="tx1"/>
                </a:solidFill>
              </a:rPr>
              <a:t>p.patient_id</a:t>
            </a:r>
            <a:r>
              <a:rPr lang="en-IN" sz="1800" dirty="0">
                <a:solidFill>
                  <a:schemeClr val="tx1"/>
                </a:solidFill>
              </a:rPr>
              <a:t> = </a:t>
            </a:r>
            <a:r>
              <a:rPr lang="en-IN" sz="1800" dirty="0" err="1">
                <a:solidFill>
                  <a:schemeClr val="tx1"/>
                </a:solidFill>
              </a:rPr>
              <a:t>a.patient_id</a:t>
            </a:r>
            <a:endParaRPr lang="en-IN" sz="1800" dirty="0">
              <a:solidFill>
                <a:schemeClr val="tx1"/>
              </a:solidFill>
            </a:endParaRPr>
          </a:p>
          <a:p>
            <a:pPr algn="l"/>
            <a:r>
              <a:rPr lang="en-IN" sz="1800" dirty="0">
                <a:solidFill>
                  <a:schemeClr val="tx1"/>
                </a:solidFill>
              </a:rPr>
              <a:t>                LEFT JOIN Billing b   </a:t>
            </a:r>
          </a:p>
          <a:p>
            <a:pPr algn="l"/>
            <a:r>
              <a:rPr lang="en-IN" sz="1800" dirty="0">
                <a:solidFill>
                  <a:schemeClr val="tx1"/>
                </a:solidFill>
              </a:rPr>
              <a:t>                       ON </a:t>
            </a:r>
            <a:r>
              <a:rPr lang="en-IN" sz="1800" dirty="0" err="1">
                <a:solidFill>
                  <a:schemeClr val="tx1"/>
                </a:solidFill>
              </a:rPr>
              <a:t>p.patient_id</a:t>
            </a:r>
            <a:r>
              <a:rPr lang="en-IN" sz="1800" dirty="0">
                <a:solidFill>
                  <a:schemeClr val="tx1"/>
                </a:solidFill>
              </a:rPr>
              <a:t> = </a:t>
            </a:r>
            <a:r>
              <a:rPr lang="en-IN" sz="1800" dirty="0" err="1">
                <a:solidFill>
                  <a:schemeClr val="tx1"/>
                </a:solidFill>
              </a:rPr>
              <a:t>b.patient_id</a:t>
            </a:r>
            <a:r>
              <a:rPr lang="en-IN" sz="1800" dirty="0">
                <a:solidFill>
                  <a:schemeClr val="tx1"/>
                </a:solidFill>
              </a:rPr>
              <a:t> </a:t>
            </a:r>
          </a:p>
          <a:p>
            <a:pPr algn="l"/>
            <a:r>
              <a:rPr lang="en-IN" sz="1800" dirty="0">
                <a:solidFill>
                  <a:schemeClr val="tx1"/>
                </a:solidFill>
              </a:rPr>
              <a:t>              WHERE </a:t>
            </a:r>
            <a:r>
              <a:rPr lang="en-IN" sz="1800" dirty="0" err="1">
                <a:solidFill>
                  <a:schemeClr val="tx1"/>
                </a:solidFill>
              </a:rPr>
              <a:t>b.patient_id</a:t>
            </a:r>
            <a:r>
              <a:rPr lang="en-IN" sz="1800" dirty="0">
                <a:solidFill>
                  <a:schemeClr val="tx1"/>
                </a:solidFill>
              </a:rPr>
              <a:t>  IS NULL;</a:t>
            </a:r>
          </a:p>
          <a:p>
            <a:pPr algn="l"/>
            <a:r>
              <a:rPr lang="en-IN" sz="1800" dirty="0">
                <a:solidFill>
                  <a:schemeClr val="tx1"/>
                </a:solidFill>
              </a:rPr>
              <a:t>10.  Get names of patients with  pending bills.</a:t>
            </a:r>
            <a:endParaRPr lang="en-US" sz="1800" dirty="0">
              <a:solidFill>
                <a:schemeClr val="tx1"/>
              </a:solidFill>
            </a:endParaRPr>
          </a:p>
          <a:p>
            <a:pPr algn="l"/>
            <a:r>
              <a:rPr lang="en-IN" sz="1800" dirty="0">
                <a:solidFill>
                  <a:schemeClr val="tx1"/>
                </a:solidFill>
              </a:rPr>
              <a:t>    RA :-  π_name(</a:t>
            </a:r>
            <a:r>
              <a:rPr lang="en-IN" sz="1800" dirty="0" err="1">
                <a:solidFill>
                  <a:schemeClr val="tx1"/>
                </a:solidFill>
              </a:rPr>
              <a:t>σ_payment_status</a:t>
            </a:r>
            <a:r>
              <a:rPr lang="en-IN" sz="1800" dirty="0">
                <a:solidFill>
                  <a:schemeClr val="tx1"/>
                </a:solidFill>
              </a:rPr>
              <a:t>=‘pending’(Patients ⨝ Billing))</a:t>
            </a:r>
            <a:endParaRPr lang="en-US" sz="1800" dirty="0">
              <a:solidFill>
                <a:schemeClr val="tx1"/>
              </a:solidFill>
            </a:endParaRPr>
          </a:p>
          <a:p>
            <a:pPr algn="l"/>
            <a:r>
              <a:rPr lang="en-US" sz="1800" dirty="0">
                <a:solidFill>
                  <a:schemeClr val="tx1"/>
                </a:solidFill>
              </a:rPr>
              <a:t>    SQL  :-  SELECT DISTINCT p.name</a:t>
            </a:r>
          </a:p>
          <a:p>
            <a:pPr algn="l"/>
            <a:r>
              <a:rPr lang="en-US" sz="1800" dirty="0">
                <a:solidFill>
                  <a:schemeClr val="tx1"/>
                </a:solidFill>
              </a:rPr>
              <a:t>                  FROM Patient p</a:t>
            </a:r>
          </a:p>
          <a:p>
            <a:pPr algn="l"/>
            <a:r>
              <a:rPr lang="en-US" sz="1800" dirty="0">
                <a:solidFill>
                  <a:schemeClr val="tx1"/>
                </a:solidFill>
              </a:rPr>
              <a:t>                 JOIN Billing b</a:t>
            </a:r>
          </a:p>
          <a:p>
            <a:pPr algn="l"/>
            <a:r>
              <a:rPr lang="en-US" sz="1800" dirty="0">
                <a:solidFill>
                  <a:schemeClr val="tx1"/>
                </a:solidFill>
              </a:rPr>
              <a:t>                ON </a:t>
            </a:r>
            <a:r>
              <a:rPr lang="en-US" sz="1800" dirty="0" err="1">
                <a:solidFill>
                  <a:schemeClr val="tx1"/>
                </a:solidFill>
              </a:rPr>
              <a:t>p.patient_id</a:t>
            </a:r>
            <a:r>
              <a:rPr lang="en-US" sz="1800" dirty="0">
                <a:solidFill>
                  <a:schemeClr val="tx1"/>
                </a:solidFill>
              </a:rPr>
              <a:t> = </a:t>
            </a:r>
            <a:r>
              <a:rPr lang="en-US" sz="1800" dirty="0" err="1">
                <a:solidFill>
                  <a:schemeClr val="tx1"/>
                </a:solidFill>
              </a:rPr>
              <a:t>b.patient_id</a:t>
            </a:r>
            <a:endParaRPr lang="en-US" sz="1800" dirty="0">
              <a:solidFill>
                <a:schemeClr val="tx1"/>
              </a:solidFill>
            </a:endParaRPr>
          </a:p>
          <a:p>
            <a:pPr algn="l"/>
            <a:r>
              <a:rPr lang="en-US" sz="1800" dirty="0">
                <a:solidFill>
                  <a:schemeClr val="tx1"/>
                </a:solidFill>
              </a:rPr>
              <a:t>               WHERE </a:t>
            </a:r>
            <a:r>
              <a:rPr lang="en-US" sz="1800" dirty="0" err="1">
                <a:solidFill>
                  <a:schemeClr val="tx1"/>
                </a:solidFill>
              </a:rPr>
              <a:t>b.payment_status</a:t>
            </a:r>
            <a:r>
              <a:rPr lang="en-US" sz="1800" dirty="0">
                <a:solidFill>
                  <a:schemeClr val="tx1"/>
                </a:solidFill>
              </a:rPr>
              <a:t> = 'Pending';</a:t>
            </a:r>
          </a:p>
          <a:p>
            <a:pPr algn="l"/>
            <a:r>
              <a:rPr lang="en-US" sz="1600" dirty="0">
                <a:solidFill>
                  <a:schemeClr val="tx1"/>
                </a:solidFill>
              </a:rPr>
              <a:t> </a:t>
            </a: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r>
              <a:rPr lang="en-US" sz="1600" dirty="0">
                <a:solidFill>
                  <a:schemeClr val="tx1"/>
                </a:solidFill>
              </a:rPr>
              <a:t>K </a:t>
            </a:r>
          </a:p>
          <a:p>
            <a:pPr algn="l"/>
            <a:endParaRPr lang="en-IN" sz="1600" dirty="0">
              <a:solidFill>
                <a:schemeClr val="tx1"/>
              </a:solidFill>
            </a:endParaRPr>
          </a:p>
        </p:txBody>
      </p:sp>
    </p:spTree>
    <p:extLst>
      <p:ext uri="{BB962C8B-B14F-4D97-AF65-F5344CB8AC3E}">
        <p14:creationId xmlns="" xmlns:p14="http://schemas.microsoft.com/office/powerpoint/2010/main" val="1659893159"/>
      </p:ext>
    </p:extLst>
  </p:cSld>
  <p:clrMapOvr>
    <a:masterClrMapping/>
  </p:clrMapOvr>
  <p:transition>
    <p:fade thruBlk="1"/>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F18F25B-9BDB-074F-0DD7-604ACFEEB7E0}"/>
              </a:ext>
            </a:extLst>
          </p:cNvPr>
          <p:cNvSpPr>
            <a:spLocks noGrp="1"/>
          </p:cNvSpPr>
          <p:nvPr>
            <p:ph type="ctrTitle"/>
          </p:nvPr>
        </p:nvSpPr>
        <p:spPr/>
        <p:txBody>
          <a:bodyPr/>
          <a:lstStyle/>
          <a:p>
            <a:r>
              <a:rPr lang="en-IN" dirty="0"/>
              <a:t>Procedures</a:t>
            </a:r>
          </a:p>
        </p:txBody>
      </p:sp>
      <p:sp>
        <p:nvSpPr>
          <p:cNvPr id="3" name="Subtitle 2">
            <a:extLst>
              <a:ext uri="{FF2B5EF4-FFF2-40B4-BE49-F238E27FC236}">
                <a16:creationId xmlns="" xmlns:a16="http://schemas.microsoft.com/office/drawing/2014/main" id="{97C6A3EF-60C1-4807-B35E-628101EDAEBD}"/>
              </a:ext>
            </a:extLst>
          </p:cNvPr>
          <p:cNvSpPr>
            <a:spLocks noGrp="1"/>
          </p:cNvSpPr>
          <p:nvPr>
            <p:ph type="subTitle" idx="1"/>
          </p:nvPr>
        </p:nvSpPr>
        <p:spPr/>
        <p:txBody>
          <a:bodyPr/>
          <a:lstStyle/>
          <a:p>
            <a:pPr marL="0" indent="0" algn="l"/>
            <a:r>
              <a:rPr lang="en-IN" sz="2000" dirty="0">
                <a:solidFill>
                  <a:schemeClr val="tx1"/>
                </a:solidFill>
                <a:cs typeface="Times New Roman" panose="02020603050405020304" pitchFamily="18" charset="0"/>
              </a:rPr>
              <a:t>A </a:t>
            </a:r>
            <a:r>
              <a:rPr lang="en-IN" sz="2000" b="1" dirty="0">
                <a:solidFill>
                  <a:schemeClr val="tx1"/>
                </a:solidFill>
                <a:cs typeface="Times New Roman" panose="02020603050405020304" pitchFamily="18" charset="0"/>
              </a:rPr>
              <a:t>Procedure</a:t>
            </a:r>
            <a:r>
              <a:rPr lang="en-IN" sz="2000" dirty="0">
                <a:solidFill>
                  <a:schemeClr val="tx1"/>
                </a:solidFill>
                <a:cs typeface="Times New Roman" panose="02020603050405020304" pitchFamily="18" charset="0"/>
              </a:rPr>
              <a:t> (Stored Procedure) in MySQL is a </a:t>
            </a:r>
            <a:r>
              <a:rPr lang="en-IN" sz="2000" b="1" dirty="0">
                <a:solidFill>
                  <a:schemeClr val="tx1"/>
                </a:solidFill>
                <a:cs typeface="Times New Roman" panose="02020603050405020304" pitchFamily="18" charset="0"/>
              </a:rPr>
              <a:t>pre-written SQL code</a:t>
            </a:r>
            <a:r>
              <a:rPr lang="en-IN" sz="2000" dirty="0">
                <a:solidFill>
                  <a:schemeClr val="tx1"/>
                </a:solidFill>
                <a:cs typeface="Times New Roman" panose="02020603050405020304" pitchFamily="18" charset="0"/>
              </a:rPr>
              <a:t> that is saved in the database and can be executed whenever </a:t>
            </a:r>
            <a:r>
              <a:rPr lang="en-IN" sz="2000" dirty="0" err="1">
                <a:solidFill>
                  <a:schemeClr val="tx1"/>
                </a:solidFill>
                <a:cs typeface="Times New Roman" panose="02020603050405020304" pitchFamily="18" charset="0"/>
              </a:rPr>
              <a:t>needed.It</a:t>
            </a:r>
            <a:r>
              <a:rPr lang="en-IN" sz="2000" dirty="0">
                <a:solidFill>
                  <a:schemeClr val="tx1"/>
                </a:solidFill>
                <a:cs typeface="Times New Roman" panose="02020603050405020304" pitchFamily="18" charset="0"/>
              </a:rPr>
              <a:t> works like a </a:t>
            </a:r>
            <a:r>
              <a:rPr lang="en-IN" sz="2000" b="1" dirty="0">
                <a:solidFill>
                  <a:schemeClr val="tx1"/>
                </a:solidFill>
                <a:cs typeface="Times New Roman" panose="02020603050405020304" pitchFamily="18" charset="0"/>
              </a:rPr>
              <a:t>function</a:t>
            </a:r>
            <a:r>
              <a:rPr lang="en-IN" sz="2000" dirty="0">
                <a:solidFill>
                  <a:schemeClr val="tx1"/>
                </a:solidFill>
                <a:cs typeface="Times New Roman" panose="02020603050405020304" pitchFamily="18" charset="0"/>
              </a:rPr>
              <a:t> that performs a specific task (such as inserting data, updating records, or generating reports).</a:t>
            </a:r>
          </a:p>
          <a:p>
            <a:pPr marL="114300" indent="0" algn="l"/>
            <a:endParaRPr lang="en-IN" sz="2000" dirty="0">
              <a:solidFill>
                <a:schemeClr val="tx1"/>
              </a:solidFill>
              <a:cs typeface="Times New Roman" panose="02020603050405020304" pitchFamily="18" charset="0"/>
            </a:endParaRPr>
          </a:p>
          <a:p>
            <a:pPr marL="114300" indent="0" algn="l"/>
            <a:r>
              <a:rPr lang="en-IN" sz="2000" dirty="0">
                <a:solidFill>
                  <a:schemeClr val="tx1"/>
                </a:solidFill>
                <a:cs typeface="Times New Roman" panose="02020603050405020304" pitchFamily="18" charset="0"/>
              </a:rPr>
              <a:t>--Think of a procedure as:  </a:t>
            </a:r>
            <a:r>
              <a:rPr lang="en-IN" sz="2000" i="1" dirty="0">
                <a:solidFill>
                  <a:schemeClr val="tx1"/>
                </a:solidFill>
                <a:cs typeface="Times New Roman" panose="02020603050405020304" pitchFamily="18" charset="0"/>
              </a:rPr>
              <a:t>“Write the logic once, reuse it many times.”</a:t>
            </a:r>
            <a:endParaRPr lang="en-IN" sz="2000" dirty="0">
              <a:solidFill>
                <a:schemeClr val="tx1"/>
              </a:solidFill>
              <a:cs typeface="Times New Roman" panose="02020603050405020304" pitchFamily="18" charset="0"/>
            </a:endParaRPr>
          </a:p>
          <a:p>
            <a:pPr marL="114300" indent="0" algn="l"/>
            <a:endParaRPr lang="en-US" sz="2000" b="1" dirty="0">
              <a:solidFill>
                <a:schemeClr val="tx1"/>
              </a:solidFill>
              <a:cs typeface="Times New Roman" pitchFamily="18" charset="0"/>
            </a:endParaRPr>
          </a:p>
          <a:p>
            <a:pPr marL="114300" indent="0" algn="l"/>
            <a:r>
              <a:rPr lang="en-IN" sz="2000" b="1" dirty="0">
                <a:solidFill>
                  <a:schemeClr val="tx1"/>
                </a:solidFill>
                <a:cs typeface="Times New Roman" panose="02020603050405020304" pitchFamily="18" charset="0"/>
              </a:rPr>
              <a:t>Why Use Procedures?</a:t>
            </a:r>
          </a:p>
          <a:p>
            <a:pPr algn="l">
              <a:buFont typeface="Arial" panose="020B0604020202020204" pitchFamily="34" charset="0"/>
              <a:buChar char="•"/>
            </a:pPr>
            <a:r>
              <a:rPr lang="en-IN" sz="2000" dirty="0">
                <a:solidFill>
                  <a:schemeClr val="tx1"/>
                </a:solidFill>
                <a:cs typeface="Times New Roman" panose="02020603050405020304" pitchFamily="18" charset="0"/>
              </a:rPr>
              <a:t> Avoid writing the same SQL queries again and again</a:t>
            </a:r>
          </a:p>
          <a:p>
            <a:pPr algn="l">
              <a:buFont typeface="Arial" panose="020B0604020202020204" pitchFamily="34" charset="0"/>
              <a:buChar char="•"/>
            </a:pPr>
            <a:r>
              <a:rPr lang="en-IN" sz="2000" dirty="0">
                <a:solidFill>
                  <a:schemeClr val="tx1"/>
                </a:solidFill>
                <a:cs typeface="Times New Roman" panose="02020603050405020304" pitchFamily="18" charset="0"/>
              </a:rPr>
              <a:t> Improve performance (queries are pre-compiled)</a:t>
            </a:r>
          </a:p>
          <a:p>
            <a:pPr algn="l">
              <a:buFont typeface="Arial" panose="020B0604020202020204" pitchFamily="34" charset="0"/>
              <a:buChar char="•"/>
            </a:pPr>
            <a:r>
              <a:rPr lang="en-IN" sz="2000" dirty="0">
                <a:solidFill>
                  <a:schemeClr val="tx1"/>
                </a:solidFill>
                <a:cs typeface="Times New Roman" panose="02020603050405020304" pitchFamily="18" charset="0"/>
              </a:rPr>
              <a:t>Increase security (you control what the user can access)</a:t>
            </a:r>
          </a:p>
          <a:p>
            <a:pPr algn="l">
              <a:buFont typeface="Arial" panose="020B0604020202020204" pitchFamily="34" charset="0"/>
              <a:buChar char="•"/>
            </a:pPr>
            <a:r>
              <a:rPr lang="en-IN" sz="2000" dirty="0">
                <a:solidFill>
                  <a:schemeClr val="tx1"/>
                </a:solidFill>
                <a:cs typeface="Times New Roman" panose="02020603050405020304" pitchFamily="18" charset="0"/>
              </a:rPr>
              <a:t>Helps organize business logic inside the database</a:t>
            </a:r>
          </a:p>
          <a:p>
            <a:pPr algn="l">
              <a:buFont typeface="Arial" panose="020B0604020202020204" pitchFamily="34" charset="0"/>
              <a:buChar char="•"/>
            </a:pPr>
            <a:r>
              <a:rPr lang="en-IN" sz="2000" dirty="0">
                <a:solidFill>
                  <a:schemeClr val="tx1"/>
                </a:solidFill>
                <a:cs typeface="Times New Roman" panose="02020603050405020304" pitchFamily="18" charset="0"/>
              </a:rPr>
              <a:t>Makes code cleaner and easier to maintain</a:t>
            </a:r>
          </a:p>
          <a:p>
            <a:pPr algn="l"/>
            <a:endParaRPr lang="en-IN" sz="2000" dirty="0">
              <a:solidFill>
                <a:schemeClr val="tx1"/>
              </a:solidFill>
            </a:endParaRPr>
          </a:p>
          <a:p>
            <a:pPr algn="l"/>
            <a:endParaRPr lang="en-IN" sz="2000" dirty="0">
              <a:solidFill>
                <a:schemeClr val="tx1"/>
              </a:solidFill>
            </a:endParaRPr>
          </a:p>
        </p:txBody>
      </p:sp>
    </p:spTree>
    <p:extLst>
      <p:ext uri="{BB962C8B-B14F-4D97-AF65-F5344CB8AC3E}">
        <p14:creationId xmlns="" xmlns:p14="http://schemas.microsoft.com/office/powerpoint/2010/main" val="60719942"/>
      </p:ext>
    </p:extLst>
  </p:cSld>
  <p:clrMapOvr>
    <a:masterClrMapping/>
  </p:clrMapOvr>
  <p:transition>
    <p:fade thruBlk="1"/>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082D22E-166A-3813-C7AD-35721531DA5E}"/>
              </a:ext>
            </a:extLst>
          </p:cNvPr>
          <p:cNvSpPr>
            <a:spLocks noGrp="1"/>
          </p:cNvSpPr>
          <p:nvPr>
            <p:ph type="ctrTitle"/>
          </p:nvPr>
        </p:nvSpPr>
        <p:spPr/>
        <p:txBody>
          <a:bodyPr/>
          <a:lstStyle/>
          <a:p>
            <a:r>
              <a:rPr lang="en-IN" dirty="0"/>
              <a:t>Procedures</a:t>
            </a:r>
          </a:p>
        </p:txBody>
      </p:sp>
      <p:sp>
        <p:nvSpPr>
          <p:cNvPr id="3" name="Subtitle 2">
            <a:extLst>
              <a:ext uri="{FF2B5EF4-FFF2-40B4-BE49-F238E27FC236}">
                <a16:creationId xmlns="" xmlns:a16="http://schemas.microsoft.com/office/drawing/2014/main" id="{AB1D06DA-E940-0CA8-2500-8BAEACC8A419}"/>
              </a:ext>
            </a:extLst>
          </p:cNvPr>
          <p:cNvSpPr>
            <a:spLocks noGrp="1"/>
          </p:cNvSpPr>
          <p:nvPr>
            <p:ph type="subTitle" idx="1"/>
          </p:nvPr>
        </p:nvSpPr>
        <p:spPr>
          <a:xfrm>
            <a:off x="0" y="914401"/>
            <a:ext cx="9144000" cy="5699759"/>
          </a:xfrm>
        </p:spPr>
        <p:txBody>
          <a:bodyPr/>
          <a:lstStyle/>
          <a:p>
            <a:pPr marL="0" indent="0" algn="l"/>
            <a:r>
              <a:rPr lang="en-US" sz="1800" b="1" dirty="0">
                <a:solidFill>
                  <a:schemeClr val="tx1"/>
                </a:solidFill>
              </a:rPr>
              <a:t>1. Stored Procedure for Adding a New Patient</a:t>
            </a:r>
          </a:p>
          <a:p>
            <a:pPr marL="0" indent="0" algn="l"/>
            <a:r>
              <a:rPr lang="en-US" sz="1200" b="1" dirty="0">
                <a:solidFill>
                  <a:schemeClr val="tx1"/>
                </a:solidFill>
              </a:rPr>
              <a:t> </a:t>
            </a:r>
            <a:r>
              <a:rPr lang="en-US" sz="1400" b="1" dirty="0">
                <a:solidFill>
                  <a:schemeClr val="tx1"/>
                </a:solidFill>
              </a:rPr>
              <a:t>Problem Statement:</a:t>
            </a:r>
          </a:p>
          <a:p>
            <a:pPr marL="0" indent="0" algn="l"/>
            <a:r>
              <a:rPr lang="en-US" sz="1200" dirty="0">
                <a:solidFill>
                  <a:schemeClr val="tx1"/>
                </a:solidFill>
              </a:rPr>
              <a:t> The hospital administration needs a function-like shortcut to add and store the details of a new patient in the database efficiently and accurately.</a:t>
            </a:r>
          </a:p>
          <a:p>
            <a:pPr marL="0" indent="0" algn="l"/>
            <a:r>
              <a:rPr lang="en-US" sz="1600" b="1" dirty="0">
                <a:solidFill>
                  <a:schemeClr val="tx1"/>
                </a:solidFill>
              </a:rPr>
              <a:t>SQL QUERY</a:t>
            </a:r>
            <a:r>
              <a:rPr lang="en-US" sz="1200" dirty="0">
                <a:solidFill>
                  <a:schemeClr val="tx1"/>
                </a:solidFill>
              </a:rPr>
              <a:t>:</a:t>
            </a:r>
          </a:p>
          <a:p>
            <a:pPr marL="0" indent="0" algn="l"/>
            <a:r>
              <a:rPr lang="en-US" sz="1200" dirty="0">
                <a:solidFill>
                  <a:schemeClr val="tx1"/>
                </a:solidFill>
              </a:rPr>
              <a:t> DELIMITER //</a:t>
            </a:r>
          </a:p>
          <a:p>
            <a:pPr marL="0" indent="0" algn="l"/>
            <a:r>
              <a:rPr lang="en-US" sz="1200" dirty="0">
                <a:solidFill>
                  <a:schemeClr val="tx1"/>
                </a:solidFill>
              </a:rPr>
              <a:t>CREATE PROCEDURE </a:t>
            </a:r>
            <a:r>
              <a:rPr lang="en-US" sz="1200" dirty="0" err="1">
                <a:solidFill>
                  <a:schemeClr val="tx1"/>
                </a:solidFill>
              </a:rPr>
              <a:t>add_patient</a:t>
            </a:r>
            <a:r>
              <a:rPr lang="en-US" sz="1200" dirty="0">
                <a:solidFill>
                  <a:schemeClr val="tx1"/>
                </a:solidFill>
              </a:rPr>
              <a:t>(</a:t>
            </a:r>
          </a:p>
          <a:p>
            <a:pPr marL="0" indent="0" algn="l"/>
            <a:r>
              <a:rPr lang="en-US" sz="1200" dirty="0">
                <a:solidFill>
                  <a:schemeClr val="tx1"/>
                </a:solidFill>
              </a:rPr>
              <a:t>    IN </a:t>
            </a:r>
            <a:r>
              <a:rPr lang="en-US" sz="1200" dirty="0" err="1">
                <a:solidFill>
                  <a:schemeClr val="tx1"/>
                </a:solidFill>
              </a:rPr>
              <a:t>p_id</a:t>
            </a:r>
            <a:r>
              <a:rPr lang="en-US" sz="1200" dirty="0">
                <a:solidFill>
                  <a:schemeClr val="tx1"/>
                </a:solidFill>
              </a:rPr>
              <a:t> INT,</a:t>
            </a:r>
          </a:p>
          <a:p>
            <a:pPr marL="0" indent="0" algn="l"/>
            <a:r>
              <a:rPr lang="en-US" sz="1200" dirty="0">
                <a:solidFill>
                  <a:schemeClr val="tx1"/>
                </a:solidFill>
              </a:rPr>
              <a:t>    IN </a:t>
            </a:r>
            <a:r>
              <a:rPr lang="en-US" sz="1200" dirty="0" err="1">
                <a:solidFill>
                  <a:schemeClr val="tx1"/>
                </a:solidFill>
              </a:rPr>
              <a:t>p_name</a:t>
            </a:r>
            <a:r>
              <a:rPr lang="en-US" sz="1200" dirty="0">
                <a:solidFill>
                  <a:schemeClr val="tx1"/>
                </a:solidFill>
              </a:rPr>
              <a:t> VARCHAR(100),</a:t>
            </a:r>
          </a:p>
          <a:p>
            <a:pPr marL="0" indent="0" algn="l"/>
            <a:r>
              <a:rPr lang="en-US" sz="1200" dirty="0">
                <a:solidFill>
                  <a:schemeClr val="tx1"/>
                </a:solidFill>
              </a:rPr>
              <a:t>    IN </a:t>
            </a:r>
            <a:r>
              <a:rPr lang="en-US" sz="1200" dirty="0" err="1">
                <a:solidFill>
                  <a:schemeClr val="tx1"/>
                </a:solidFill>
              </a:rPr>
              <a:t>p_dob</a:t>
            </a:r>
            <a:r>
              <a:rPr lang="en-US" sz="1200" dirty="0">
                <a:solidFill>
                  <a:schemeClr val="tx1"/>
                </a:solidFill>
              </a:rPr>
              <a:t> DATE,</a:t>
            </a:r>
          </a:p>
          <a:p>
            <a:pPr marL="0" indent="0" algn="l"/>
            <a:r>
              <a:rPr lang="en-US" sz="1200" dirty="0">
                <a:solidFill>
                  <a:schemeClr val="tx1"/>
                </a:solidFill>
              </a:rPr>
              <a:t>    IN </a:t>
            </a:r>
            <a:r>
              <a:rPr lang="en-US" sz="1200" dirty="0" err="1">
                <a:solidFill>
                  <a:schemeClr val="tx1"/>
                </a:solidFill>
              </a:rPr>
              <a:t>p_gender</a:t>
            </a:r>
            <a:r>
              <a:rPr lang="en-US" sz="1200" dirty="0">
                <a:solidFill>
                  <a:schemeClr val="tx1"/>
                </a:solidFill>
              </a:rPr>
              <a:t> VARCHAR(10),</a:t>
            </a:r>
          </a:p>
          <a:p>
            <a:pPr marL="0" indent="0" algn="l"/>
            <a:r>
              <a:rPr lang="en-US" sz="1200" dirty="0">
                <a:solidFill>
                  <a:schemeClr val="tx1"/>
                </a:solidFill>
              </a:rPr>
              <a:t>    IN </a:t>
            </a:r>
            <a:r>
              <a:rPr lang="en-US" sz="1200" dirty="0" err="1">
                <a:solidFill>
                  <a:schemeClr val="tx1"/>
                </a:solidFill>
              </a:rPr>
              <a:t>p_phone</a:t>
            </a:r>
            <a:r>
              <a:rPr lang="en-US" sz="1200" dirty="0">
                <a:solidFill>
                  <a:schemeClr val="tx1"/>
                </a:solidFill>
              </a:rPr>
              <a:t> VARCHAR(15),</a:t>
            </a:r>
          </a:p>
          <a:p>
            <a:pPr marL="0" indent="0" algn="l"/>
            <a:r>
              <a:rPr lang="en-US" sz="1200" dirty="0">
                <a:solidFill>
                  <a:schemeClr val="tx1"/>
                </a:solidFill>
              </a:rPr>
              <a:t>    IN </a:t>
            </a:r>
            <a:r>
              <a:rPr lang="en-US" sz="1200" dirty="0" err="1">
                <a:solidFill>
                  <a:schemeClr val="tx1"/>
                </a:solidFill>
              </a:rPr>
              <a:t>p_email</a:t>
            </a:r>
            <a:r>
              <a:rPr lang="en-US" sz="1200" dirty="0">
                <a:solidFill>
                  <a:schemeClr val="tx1"/>
                </a:solidFill>
              </a:rPr>
              <a:t> VARCHAR(100</a:t>
            </a:r>
            <a:r>
              <a:rPr lang="en-US" sz="1200" dirty="0" smtClean="0">
                <a:solidFill>
                  <a:schemeClr val="tx1"/>
                </a:solidFill>
              </a:rPr>
              <a:t>),                </a:t>
            </a:r>
            <a:endParaRPr lang="en-US" sz="1200" dirty="0">
              <a:solidFill>
                <a:schemeClr val="tx1"/>
              </a:solidFill>
            </a:endParaRPr>
          </a:p>
          <a:p>
            <a:pPr marL="0" indent="0" algn="l"/>
            <a:r>
              <a:rPr lang="en-US" sz="1200" dirty="0">
                <a:solidFill>
                  <a:schemeClr val="tx1"/>
                </a:solidFill>
              </a:rPr>
              <a:t>    IN </a:t>
            </a:r>
            <a:r>
              <a:rPr lang="en-US" sz="1200" dirty="0" err="1">
                <a:solidFill>
                  <a:schemeClr val="tx1"/>
                </a:solidFill>
              </a:rPr>
              <a:t>p_street</a:t>
            </a:r>
            <a:r>
              <a:rPr lang="en-US" sz="1200" dirty="0">
                <a:solidFill>
                  <a:schemeClr val="tx1"/>
                </a:solidFill>
              </a:rPr>
              <a:t> VARCHAR(100),</a:t>
            </a:r>
          </a:p>
          <a:p>
            <a:pPr marL="0" indent="0" algn="l"/>
            <a:r>
              <a:rPr lang="en-US" sz="1200" dirty="0">
                <a:solidFill>
                  <a:schemeClr val="tx1"/>
                </a:solidFill>
              </a:rPr>
              <a:t>    IN </a:t>
            </a:r>
            <a:r>
              <a:rPr lang="en-US" sz="1200" dirty="0" err="1">
                <a:solidFill>
                  <a:schemeClr val="tx1"/>
                </a:solidFill>
              </a:rPr>
              <a:t>p_city</a:t>
            </a:r>
            <a:r>
              <a:rPr lang="en-US" sz="1200" dirty="0">
                <a:solidFill>
                  <a:schemeClr val="tx1"/>
                </a:solidFill>
              </a:rPr>
              <a:t> VARCHAR(50),</a:t>
            </a:r>
          </a:p>
          <a:p>
            <a:pPr marL="0" indent="0" algn="l"/>
            <a:r>
              <a:rPr lang="en-US" sz="1200" dirty="0">
                <a:solidFill>
                  <a:schemeClr val="tx1"/>
                </a:solidFill>
              </a:rPr>
              <a:t>    IN </a:t>
            </a:r>
            <a:r>
              <a:rPr lang="en-US" sz="1200" dirty="0" err="1">
                <a:solidFill>
                  <a:schemeClr val="tx1"/>
                </a:solidFill>
              </a:rPr>
              <a:t>p_room_id</a:t>
            </a:r>
            <a:r>
              <a:rPr lang="en-US" sz="1200" dirty="0">
                <a:solidFill>
                  <a:schemeClr val="tx1"/>
                </a:solidFill>
              </a:rPr>
              <a:t> INT</a:t>
            </a:r>
          </a:p>
          <a:p>
            <a:pPr marL="0" indent="0" algn="l"/>
            <a:r>
              <a:rPr lang="en-US" sz="1200" dirty="0">
                <a:solidFill>
                  <a:schemeClr val="tx1"/>
                </a:solidFill>
              </a:rPr>
              <a:t>)</a:t>
            </a:r>
          </a:p>
          <a:p>
            <a:pPr marL="0" indent="0" algn="l"/>
            <a:r>
              <a:rPr lang="en-US" sz="1200" dirty="0">
                <a:solidFill>
                  <a:schemeClr val="tx1"/>
                </a:solidFill>
              </a:rPr>
              <a:t>BEGIN</a:t>
            </a:r>
          </a:p>
          <a:p>
            <a:pPr marL="0" indent="0" algn="l"/>
            <a:r>
              <a:rPr lang="en-US" sz="1200" dirty="0">
                <a:solidFill>
                  <a:schemeClr val="tx1"/>
                </a:solidFill>
              </a:rPr>
              <a:t>    INSERT INTO Patient</a:t>
            </a:r>
          </a:p>
          <a:p>
            <a:pPr marL="0" indent="0" algn="l"/>
            <a:r>
              <a:rPr lang="en-US" sz="1200" dirty="0">
                <a:solidFill>
                  <a:schemeClr val="tx1"/>
                </a:solidFill>
              </a:rPr>
              <a:t>    VALUES (</a:t>
            </a:r>
            <a:r>
              <a:rPr lang="en-US" sz="1200" dirty="0" err="1">
                <a:solidFill>
                  <a:schemeClr val="tx1"/>
                </a:solidFill>
              </a:rPr>
              <a:t>p_id</a:t>
            </a:r>
            <a:r>
              <a:rPr lang="en-US" sz="1200" dirty="0">
                <a:solidFill>
                  <a:schemeClr val="tx1"/>
                </a:solidFill>
              </a:rPr>
              <a:t>, </a:t>
            </a:r>
            <a:r>
              <a:rPr lang="en-US" sz="1200" dirty="0" err="1">
                <a:solidFill>
                  <a:schemeClr val="tx1"/>
                </a:solidFill>
              </a:rPr>
              <a:t>p_name</a:t>
            </a:r>
            <a:r>
              <a:rPr lang="en-US" sz="1200" dirty="0">
                <a:solidFill>
                  <a:schemeClr val="tx1"/>
                </a:solidFill>
              </a:rPr>
              <a:t>, </a:t>
            </a:r>
            <a:r>
              <a:rPr lang="en-US" sz="1200" dirty="0" err="1">
                <a:solidFill>
                  <a:schemeClr val="tx1"/>
                </a:solidFill>
              </a:rPr>
              <a:t>p_dob</a:t>
            </a:r>
            <a:r>
              <a:rPr lang="en-US" sz="1200" dirty="0">
                <a:solidFill>
                  <a:schemeClr val="tx1"/>
                </a:solidFill>
              </a:rPr>
              <a:t>, </a:t>
            </a:r>
            <a:r>
              <a:rPr lang="en-US" sz="1200" dirty="0" err="1">
                <a:solidFill>
                  <a:schemeClr val="tx1"/>
                </a:solidFill>
              </a:rPr>
              <a:t>p_gender</a:t>
            </a:r>
            <a:r>
              <a:rPr lang="en-US" sz="1200" dirty="0">
                <a:solidFill>
                  <a:schemeClr val="tx1"/>
                </a:solidFill>
              </a:rPr>
              <a:t>, </a:t>
            </a:r>
            <a:r>
              <a:rPr lang="en-US" sz="1200" dirty="0" err="1">
                <a:solidFill>
                  <a:schemeClr val="tx1"/>
                </a:solidFill>
              </a:rPr>
              <a:t>p_phone</a:t>
            </a:r>
            <a:r>
              <a:rPr lang="en-US" sz="1200" dirty="0">
                <a:solidFill>
                  <a:schemeClr val="tx1"/>
                </a:solidFill>
              </a:rPr>
              <a:t>, </a:t>
            </a:r>
            <a:r>
              <a:rPr lang="en-US" sz="1200" dirty="0" err="1">
                <a:solidFill>
                  <a:schemeClr val="tx1"/>
                </a:solidFill>
              </a:rPr>
              <a:t>p_email</a:t>
            </a:r>
            <a:r>
              <a:rPr lang="en-US" sz="1200" dirty="0">
                <a:solidFill>
                  <a:schemeClr val="tx1"/>
                </a:solidFill>
              </a:rPr>
              <a:t>, </a:t>
            </a:r>
            <a:r>
              <a:rPr lang="en-US" sz="1200" dirty="0" err="1">
                <a:solidFill>
                  <a:schemeClr val="tx1"/>
                </a:solidFill>
              </a:rPr>
              <a:t>p_street</a:t>
            </a:r>
            <a:r>
              <a:rPr lang="en-US" sz="1200" dirty="0">
                <a:solidFill>
                  <a:schemeClr val="tx1"/>
                </a:solidFill>
              </a:rPr>
              <a:t>, </a:t>
            </a:r>
            <a:r>
              <a:rPr lang="en-US" sz="1200" dirty="0" err="1">
                <a:solidFill>
                  <a:schemeClr val="tx1"/>
                </a:solidFill>
              </a:rPr>
              <a:t>p_city</a:t>
            </a:r>
            <a:r>
              <a:rPr lang="en-US" sz="1200" dirty="0">
                <a:solidFill>
                  <a:schemeClr val="tx1"/>
                </a:solidFill>
              </a:rPr>
              <a:t>, </a:t>
            </a:r>
            <a:r>
              <a:rPr lang="en-US" sz="1200" dirty="0" err="1">
                <a:solidFill>
                  <a:schemeClr val="tx1"/>
                </a:solidFill>
              </a:rPr>
              <a:t>p_room_id</a:t>
            </a:r>
            <a:r>
              <a:rPr lang="en-US" sz="1200" dirty="0">
                <a:solidFill>
                  <a:schemeClr val="tx1"/>
                </a:solidFill>
              </a:rPr>
              <a:t>);</a:t>
            </a:r>
          </a:p>
          <a:p>
            <a:pPr marL="0" indent="0" algn="l"/>
            <a:r>
              <a:rPr lang="en-US" sz="1200" dirty="0">
                <a:solidFill>
                  <a:schemeClr val="tx1"/>
                </a:solidFill>
              </a:rPr>
              <a:t>END//</a:t>
            </a:r>
          </a:p>
          <a:p>
            <a:pPr marL="0" indent="0" algn="l"/>
            <a:r>
              <a:rPr lang="en-US" sz="1200" dirty="0">
                <a:solidFill>
                  <a:schemeClr val="tx1"/>
                </a:solidFill>
              </a:rPr>
              <a:t>DELIMITER ;</a:t>
            </a:r>
          </a:p>
          <a:p>
            <a:pPr marL="0" indent="0" algn="l"/>
            <a:endParaRPr lang="en-IN" sz="1200" dirty="0">
              <a:solidFill>
                <a:schemeClr val="tx1"/>
              </a:solidFill>
            </a:endParaRPr>
          </a:p>
          <a:p>
            <a:pPr algn="l"/>
            <a:endParaRPr lang="en-IN" sz="1200" dirty="0">
              <a:solidFill>
                <a:schemeClr val="tx1"/>
              </a:solidFill>
            </a:endParaRPr>
          </a:p>
        </p:txBody>
      </p:sp>
    </p:spTree>
    <p:extLst>
      <p:ext uri="{BB962C8B-B14F-4D97-AF65-F5344CB8AC3E}">
        <p14:creationId xmlns="" xmlns:p14="http://schemas.microsoft.com/office/powerpoint/2010/main" val="2289776513"/>
      </p:ext>
    </p:extLst>
  </p:cSld>
  <p:clrMapOvr>
    <a:masterClrMapping/>
  </p:clrMapOvr>
  <p:transition>
    <p:fade thruBlk="1"/>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8B2D75C-AA5B-4EE2-ABAB-8A368AE39894}"/>
              </a:ext>
            </a:extLst>
          </p:cNvPr>
          <p:cNvSpPr>
            <a:spLocks noGrp="1"/>
          </p:cNvSpPr>
          <p:nvPr>
            <p:ph type="ctrTitle"/>
          </p:nvPr>
        </p:nvSpPr>
        <p:spPr/>
        <p:txBody>
          <a:bodyPr/>
          <a:lstStyle/>
          <a:p>
            <a:r>
              <a:rPr lang="en-IN" dirty="0"/>
              <a:t>Procedures</a:t>
            </a:r>
          </a:p>
        </p:txBody>
      </p:sp>
      <p:sp>
        <p:nvSpPr>
          <p:cNvPr id="3" name="Subtitle 2">
            <a:extLst>
              <a:ext uri="{FF2B5EF4-FFF2-40B4-BE49-F238E27FC236}">
                <a16:creationId xmlns="" xmlns:a16="http://schemas.microsoft.com/office/drawing/2014/main" id="{176A93B5-CE4B-9D71-0133-B483809FBCB4}"/>
              </a:ext>
            </a:extLst>
          </p:cNvPr>
          <p:cNvSpPr>
            <a:spLocks noGrp="1"/>
          </p:cNvSpPr>
          <p:nvPr>
            <p:ph type="subTitle" idx="1"/>
          </p:nvPr>
        </p:nvSpPr>
        <p:spPr>
          <a:xfrm>
            <a:off x="0" y="914401"/>
            <a:ext cx="9296400" cy="5730239"/>
          </a:xfrm>
        </p:spPr>
        <p:txBody>
          <a:bodyPr/>
          <a:lstStyle/>
          <a:p>
            <a:pPr marL="0" indent="0" algn="l"/>
            <a:r>
              <a:rPr lang="en-IN" sz="1800" b="1" dirty="0">
                <a:solidFill>
                  <a:schemeClr val="tx1"/>
                </a:solidFill>
              </a:rPr>
              <a:t>2.</a:t>
            </a:r>
            <a:r>
              <a:rPr lang="en-US" sz="1800" b="1" dirty="0">
                <a:solidFill>
                  <a:schemeClr val="tx1"/>
                </a:solidFill>
              </a:rPr>
              <a:t> Stored Procedure for Updating Billing Payment Status</a:t>
            </a:r>
          </a:p>
          <a:p>
            <a:pPr marL="0" indent="0" algn="l"/>
            <a:r>
              <a:rPr lang="en-US" sz="1600" b="1" dirty="0">
                <a:solidFill>
                  <a:schemeClr val="tx1"/>
                </a:solidFill>
              </a:rPr>
              <a:t>  Problem Statement:</a:t>
            </a:r>
          </a:p>
          <a:p>
            <a:pPr marL="0" indent="0" algn="l"/>
            <a:r>
              <a:rPr lang="en-US" sz="1600" dirty="0">
                <a:solidFill>
                  <a:schemeClr val="tx1"/>
                </a:solidFill>
              </a:rPr>
              <a:t>  To update the payment status of a bill in the Billing table.</a:t>
            </a:r>
          </a:p>
          <a:p>
            <a:pPr marL="0" indent="0" algn="l"/>
            <a:r>
              <a:rPr lang="en-US" sz="1600" dirty="0">
                <a:solidFill>
                  <a:schemeClr val="tx1"/>
                </a:solidFill>
              </a:rPr>
              <a:t>  </a:t>
            </a:r>
            <a:r>
              <a:rPr lang="en-US" sz="1600" b="1" dirty="0">
                <a:solidFill>
                  <a:schemeClr val="tx1"/>
                </a:solidFill>
              </a:rPr>
              <a:t>SQL Query:</a:t>
            </a:r>
          </a:p>
          <a:p>
            <a:pPr marL="0" indent="0" algn="l"/>
            <a:r>
              <a:rPr lang="en-US" sz="1600" dirty="0">
                <a:solidFill>
                  <a:schemeClr val="tx1"/>
                </a:solidFill>
              </a:rPr>
              <a:t>DELIMITER //</a:t>
            </a:r>
          </a:p>
          <a:p>
            <a:pPr marL="0" indent="0" algn="l"/>
            <a:r>
              <a:rPr lang="en-US" sz="1600" dirty="0">
                <a:solidFill>
                  <a:schemeClr val="tx1"/>
                </a:solidFill>
              </a:rPr>
              <a:t>CREATE PROCEDURE </a:t>
            </a:r>
            <a:r>
              <a:rPr lang="en-US" sz="1600" dirty="0" err="1">
                <a:solidFill>
                  <a:schemeClr val="tx1"/>
                </a:solidFill>
              </a:rPr>
              <a:t>update_payment_status</a:t>
            </a:r>
            <a:r>
              <a:rPr lang="en-US" sz="1600" dirty="0">
                <a:solidFill>
                  <a:schemeClr val="tx1"/>
                </a:solidFill>
              </a:rPr>
              <a:t>(</a:t>
            </a:r>
          </a:p>
          <a:p>
            <a:pPr marL="0" indent="0" algn="l"/>
            <a:r>
              <a:rPr lang="en-US" sz="1600" dirty="0">
                <a:solidFill>
                  <a:schemeClr val="tx1"/>
                </a:solidFill>
              </a:rPr>
              <a:t>    IN </a:t>
            </a:r>
            <a:r>
              <a:rPr lang="en-US" sz="1600" dirty="0" err="1">
                <a:solidFill>
                  <a:schemeClr val="tx1"/>
                </a:solidFill>
              </a:rPr>
              <a:t>p_bill_id</a:t>
            </a:r>
            <a:r>
              <a:rPr lang="en-US" sz="1600" dirty="0">
                <a:solidFill>
                  <a:schemeClr val="tx1"/>
                </a:solidFill>
              </a:rPr>
              <a:t> INT,</a:t>
            </a:r>
          </a:p>
          <a:p>
            <a:pPr marL="0" indent="0" algn="l"/>
            <a:r>
              <a:rPr lang="en-US" sz="1600" dirty="0">
                <a:solidFill>
                  <a:schemeClr val="tx1"/>
                </a:solidFill>
              </a:rPr>
              <a:t>    IN </a:t>
            </a:r>
            <a:r>
              <a:rPr lang="en-US" sz="1600" dirty="0" err="1">
                <a:solidFill>
                  <a:schemeClr val="tx1"/>
                </a:solidFill>
              </a:rPr>
              <a:t>p_status</a:t>
            </a:r>
            <a:r>
              <a:rPr lang="en-US" sz="1600" dirty="0">
                <a:solidFill>
                  <a:schemeClr val="tx1"/>
                </a:solidFill>
              </a:rPr>
              <a:t>  VARCHAR(50)</a:t>
            </a:r>
          </a:p>
          <a:p>
            <a:pPr marL="0" indent="0" algn="l"/>
            <a:r>
              <a:rPr lang="en-US" sz="1600" dirty="0">
                <a:solidFill>
                  <a:schemeClr val="tx1"/>
                </a:solidFill>
              </a:rPr>
              <a:t>)</a:t>
            </a:r>
          </a:p>
          <a:p>
            <a:pPr marL="0" indent="0" algn="l"/>
            <a:r>
              <a:rPr lang="en-US" sz="1600" dirty="0">
                <a:solidFill>
                  <a:schemeClr val="tx1"/>
                </a:solidFill>
              </a:rPr>
              <a:t>BEGIN</a:t>
            </a:r>
          </a:p>
          <a:p>
            <a:pPr marL="0" indent="0" algn="l"/>
            <a:r>
              <a:rPr lang="en-US" sz="1600" dirty="0">
                <a:solidFill>
                  <a:schemeClr val="tx1"/>
                </a:solidFill>
              </a:rPr>
              <a:t>    UPDATE Billing</a:t>
            </a:r>
          </a:p>
          <a:p>
            <a:pPr marL="0" indent="0" algn="l"/>
            <a:r>
              <a:rPr lang="en-US" sz="1600" dirty="0">
                <a:solidFill>
                  <a:schemeClr val="tx1"/>
                </a:solidFill>
              </a:rPr>
              <a:t>    SET </a:t>
            </a:r>
            <a:r>
              <a:rPr lang="en-US" sz="1600" dirty="0" err="1">
                <a:solidFill>
                  <a:schemeClr val="tx1"/>
                </a:solidFill>
              </a:rPr>
              <a:t>payment_status</a:t>
            </a:r>
            <a:r>
              <a:rPr lang="en-US" sz="1600" dirty="0">
                <a:solidFill>
                  <a:schemeClr val="tx1"/>
                </a:solidFill>
              </a:rPr>
              <a:t> = </a:t>
            </a:r>
            <a:r>
              <a:rPr lang="en-US" sz="1600" dirty="0" err="1">
                <a:solidFill>
                  <a:schemeClr val="tx1"/>
                </a:solidFill>
              </a:rPr>
              <a:t>p_status</a:t>
            </a:r>
            <a:endParaRPr lang="en-US" sz="1600" dirty="0">
              <a:solidFill>
                <a:schemeClr val="tx1"/>
              </a:solidFill>
            </a:endParaRPr>
          </a:p>
          <a:p>
            <a:pPr marL="0" indent="0" algn="l"/>
            <a:r>
              <a:rPr lang="en-US" sz="1600" dirty="0">
                <a:solidFill>
                  <a:schemeClr val="tx1"/>
                </a:solidFill>
              </a:rPr>
              <a:t>    WHERE </a:t>
            </a:r>
            <a:r>
              <a:rPr lang="en-US" sz="1600" dirty="0" err="1">
                <a:solidFill>
                  <a:schemeClr val="tx1"/>
                </a:solidFill>
              </a:rPr>
              <a:t>bill_id</a:t>
            </a:r>
            <a:r>
              <a:rPr lang="en-US" sz="1600" dirty="0">
                <a:solidFill>
                  <a:schemeClr val="tx1"/>
                </a:solidFill>
              </a:rPr>
              <a:t> = </a:t>
            </a:r>
            <a:r>
              <a:rPr lang="en-US" sz="1600" dirty="0" err="1">
                <a:solidFill>
                  <a:schemeClr val="tx1"/>
                </a:solidFill>
              </a:rPr>
              <a:t>p_bill_id</a:t>
            </a:r>
            <a:r>
              <a:rPr lang="en-US" sz="1600" dirty="0">
                <a:solidFill>
                  <a:schemeClr val="tx1"/>
                </a:solidFill>
              </a:rPr>
              <a:t>;</a:t>
            </a:r>
          </a:p>
          <a:p>
            <a:pPr marL="0" indent="0" algn="l"/>
            <a:r>
              <a:rPr lang="en-US" sz="1600" dirty="0">
                <a:solidFill>
                  <a:schemeClr val="tx1"/>
                </a:solidFill>
              </a:rPr>
              <a:t>END//</a:t>
            </a:r>
          </a:p>
          <a:p>
            <a:pPr marL="0" indent="0" algn="l"/>
            <a:r>
              <a:rPr lang="en-US" sz="1600" dirty="0">
                <a:solidFill>
                  <a:schemeClr val="tx1"/>
                </a:solidFill>
              </a:rPr>
              <a:t>DELIMITER ;</a:t>
            </a:r>
            <a:endParaRPr lang="en-IN" sz="1600" dirty="0">
              <a:solidFill>
                <a:schemeClr val="tx1"/>
              </a:solidFill>
            </a:endParaRPr>
          </a:p>
          <a:p>
            <a:pPr algn="l"/>
            <a:endParaRPr lang="en-IN" sz="1600" dirty="0">
              <a:solidFill>
                <a:schemeClr val="tx1"/>
              </a:solidFill>
            </a:endParaRPr>
          </a:p>
        </p:txBody>
      </p:sp>
    </p:spTree>
    <p:extLst>
      <p:ext uri="{BB962C8B-B14F-4D97-AF65-F5344CB8AC3E}">
        <p14:creationId xmlns="" xmlns:p14="http://schemas.microsoft.com/office/powerpoint/2010/main" val="1288668219"/>
      </p:ext>
    </p:extLst>
  </p:cSld>
  <p:clrMapOvr>
    <a:masterClrMapping/>
  </p:clrMapOvr>
  <p:transition>
    <p:fade thruBlk="1"/>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2487A41-0B82-FD26-5E7E-C6604338B92A}"/>
              </a:ext>
            </a:extLst>
          </p:cNvPr>
          <p:cNvSpPr>
            <a:spLocks noGrp="1"/>
          </p:cNvSpPr>
          <p:nvPr>
            <p:ph type="ctrTitle"/>
          </p:nvPr>
        </p:nvSpPr>
        <p:spPr/>
        <p:txBody>
          <a:bodyPr/>
          <a:lstStyle/>
          <a:p>
            <a:r>
              <a:rPr lang="en-IN" dirty="0"/>
              <a:t>Triggers</a:t>
            </a:r>
          </a:p>
        </p:txBody>
      </p:sp>
      <p:sp>
        <p:nvSpPr>
          <p:cNvPr id="3" name="Subtitle 2">
            <a:extLst>
              <a:ext uri="{FF2B5EF4-FFF2-40B4-BE49-F238E27FC236}">
                <a16:creationId xmlns="" xmlns:a16="http://schemas.microsoft.com/office/drawing/2014/main" id="{187659D8-C0EC-3167-4F71-E16D0668AA8F}"/>
              </a:ext>
            </a:extLst>
          </p:cNvPr>
          <p:cNvSpPr>
            <a:spLocks noGrp="1"/>
          </p:cNvSpPr>
          <p:nvPr>
            <p:ph type="subTitle" idx="1"/>
          </p:nvPr>
        </p:nvSpPr>
        <p:spPr>
          <a:xfrm>
            <a:off x="0" y="914401"/>
            <a:ext cx="9144000" cy="5775959"/>
          </a:xfrm>
        </p:spPr>
        <p:txBody>
          <a:bodyPr/>
          <a:lstStyle/>
          <a:p>
            <a:pPr algn="l"/>
            <a:r>
              <a:rPr lang="en-IN" sz="2000" dirty="0">
                <a:solidFill>
                  <a:schemeClr val="tx1"/>
                </a:solidFill>
                <a:cs typeface="Times New Roman" panose="02020603050405020304" pitchFamily="18" charset="0"/>
              </a:rPr>
              <a:t>A </a:t>
            </a:r>
            <a:r>
              <a:rPr lang="en-IN" sz="2000" b="1" dirty="0">
                <a:solidFill>
                  <a:schemeClr val="tx1"/>
                </a:solidFill>
                <a:cs typeface="Times New Roman" panose="02020603050405020304" pitchFamily="18" charset="0"/>
              </a:rPr>
              <a:t>Trigger</a:t>
            </a:r>
            <a:r>
              <a:rPr lang="en-IN" sz="2000" dirty="0">
                <a:solidFill>
                  <a:schemeClr val="tx1"/>
                </a:solidFill>
                <a:cs typeface="Times New Roman" panose="02020603050405020304" pitchFamily="18" charset="0"/>
              </a:rPr>
              <a:t> in MySQL is a special type of stored program that </a:t>
            </a:r>
            <a:r>
              <a:rPr lang="en-IN" sz="2000" b="1" dirty="0">
                <a:solidFill>
                  <a:schemeClr val="tx1"/>
                </a:solidFill>
                <a:cs typeface="Times New Roman" panose="02020603050405020304" pitchFamily="18" charset="0"/>
              </a:rPr>
              <a:t>automatically executes</a:t>
            </a:r>
            <a:r>
              <a:rPr lang="en-IN" sz="2000" dirty="0">
                <a:solidFill>
                  <a:schemeClr val="tx1"/>
                </a:solidFill>
                <a:cs typeface="Times New Roman" panose="02020603050405020304" pitchFamily="18" charset="0"/>
              </a:rPr>
              <a:t> (fires) in response to specific events on a table.</a:t>
            </a:r>
          </a:p>
          <a:p>
            <a:pPr marL="0" indent="0" algn="l"/>
            <a:r>
              <a:rPr lang="en-IN" sz="2000" dirty="0">
                <a:solidFill>
                  <a:schemeClr val="tx1"/>
                </a:solidFill>
                <a:cs typeface="Times New Roman" panose="02020603050405020304" pitchFamily="18" charset="0"/>
              </a:rPr>
              <a:t>  These events are usually:</a:t>
            </a:r>
          </a:p>
          <a:p>
            <a:pPr algn="l"/>
            <a:r>
              <a:rPr lang="en-IN" sz="2000" b="1" dirty="0">
                <a:solidFill>
                  <a:schemeClr val="tx1"/>
                </a:solidFill>
                <a:cs typeface="Times New Roman" panose="02020603050405020304" pitchFamily="18" charset="0"/>
              </a:rPr>
              <a:t>INSERT</a:t>
            </a:r>
            <a:endParaRPr lang="en-IN" sz="2000" dirty="0">
              <a:solidFill>
                <a:schemeClr val="tx1"/>
              </a:solidFill>
              <a:cs typeface="Times New Roman" panose="02020603050405020304" pitchFamily="18" charset="0"/>
            </a:endParaRPr>
          </a:p>
          <a:p>
            <a:pPr algn="l"/>
            <a:r>
              <a:rPr lang="en-IN" sz="2000" b="1" dirty="0">
                <a:solidFill>
                  <a:schemeClr val="tx1"/>
                </a:solidFill>
                <a:cs typeface="Times New Roman" panose="02020603050405020304" pitchFamily="18" charset="0"/>
              </a:rPr>
              <a:t>UPDATE</a:t>
            </a:r>
            <a:endParaRPr lang="en-IN" sz="2000" dirty="0">
              <a:solidFill>
                <a:schemeClr val="tx1"/>
              </a:solidFill>
              <a:cs typeface="Times New Roman" panose="02020603050405020304" pitchFamily="18" charset="0"/>
            </a:endParaRPr>
          </a:p>
          <a:p>
            <a:pPr algn="l"/>
            <a:r>
              <a:rPr lang="en-IN" sz="2000" b="1" dirty="0">
                <a:solidFill>
                  <a:schemeClr val="tx1"/>
                </a:solidFill>
                <a:cs typeface="Times New Roman" panose="02020603050405020304" pitchFamily="18" charset="0"/>
              </a:rPr>
              <a:t>DELETE</a:t>
            </a:r>
          </a:p>
          <a:p>
            <a:pPr marL="0" indent="0" algn="l"/>
            <a:r>
              <a:rPr lang="en-IN" sz="2000" dirty="0">
                <a:solidFill>
                  <a:schemeClr val="tx1"/>
                </a:solidFill>
                <a:cs typeface="Times New Roman" panose="02020603050405020304" pitchFamily="18" charset="0"/>
              </a:rPr>
              <a:t>Triggers run </a:t>
            </a:r>
            <a:r>
              <a:rPr lang="en-IN" sz="2000" b="1" dirty="0">
                <a:solidFill>
                  <a:schemeClr val="tx1"/>
                </a:solidFill>
                <a:cs typeface="Times New Roman" panose="02020603050405020304" pitchFamily="18" charset="0"/>
              </a:rPr>
              <a:t>without being called </a:t>
            </a:r>
            <a:r>
              <a:rPr lang="en-IN" sz="2000" b="1" dirty="0" err="1">
                <a:solidFill>
                  <a:schemeClr val="tx1"/>
                </a:solidFill>
                <a:cs typeface="Times New Roman" panose="02020603050405020304" pitchFamily="18" charset="0"/>
              </a:rPr>
              <a:t>manually</a:t>
            </a:r>
            <a:r>
              <a:rPr lang="en-IN" sz="2000" dirty="0" err="1">
                <a:solidFill>
                  <a:schemeClr val="tx1"/>
                </a:solidFill>
                <a:cs typeface="Times New Roman" panose="02020603050405020304" pitchFamily="18" charset="0"/>
              </a:rPr>
              <a:t>.They</a:t>
            </a:r>
            <a:r>
              <a:rPr lang="en-IN" sz="2000" dirty="0">
                <a:solidFill>
                  <a:schemeClr val="tx1"/>
                </a:solidFill>
                <a:cs typeface="Times New Roman" panose="02020603050405020304" pitchFamily="18" charset="0"/>
              </a:rPr>
              <a:t> execute </a:t>
            </a:r>
            <a:r>
              <a:rPr lang="en-IN" sz="2000" b="1" dirty="0">
                <a:solidFill>
                  <a:schemeClr val="tx1"/>
                </a:solidFill>
                <a:cs typeface="Times New Roman" panose="02020603050405020304" pitchFamily="18" charset="0"/>
              </a:rPr>
              <a:t>automatically</a:t>
            </a:r>
            <a:r>
              <a:rPr lang="en-IN" sz="2000" dirty="0">
                <a:solidFill>
                  <a:schemeClr val="tx1"/>
                </a:solidFill>
                <a:cs typeface="Times New Roman" panose="02020603050405020304" pitchFamily="18" charset="0"/>
              </a:rPr>
              <a:t> whenever the defined action occurs.</a:t>
            </a:r>
          </a:p>
          <a:p>
            <a:pPr marL="0" indent="0" algn="l"/>
            <a:r>
              <a:rPr lang="en-IN" sz="2000" dirty="0">
                <a:solidFill>
                  <a:schemeClr val="tx1"/>
                </a:solidFill>
                <a:cs typeface="Times New Roman" panose="02020603050405020304" pitchFamily="18" charset="0"/>
              </a:rPr>
              <a:t>Think of a trigger </a:t>
            </a:r>
            <a:r>
              <a:rPr lang="en-IN" sz="2000" dirty="0" err="1">
                <a:solidFill>
                  <a:schemeClr val="tx1"/>
                </a:solidFill>
                <a:cs typeface="Times New Roman" panose="02020603050405020304" pitchFamily="18" charset="0"/>
              </a:rPr>
              <a:t>as:</a:t>
            </a:r>
            <a:r>
              <a:rPr lang="en-IN" sz="2000" b="1" dirty="0" err="1">
                <a:solidFill>
                  <a:schemeClr val="tx1"/>
                </a:solidFill>
                <a:cs typeface="Times New Roman" panose="02020603050405020304" pitchFamily="18" charset="0"/>
              </a:rPr>
              <a:t>“Do</a:t>
            </a:r>
            <a:r>
              <a:rPr lang="en-IN" sz="2000" b="1" dirty="0">
                <a:solidFill>
                  <a:schemeClr val="tx1"/>
                </a:solidFill>
                <a:cs typeface="Times New Roman" panose="02020603050405020304" pitchFamily="18" charset="0"/>
              </a:rPr>
              <a:t> something automatically whenever the data changes.”</a:t>
            </a:r>
            <a:endParaRPr lang="en-IN" sz="2000" dirty="0">
              <a:solidFill>
                <a:schemeClr val="tx1"/>
              </a:solidFill>
              <a:cs typeface="Times New Roman" panose="02020603050405020304" pitchFamily="18" charset="0"/>
            </a:endParaRPr>
          </a:p>
          <a:p>
            <a:pPr marL="114300" indent="0" algn="l"/>
            <a:r>
              <a:rPr lang="en-IN" sz="2000" b="1" dirty="0">
                <a:solidFill>
                  <a:schemeClr val="tx1"/>
                </a:solidFill>
                <a:cs typeface="Times New Roman" panose="02020603050405020304" pitchFamily="18" charset="0"/>
              </a:rPr>
              <a:t>Why Use Triggers?</a:t>
            </a:r>
          </a:p>
          <a:p>
            <a:pPr algn="l"/>
            <a:r>
              <a:rPr lang="en-IN" sz="2000" b="1" dirty="0">
                <a:solidFill>
                  <a:schemeClr val="tx1"/>
                </a:solidFill>
                <a:cs typeface="Times New Roman" panose="02020603050405020304" pitchFamily="18" charset="0"/>
              </a:rPr>
              <a:t>Automate actions</a:t>
            </a:r>
            <a:r>
              <a:rPr lang="en-IN" sz="2000" dirty="0">
                <a:solidFill>
                  <a:schemeClr val="tx1"/>
                </a:solidFill>
                <a:cs typeface="Times New Roman" panose="02020603050405020304" pitchFamily="18" charset="0"/>
              </a:rPr>
              <a:t> — No need to write code again and again</a:t>
            </a:r>
          </a:p>
          <a:p>
            <a:pPr algn="l"/>
            <a:r>
              <a:rPr lang="en-IN" sz="2000" b="1" dirty="0">
                <a:solidFill>
                  <a:schemeClr val="tx1"/>
                </a:solidFill>
                <a:cs typeface="Times New Roman" panose="02020603050405020304" pitchFamily="18" charset="0"/>
              </a:rPr>
              <a:t>Ensure data accuracy</a:t>
            </a:r>
            <a:r>
              <a:rPr lang="en-IN" sz="2000" dirty="0">
                <a:solidFill>
                  <a:schemeClr val="tx1"/>
                </a:solidFill>
                <a:cs typeface="Times New Roman" panose="02020603050405020304" pitchFamily="18" charset="0"/>
              </a:rPr>
              <a:t> — Useful for maintaining data integrity</a:t>
            </a:r>
          </a:p>
          <a:p>
            <a:pPr algn="l"/>
            <a:r>
              <a:rPr lang="en-IN" sz="2000" b="1" dirty="0">
                <a:solidFill>
                  <a:schemeClr val="tx1"/>
                </a:solidFill>
                <a:cs typeface="Times New Roman" panose="02020603050405020304" pitchFamily="18" charset="0"/>
              </a:rPr>
              <a:t>Perform automatic updates</a:t>
            </a:r>
            <a:r>
              <a:rPr lang="en-IN" sz="2000" dirty="0">
                <a:solidFill>
                  <a:schemeClr val="tx1"/>
                </a:solidFill>
                <a:cs typeface="Times New Roman" panose="02020603050405020304" pitchFamily="18" charset="0"/>
              </a:rPr>
              <a:t> — price changes, stock updates, timestamps</a:t>
            </a:r>
          </a:p>
          <a:p>
            <a:pPr algn="l"/>
            <a:r>
              <a:rPr lang="en-IN" sz="2000" b="1" dirty="0">
                <a:solidFill>
                  <a:schemeClr val="tx1"/>
                </a:solidFill>
                <a:cs typeface="Times New Roman" panose="02020603050405020304" pitchFamily="18" charset="0"/>
              </a:rPr>
              <a:t>Monitor changes</a:t>
            </a:r>
            <a:r>
              <a:rPr lang="en-IN" sz="2000" dirty="0">
                <a:solidFill>
                  <a:schemeClr val="tx1"/>
                </a:solidFill>
                <a:cs typeface="Times New Roman" panose="02020603050405020304" pitchFamily="18" charset="0"/>
              </a:rPr>
              <a:t> — useful for logs, tracking, audit trails</a:t>
            </a:r>
          </a:p>
          <a:p>
            <a:pPr algn="l"/>
            <a:r>
              <a:rPr lang="en-IN" sz="2000" b="1" dirty="0">
                <a:solidFill>
                  <a:schemeClr val="tx1"/>
                </a:solidFill>
                <a:cs typeface="Times New Roman" panose="02020603050405020304" pitchFamily="18" charset="0"/>
              </a:rPr>
              <a:t>Prevent invalid data</a:t>
            </a:r>
            <a:r>
              <a:rPr lang="en-IN" sz="2000" dirty="0">
                <a:solidFill>
                  <a:schemeClr val="tx1"/>
                </a:solidFill>
                <a:cs typeface="Times New Roman" panose="02020603050405020304" pitchFamily="18" charset="0"/>
              </a:rPr>
              <a:t> — validate before insert/update</a:t>
            </a:r>
          </a:p>
          <a:p>
            <a:pPr algn="l"/>
            <a:endParaRPr lang="en-IN" sz="2000" dirty="0">
              <a:solidFill>
                <a:schemeClr val="tx1"/>
              </a:solidFill>
            </a:endParaRPr>
          </a:p>
          <a:p>
            <a:pPr algn="l"/>
            <a:endParaRPr lang="en-IN" sz="2000" dirty="0">
              <a:solidFill>
                <a:schemeClr val="tx1"/>
              </a:solidFill>
            </a:endParaRPr>
          </a:p>
        </p:txBody>
      </p:sp>
    </p:spTree>
    <p:extLst>
      <p:ext uri="{BB962C8B-B14F-4D97-AF65-F5344CB8AC3E}">
        <p14:creationId xmlns="" xmlns:p14="http://schemas.microsoft.com/office/powerpoint/2010/main" val="1164576775"/>
      </p:ext>
    </p:extLst>
  </p:cSld>
  <p:clrMapOvr>
    <a:masterClrMapping/>
  </p:clrMapOvr>
  <p:transition>
    <p:fade thruBlk="1"/>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FCE3D15-A7DE-D6A2-A3FB-50957AEE2537}"/>
              </a:ext>
            </a:extLst>
          </p:cNvPr>
          <p:cNvSpPr>
            <a:spLocks noGrp="1"/>
          </p:cNvSpPr>
          <p:nvPr>
            <p:ph type="ctrTitle"/>
          </p:nvPr>
        </p:nvSpPr>
        <p:spPr/>
        <p:txBody>
          <a:bodyPr/>
          <a:lstStyle/>
          <a:p>
            <a:r>
              <a:rPr lang="en-IN" dirty="0"/>
              <a:t>Triggers</a:t>
            </a:r>
          </a:p>
        </p:txBody>
      </p:sp>
      <p:sp>
        <p:nvSpPr>
          <p:cNvPr id="3" name="Subtitle 2">
            <a:extLst>
              <a:ext uri="{FF2B5EF4-FFF2-40B4-BE49-F238E27FC236}">
                <a16:creationId xmlns="" xmlns:a16="http://schemas.microsoft.com/office/drawing/2014/main" id="{11A2A9E9-E836-F9A9-AF40-F42134F74ADC}"/>
              </a:ext>
            </a:extLst>
          </p:cNvPr>
          <p:cNvSpPr>
            <a:spLocks noGrp="1"/>
          </p:cNvSpPr>
          <p:nvPr>
            <p:ph type="subTitle" idx="1"/>
          </p:nvPr>
        </p:nvSpPr>
        <p:spPr>
          <a:xfrm>
            <a:off x="184558" y="914401"/>
            <a:ext cx="9172802" cy="5738069"/>
          </a:xfrm>
        </p:spPr>
        <p:txBody>
          <a:bodyPr/>
          <a:lstStyle/>
          <a:p>
            <a:pPr marL="0" indent="0" algn="l"/>
            <a:r>
              <a:rPr lang="en-IN" sz="1100" b="1" dirty="0">
                <a:solidFill>
                  <a:schemeClr val="tx1"/>
                </a:solidFill>
              </a:rPr>
              <a:t>1. TRIGGER FOR INSERT DATA</a:t>
            </a:r>
          </a:p>
          <a:p>
            <a:pPr marL="0" indent="0" algn="l"/>
            <a:r>
              <a:rPr lang="en-US" sz="1100" b="1" dirty="0">
                <a:solidFill>
                  <a:schemeClr val="tx1"/>
                </a:solidFill>
              </a:rPr>
              <a:t>Problem Statement:</a:t>
            </a:r>
          </a:p>
          <a:p>
            <a:pPr marL="0" indent="0" algn="l"/>
            <a:r>
              <a:rPr lang="en-US" sz="1100" dirty="0">
                <a:solidFill>
                  <a:schemeClr val="tx1"/>
                </a:solidFill>
              </a:rPr>
              <a:t>When a new patient/member is added, the system should automatically record the entry.</a:t>
            </a:r>
          </a:p>
          <a:p>
            <a:pPr marL="0" indent="0" algn="l"/>
            <a:r>
              <a:rPr lang="en-US" sz="1100" b="1" dirty="0">
                <a:solidFill>
                  <a:schemeClr val="tx1"/>
                </a:solidFill>
              </a:rPr>
              <a:t>SQL TRIGGER:</a:t>
            </a:r>
          </a:p>
          <a:p>
            <a:pPr marL="0" indent="0" algn="l"/>
            <a:r>
              <a:rPr lang="en-US" sz="1100" dirty="0">
                <a:solidFill>
                  <a:schemeClr val="tx1"/>
                </a:solidFill>
              </a:rPr>
              <a:t>DELIMITER //</a:t>
            </a:r>
          </a:p>
          <a:p>
            <a:pPr marL="0" indent="0" algn="l"/>
            <a:r>
              <a:rPr lang="en-US" sz="1100" dirty="0">
                <a:solidFill>
                  <a:schemeClr val="tx1"/>
                </a:solidFill>
              </a:rPr>
              <a:t>CREATE TRIGGER </a:t>
            </a:r>
            <a:r>
              <a:rPr lang="en-US" sz="1100" dirty="0" err="1">
                <a:solidFill>
                  <a:schemeClr val="tx1"/>
                </a:solidFill>
              </a:rPr>
              <a:t>department_after_insert</a:t>
            </a:r>
            <a:endParaRPr lang="en-US" sz="1100" dirty="0">
              <a:solidFill>
                <a:schemeClr val="tx1"/>
              </a:solidFill>
            </a:endParaRPr>
          </a:p>
          <a:p>
            <a:pPr marL="0" indent="0" algn="l"/>
            <a:r>
              <a:rPr lang="en-US" sz="1100" dirty="0">
                <a:solidFill>
                  <a:schemeClr val="tx1"/>
                </a:solidFill>
              </a:rPr>
              <a:t>AFTER INSERT ON Department</a:t>
            </a:r>
          </a:p>
          <a:p>
            <a:pPr marL="0" indent="0" algn="l"/>
            <a:r>
              <a:rPr lang="en-US" sz="1100" dirty="0">
                <a:solidFill>
                  <a:schemeClr val="tx1"/>
                </a:solidFill>
              </a:rPr>
              <a:t>FOR EACH ROW</a:t>
            </a:r>
          </a:p>
          <a:p>
            <a:pPr marL="0" indent="0" algn="l"/>
            <a:r>
              <a:rPr lang="en-US" sz="1100" dirty="0">
                <a:solidFill>
                  <a:schemeClr val="tx1"/>
                </a:solidFill>
              </a:rPr>
              <a:t>BEGIN</a:t>
            </a:r>
          </a:p>
          <a:p>
            <a:pPr marL="0" indent="0" algn="l"/>
            <a:r>
              <a:rPr lang="en-US" sz="1100" dirty="0">
                <a:solidFill>
                  <a:schemeClr val="tx1"/>
                </a:solidFill>
              </a:rPr>
              <a:t>    INSERT INTO </a:t>
            </a:r>
            <a:r>
              <a:rPr lang="en-US" sz="1100" dirty="0" err="1">
                <a:solidFill>
                  <a:schemeClr val="tx1"/>
                </a:solidFill>
              </a:rPr>
              <a:t>log_table</a:t>
            </a:r>
            <a:endParaRPr lang="en-US" sz="1100" dirty="0">
              <a:solidFill>
                <a:schemeClr val="tx1"/>
              </a:solidFill>
            </a:endParaRPr>
          </a:p>
          <a:p>
            <a:pPr marL="0" indent="0" algn="l"/>
            <a:r>
              <a:rPr lang="en-US" sz="1100" dirty="0">
                <a:solidFill>
                  <a:schemeClr val="tx1"/>
                </a:solidFill>
              </a:rPr>
              <a:t>    (</a:t>
            </a:r>
            <a:r>
              <a:rPr lang="en-US" sz="1100" dirty="0" err="1">
                <a:solidFill>
                  <a:schemeClr val="tx1"/>
                </a:solidFill>
              </a:rPr>
              <a:t>table_name</a:t>
            </a:r>
            <a:r>
              <a:rPr lang="en-US" sz="1100" dirty="0">
                <a:solidFill>
                  <a:schemeClr val="tx1"/>
                </a:solidFill>
              </a:rPr>
              <a:t>, </a:t>
            </a:r>
            <a:r>
              <a:rPr lang="en-US" sz="1100" dirty="0" err="1">
                <a:solidFill>
                  <a:schemeClr val="tx1"/>
                </a:solidFill>
              </a:rPr>
              <a:t>action_type</a:t>
            </a:r>
            <a:r>
              <a:rPr lang="en-US" sz="1100" dirty="0">
                <a:solidFill>
                  <a:schemeClr val="tx1"/>
                </a:solidFill>
              </a:rPr>
              <a:t>, </a:t>
            </a:r>
            <a:r>
              <a:rPr lang="en-US" sz="1100" dirty="0" err="1">
                <a:solidFill>
                  <a:schemeClr val="tx1"/>
                </a:solidFill>
              </a:rPr>
              <a:t>action_time</a:t>
            </a:r>
            <a:r>
              <a:rPr lang="en-US" sz="1100" dirty="0">
                <a:solidFill>
                  <a:schemeClr val="tx1"/>
                </a:solidFill>
              </a:rPr>
              <a:t>, </a:t>
            </a:r>
            <a:r>
              <a:rPr lang="en-US" sz="1100" dirty="0" err="1">
                <a:solidFill>
                  <a:schemeClr val="tx1"/>
                </a:solidFill>
              </a:rPr>
              <a:t>record_id</a:t>
            </a:r>
            <a:r>
              <a:rPr lang="en-US" sz="1100" dirty="0">
                <a:solidFill>
                  <a:schemeClr val="tx1"/>
                </a:solidFill>
              </a:rPr>
              <a:t>, details)</a:t>
            </a:r>
          </a:p>
          <a:p>
            <a:pPr marL="0" indent="0" algn="l"/>
            <a:r>
              <a:rPr lang="en-US" sz="1100" dirty="0">
                <a:solidFill>
                  <a:schemeClr val="tx1"/>
                </a:solidFill>
              </a:rPr>
              <a:t>    VALUES (</a:t>
            </a:r>
          </a:p>
          <a:p>
            <a:pPr marL="0" indent="0" algn="l"/>
            <a:r>
              <a:rPr lang="en-US" sz="1100" dirty="0">
                <a:solidFill>
                  <a:schemeClr val="tx1"/>
                </a:solidFill>
              </a:rPr>
              <a:t>        'Department',</a:t>
            </a:r>
          </a:p>
          <a:p>
            <a:pPr marL="0" indent="0" algn="l"/>
            <a:r>
              <a:rPr lang="en-US" sz="1100" dirty="0">
                <a:solidFill>
                  <a:schemeClr val="tx1"/>
                </a:solidFill>
              </a:rPr>
              <a:t>        'INSERT',</a:t>
            </a:r>
          </a:p>
          <a:p>
            <a:pPr marL="0" indent="0" algn="l"/>
            <a:r>
              <a:rPr lang="en-US" sz="1100" dirty="0">
                <a:solidFill>
                  <a:schemeClr val="tx1"/>
                </a:solidFill>
              </a:rPr>
              <a:t>        NOW(),</a:t>
            </a:r>
          </a:p>
          <a:p>
            <a:pPr marL="0" indent="0" algn="l"/>
            <a:r>
              <a:rPr lang="en-US" sz="1100" dirty="0">
                <a:solidFill>
                  <a:schemeClr val="tx1"/>
                </a:solidFill>
              </a:rPr>
              <a:t>        </a:t>
            </a:r>
            <a:r>
              <a:rPr lang="en-US" sz="1100" dirty="0" err="1">
                <a:solidFill>
                  <a:schemeClr val="tx1"/>
                </a:solidFill>
              </a:rPr>
              <a:t>NEW.dept_id</a:t>
            </a:r>
            <a:r>
              <a:rPr lang="en-US" sz="1100" dirty="0">
                <a:solidFill>
                  <a:schemeClr val="tx1"/>
                </a:solidFill>
              </a:rPr>
              <a:t>,</a:t>
            </a:r>
          </a:p>
          <a:p>
            <a:pPr marL="0" indent="0" algn="l"/>
            <a:r>
              <a:rPr lang="en-US" sz="1100" dirty="0">
                <a:solidFill>
                  <a:schemeClr val="tx1"/>
                </a:solidFill>
              </a:rPr>
              <a:t>        CONCAT(</a:t>
            </a:r>
          </a:p>
          <a:p>
            <a:pPr marL="0" indent="0" algn="l"/>
            <a:r>
              <a:rPr lang="en-US" sz="1100" dirty="0">
                <a:solidFill>
                  <a:schemeClr val="tx1"/>
                </a:solidFill>
              </a:rPr>
              <a:t>            '</a:t>
            </a:r>
            <a:r>
              <a:rPr lang="en-US" sz="1100" dirty="0" err="1">
                <a:solidFill>
                  <a:schemeClr val="tx1"/>
                </a:solidFill>
              </a:rPr>
              <a:t>dept_name</a:t>
            </a:r>
            <a:r>
              <a:rPr lang="en-US" sz="1100" dirty="0">
                <a:solidFill>
                  <a:schemeClr val="tx1"/>
                </a:solidFill>
              </a:rPr>
              <a:t>=', </a:t>
            </a:r>
            <a:r>
              <a:rPr lang="en-US" sz="1100" dirty="0" err="1">
                <a:solidFill>
                  <a:schemeClr val="tx1"/>
                </a:solidFill>
              </a:rPr>
              <a:t>NEW.dept_name</a:t>
            </a:r>
            <a:r>
              <a:rPr lang="en-US" sz="1100" dirty="0">
                <a:solidFill>
                  <a:schemeClr val="tx1"/>
                </a:solidFill>
              </a:rPr>
              <a:t>,</a:t>
            </a:r>
          </a:p>
          <a:p>
            <a:pPr marL="0" indent="0" algn="l"/>
            <a:r>
              <a:rPr lang="en-US" sz="1100" dirty="0">
                <a:solidFill>
                  <a:schemeClr val="tx1"/>
                </a:solidFill>
              </a:rPr>
              <a:t>            ', location=', </a:t>
            </a:r>
            <a:r>
              <a:rPr lang="en-US" sz="1100" dirty="0" err="1">
                <a:solidFill>
                  <a:schemeClr val="tx1"/>
                </a:solidFill>
              </a:rPr>
              <a:t>NEW.location</a:t>
            </a:r>
            <a:r>
              <a:rPr lang="en-US" sz="1100" dirty="0">
                <a:solidFill>
                  <a:schemeClr val="tx1"/>
                </a:solidFill>
              </a:rPr>
              <a:t>,</a:t>
            </a:r>
          </a:p>
          <a:p>
            <a:pPr marL="0" indent="0" algn="l"/>
            <a:r>
              <a:rPr lang="en-US" sz="1100" dirty="0">
                <a:solidFill>
                  <a:schemeClr val="tx1"/>
                </a:solidFill>
              </a:rPr>
              <a:t>            ', </a:t>
            </a:r>
            <a:r>
              <a:rPr lang="en-US" sz="1100" dirty="0" err="1">
                <a:solidFill>
                  <a:schemeClr val="tx1"/>
                </a:solidFill>
              </a:rPr>
              <a:t>head_dept</a:t>
            </a:r>
            <a:r>
              <a:rPr lang="en-US" sz="1100" dirty="0">
                <a:solidFill>
                  <a:schemeClr val="tx1"/>
                </a:solidFill>
              </a:rPr>
              <a:t>=', </a:t>
            </a:r>
            <a:r>
              <a:rPr lang="en-US" sz="1100" dirty="0" err="1">
                <a:solidFill>
                  <a:schemeClr val="tx1"/>
                </a:solidFill>
              </a:rPr>
              <a:t>NEW.head_dept</a:t>
            </a:r>
            <a:endParaRPr lang="en-US" sz="1100" dirty="0">
              <a:solidFill>
                <a:schemeClr val="tx1"/>
              </a:solidFill>
            </a:endParaRPr>
          </a:p>
          <a:p>
            <a:pPr marL="0" indent="0" algn="l"/>
            <a:r>
              <a:rPr lang="en-US" sz="1100" dirty="0">
                <a:solidFill>
                  <a:schemeClr val="tx1"/>
                </a:solidFill>
              </a:rPr>
              <a:t>        )</a:t>
            </a:r>
          </a:p>
          <a:p>
            <a:pPr marL="0" indent="0" algn="l"/>
            <a:r>
              <a:rPr lang="en-US" sz="1100" dirty="0">
                <a:solidFill>
                  <a:schemeClr val="tx1"/>
                </a:solidFill>
              </a:rPr>
              <a:t>    );</a:t>
            </a:r>
          </a:p>
          <a:p>
            <a:pPr marL="0" indent="0" algn="l"/>
            <a:r>
              <a:rPr lang="en-US" sz="1100" dirty="0">
                <a:solidFill>
                  <a:schemeClr val="tx1"/>
                </a:solidFill>
              </a:rPr>
              <a:t>END//</a:t>
            </a:r>
          </a:p>
          <a:p>
            <a:pPr marL="0" indent="0" algn="l"/>
            <a:endParaRPr lang="en-IN" sz="1100" dirty="0">
              <a:solidFill>
                <a:schemeClr val="tx1"/>
              </a:solidFill>
            </a:endParaRPr>
          </a:p>
          <a:p>
            <a:pPr algn="l"/>
            <a:endParaRPr lang="en-IN" sz="1400" dirty="0">
              <a:solidFill>
                <a:schemeClr val="tx1"/>
              </a:solidFill>
            </a:endParaRPr>
          </a:p>
        </p:txBody>
      </p:sp>
    </p:spTree>
    <p:extLst>
      <p:ext uri="{BB962C8B-B14F-4D97-AF65-F5344CB8AC3E}">
        <p14:creationId xmlns="" xmlns:p14="http://schemas.microsoft.com/office/powerpoint/2010/main" val="1193920453"/>
      </p:ext>
    </p:extLst>
  </p:cSld>
  <p:clrMapOvr>
    <a:masterClrMapping/>
  </p:clrMapOvr>
  <p:transition>
    <p:fade thruBlk="1"/>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953AE64-9264-B8EF-0D61-57ED36872975}"/>
              </a:ext>
            </a:extLst>
          </p:cNvPr>
          <p:cNvSpPr>
            <a:spLocks noGrp="1"/>
          </p:cNvSpPr>
          <p:nvPr>
            <p:ph type="ctrTitle"/>
          </p:nvPr>
        </p:nvSpPr>
        <p:spPr>
          <a:xfrm>
            <a:off x="75501" y="0"/>
            <a:ext cx="5486400" cy="822121"/>
          </a:xfrm>
        </p:spPr>
        <p:txBody>
          <a:bodyPr/>
          <a:lstStyle/>
          <a:p>
            <a:r>
              <a:rPr lang="en-IN" dirty="0"/>
              <a:t>Triggers</a:t>
            </a:r>
          </a:p>
        </p:txBody>
      </p:sp>
      <p:sp>
        <p:nvSpPr>
          <p:cNvPr id="3" name="Subtitle 2">
            <a:extLst>
              <a:ext uri="{FF2B5EF4-FFF2-40B4-BE49-F238E27FC236}">
                <a16:creationId xmlns="" xmlns:a16="http://schemas.microsoft.com/office/drawing/2014/main" id="{98B7B2B4-4CEF-8661-CF2F-55154EF85742}"/>
              </a:ext>
            </a:extLst>
          </p:cNvPr>
          <p:cNvSpPr>
            <a:spLocks noGrp="1"/>
          </p:cNvSpPr>
          <p:nvPr>
            <p:ph type="subTitle" idx="1"/>
          </p:nvPr>
        </p:nvSpPr>
        <p:spPr>
          <a:xfrm>
            <a:off x="141514" y="822121"/>
            <a:ext cx="8507185" cy="6220936"/>
          </a:xfrm>
        </p:spPr>
        <p:txBody>
          <a:bodyPr/>
          <a:lstStyle/>
          <a:p>
            <a:pPr marL="0" indent="0" algn="l"/>
            <a:r>
              <a:rPr lang="en-IN" sz="1150" b="1" dirty="0">
                <a:solidFill>
                  <a:schemeClr val="tx1"/>
                </a:solidFill>
              </a:rPr>
              <a:t>2. Trigger for Delete Data</a:t>
            </a:r>
          </a:p>
          <a:p>
            <a:pPr marL="0" indent="0" algn="l"/>
            <a:r>
              <a:rPr lang="en-IN" sz="1150" b="1" dirty="0">
                <a:solidFill>
                  <a:schemeClr val="tx1"/>
                </a:solidFill>
              </a:rPr>
              <a:t>Problem Statement:</a:t>
            </a:r>
          </a:p>
          <a:p>
            <a:pPr marL="0" indent="0" algn="l"/>
            <a:r>
              <a:rPr lang="en-US" sz="1150" dirty="0">
                <a:solidFill>
                  <a:schemeClr val="tx1"/>
                </a:solidFill>
              </a:rPr>
              <a:t>To store deleted patient details in a log table automatically.</a:t>
            </a:r>
          </a:p>
          <a:p>
            <a:pPr marL="0" indent="0" algn="l"/>
            <a:r>
              <a:rPr lang="en-US" sz="1150" b="1" dirty="0">
                <a:solidFill>
                  <a:schemeClr val="tx1"/>
                </a:solidFill>
              </a:rPr>
              <a:t>SQL TRIGGER:</a:t>
            </a:r>
          </a:p>
          <a:p>
            <a:pPr marL="0" indent="0" algn="l"/>
            <a:r>
              <a:rPr lang="en-IN" sz="1150" dirty="0">
                <a:solidFill>
                  <a:schemeClr val="tx1"/>
                </a:solidFill>
              </a:rPr>
              <a:t>CREATE TRIGGER </a:t>
            </a:r>
            <a:r>
              <a:rPr lang="en-IN" sz="1150" dirty="0" err="1">
                <a:solidFill>
                  <a:schemeClr val="tx1"/>
                </a:solidFill>
              </a:rPr>
              <a:t>patient_after_delete</a:t>
            </a:r>
            <a:endParaRPr lang="en-IN" sz="1150" dirty="0">
              <a:solidFill>
                <a:schemeClr val="tx1"/>
              </a:solidFill>
            </a:endParaRPr>
          </a:p>
          <a:p>
            <a:pPr marL="0" indent="0" algn="l"/>
            <a:r>
              <a:rPr lang="en-IN" sz="1150" dirty="0">
                <a:solidFill>
                  <a:schemeClr val="tx1"/>
                </a:solidFill>
              </a:rPr>
              <a:t>AFTER DELETE ON Patient</a:t>
            </a:r>
          </a:p>
          <a:p>
            <a:pPr marL="0" indent="0" algn="l"/>
            <a:r>
              <a:rPr lang="en-IN" sz="1150" dirty="0">
                <a:solidFill>
                  <a:schemeClr val="tx1"/>
                </a:solidFill>
              </a:rPr>
              <a:t>FOR EACH ROW</a:t>
            </a:r>
          </a:p>
          <a:p>
            <a:pPr marL="0" indent="0" algn="l"/>
            <a:r>
              <a:rPr lang="en-IN" sz="1150" dirty="0">
                <a:solidFill>
                  <a:schemeClr val="tx1"/>
                </a:solidFill>
              </a:rPr>
              <a:t>BEGIN</a:t>
            </a:r>
          </a:p>
          <a:p>
            <a:pPr marL="0" indent="0" algn="l"/>
            <a:r>
              <a:rPr lang="en-IN" sz="1150" dirty="0">
                <a:solidFill>
                  <a:schemeClr val="tx1"/>
                </a:solidFill>
              </a:rPr>
              <a:t>    INSERT INTO </a:t>
            </a:r>
            <a:r>
              <a:rPr lang="en-IN" sz="1150" dirty="0" err="1">
                <a:solidFill>
                  <a:schemeClr val="tx1"/>
                </a:solidFill>
              </a:rPr>
              <a:t>log_table</a:t>
            </a:r>
            <a:endParaRPr lang="en-IN" sz="1150" dirty="0">
              <a:solidFill>
                <a:schemeClr val="tx1"/>
              </a:solidFill>
            </a:endParaRPr>
          </a:p>
          <a:p>
            <a:pPr marL="0" indent="0" algn="l"/>
            <a:r>
              <a:rPr lang="en-IN" sz="1150" dirty="0">
                <a:solidFill>
                  <a:schemeClr val="tx1"/>
                </a:solidFill>
              </a:rPr>
              <a:t>    (</a:t>
            </a:r>
            <a:r>
              <a:rPr lang="en-IN" sz="1150" dirty="0" err="1">
                <a:solidFill>
                  <a:schemeClr val="tx1"/>
                </a:solidFill>
              </a:rPr>
              <a:t>table_name</a:t>
            </a:r>
            <a:r>
              <a:rPr lang="en-IN" sz="1150" dirty="0">
                <a:solidFill>
                  <a:schemeClr val="tx1"/>
                </a:solidFill>
              </a:rPr>
              <a:t>, </a:t>
            </a:r>
            <a:r>
              <a:rPr lang="en-IN" sz="1150" dirty="0" err="1">
                <a:solidFill>
                  <a:schemeClr val="tx1"/>
                </a:solidFill>
              </a:rPr>
              <a:t>action_type</a:t>
            </a:r>
            <a:r>
              <a:rPr lang="en-IN" sz="1150" dirty="0">
                <a:solidFill>
                  <a:schemeClr val="tx1"/>
                </a:solidFill>
              </a:rPr>
              <a:t>, </a:t>
            </a:r>
            <a:r>
              <a:rPr lang="en-IN" sz="1150" dirty="0" err="1">
                <a:solidFill>
                  <a:schemeClr val="tx1"/>
                </a:solidFill>
              </a:rPr>
              <a:t>action_time</a:t>
            </a:r>
            <a:r>
              <a:rPr lang="en-IN" sz="1150" dirty="0">
                <a:solidFill>
                  <a:schemeClr val="tx1"/>
                </a:solidFill>
              </a:rPr>
              <a:t>, </a:t>
            </a:r>
            <a:r>
              <a:rPr lang="en-IN" sz="1150" dirty="0" err="1">
                <a:solidFill>
                  <a:schemeClr val="tx1"/>
                </a:solidFill>
              </a:rPr>
              <a:t>record_id</a:t>
            </a:r>
            <a:r>
              <a:rPr lang="en-IN" sz="1150" dirty="0">
                <a:solidFill>
                  <a:schemeClr val="tx1"/>
                </a:solidFill>
              </a:rPr>
              <a:t>, details)</a:t>
            </a:r>
          </a:p>
          <a:p>
            <a:pPr marL="0" indent="0" algn="l"/>
            <a:r>
              <a:rPr lang="en-IN" sz="1150" dirty="0">
                <a:solidFill>
                  <a:schemeClr val="tx1"/>
                </a:solidFill>
              </a:rPr>
              <a:t>    VALUES (</a:t>
            </a:r>
          </a:p>
          <a:p>
            <a:pPr marL="0" indent="0" algn="l"/>
            <a:r>
              <a:rPr lang="en-IN" sz="1150" dirty="0">
                <a:solidFill>
                  <a:schemeClr val="tx1"/>
                </a:solidFill>
              </a:rPr>
              <a:t>        'Patient',</a:t>
            </a:r>
          </a:p>
          <a:p>
            <a:pPr marL="0" indent="0" algn="l"/>
            <a:r>
              <a:rPr lang="en-IN" sz="1150" dirty="0">
                <a:solidFill>
                  <a:schemeClr val="tx1"/>
                </a:solidFill>
              </a:rPr>
              <a:t>        'DELETE',</a:t>
            </a:r>
          </a:p>
          <a:p>
            <a:pPr marL="0" indent="0" algn="l"/>
            <a:r>
              <a:rPr lang="en-IN" sz="1150" dirty="0">
                <a:solidFill>
                  <a:schemeClr val="tx1"/>
                </a:solidFill>
              </a:rPr>
              <a:t>        NOW(),</a:t>
            </a:r>
          </a:p>
          <a:p>
            <a:pPr marL="0" indent="0" algn="l"/>
            <a:r>
              <a:rPr lang="en-IN" sz="1150" dirty="0">
                <a:solidFill>
                  <a:schemeClr val="tx1"/>
                </a:solidFill>
              </a:rPr>
              <a:t>        </a:t>
            </a:r>
            <a:r>
              <a:rPr lang="en-IN" sz="1150" dirty="0" err="1">
                <a:solidFill>
                  <a:schemeClr val="tx1"/>
                </a:solidFill>
              </a:rPr>
              <a:t>OLD.patient_id</a:t>
            </a:r>
            <a:r>
              <a:rPr lang="en-IN" sz="1150" dirty="0">
                <a:solidFill>
                  <a:schemeClr val="tx1"/>
                </a:solidFill>
              </a:rPr>
              <a:t>,</a:t>
            </a:r>
          </a:p>
          <a:p>
            <a:pPr marL="0" indent="0" algn="l"/>
            <a:r>
              <a:rPr lang="en-IN" sz="1150" dirty="0">
                <a:solidFill>
                  <a:schemeClr val="tx1"/>
                </a:solidFill>
              </a:rPr>
              <a:t>        CONCAT(</a:t>
            </a:r>
          </a:p>
          <a:p>
            <a:pPr marL="0" indent="0" algn="l"/>
            <a:r>
              <a:rPr lang="en-IN" sz="1150" dirty="0">
                <a:solidFill>
                  <a:schemeClr val="tx1"/>
                </a:solidFill>
              </a:rPr>
              <a:t>            '</a:t>
            </a:r>
            <a:r>
              <a:rPr lang="en-IN" sz="1150" dirty="0" err="1">
                <a:solidFill>
                  <a:schemeClr val="tx1"/>
                </a:solidFill>
              </a:rPr>
              <a:t>patient_name</a:t>
            </a:r>
            <a:r>
              <a:rPr lang="en-IN" sz="1150" dirty="0">
                <a:solidFill>
                  <a:schemeClr val="tx1"/>
                </a:solidFill>
              </a:rPr>
              <a:t>=', </a:t>
            </a:r>
            <a:r>
              <a:rPr lang="en-IN" sz="1150" dirty="0" err="1">
                <a:solidFill>
                  <a:schemeClr val="tx1"/>
                </a:solidFill>
              </a:rPr>
              <a:t>OLD.patient_name</a:t>
            </a:r>
            <a:r>
              <a:rPr lang="en-IN" sz="1150" dirty="0">
                <a:solidFill>
                  <a:schemeClr val="tx1"/>
                </a:solidFill>
              </a:rPr>
              <a:t>,</a:t>
            </a:r>
          </a:p>
          <a:p>
            <a:pPr marL="0" indent="0" algn="l"/>
            <a:r>
              <a:rPr lang="en-IN" sz="1150" dirty="0">
                <a:solidFill>
                  <a:schemeClr val="tx1"/>
                </a:solidFill>
              </a:rPr>
              <a:t>            ', gender=', </a:t>
            </a:r>
            <a:r>
              <a:rPr lang="en-IN" sz="1150" dirty="0" err="1">
                <a:solidFill>
                  <a:schemeClr val="tx1"/>
                </a:solidFill>
              </a:rPr>
              <a:t>OLD.gender</a:t>
            </a:r>
            <a:r>
              <a:rPr lang="en-IN" sz="1150" dirty="0">
                <a:solidFill>
                  <a:schemeClr val="tx1"/>
                </a:solidFill>
              </a:rPr>
              <a:t>,</a:t>
            </a:r>
          </a:p>
          <a:p>
            <a:pPr marL="0" indent="0" algn="l"/>
            <a:r>
              <a:rPr lang="en-IN" sz="1150" dirty="0">
                <a:solidFill>
                  <a:schemeClr val="tx1"/>
                </a:solidFill>
              </a:rPr>
              <a:t>            ', phone=', </a:t>
            </a:r>
            <a:r>
              <a:rPr lang="en-IN" sz="1150" dirty="0" err="1">
                <a:solidFill>
                  <a:schemeClr val="tx1"/>
                </a:solidFill>
              </a:rPr>
              <a:t>OLD.phone</a:t>
            </a:r>
            <a:r>
              <a:rPr lang="en-IN" sz="1150" dirty="0">
                <a:solidFill>
                  <a:schemeClr val="tx1"/>
                </a:solidFill>
              </a:rPr>
              <a:t>,</a:t>
            </a:r>
          </a:p>
          <a:p>
            <a:pPr marL="0" indent="0" algn="l"/>
            <a:r>
              <a:rPr lang="en-IN" sz="1150" dirty="0">
                <a:solidFill>
                  <a:schemeClr val="tx1"/>
                </a:solidFill>
              </a:rPr>
              <a:t>            ', city=', </a:t>
            </a:r>
            <a:r>
              <a:rPr lang="en-IN" sz="1150" dirty="0" err="1">
                <a:solidFill>
                  <a:schemeClr val="tx1"/>
                </a:solidFill>
              </a:rPr>
              <a:t>OLD.city</a:t>
            </a:r>
            <a:r>
              <a:rPr lang="en-IN" sz="1150" dirty="0">
                <a:solidFill>
                  <a:schemeClr val="tx1"/>
                </a:solidFill>
              </a:rPr>
              <a:t>,</a:t>
            </a:r>
          </a:p>
          <a:p>
            <a:pPr marL="0" indent="0" algn="l"/>
            <a:r>
              <a:rPr lang="en-IN" sz="1150" dirty="0">
                <a:solidFill>
                  <a:schemeClr val="tx1"/>
                </a:solidFill>
              </a:rPr>
              <a:t>            ', </a:t>
            </a:r>
            <a:r>
              <a:rPr lang="en-IN" sz="1150" dirty="0" err="1">
                <a:solidFill>
                  <a:schemeClr val="tx1"/>
                </a:solidFill>
              </a:rPr>
              <a:t>room_id</a:t>
            </a:r>
            <a:r>
              <a:rPr lang="en-IN" sz="1150" dirty="0">
                <a:solidFill>
                  <a:schemeClr val="tx1"/>
                </a:solidFill>
              </a:rPr>
              <a:t>=', </a:t>
            </a:r>
            <a:r>
              <a:rPr lang="en-IN" sz="1150" dirty="0" err="1">
                <a:solidFill>
                  <a:schemeClr val="tx1"/>
                </a:solidFill>
              </a:rPr>
              <a:t>OLD.room_id</a:t>
            </a:r>
            <a:endParaRPr lang="en-IN" sz="1150" dirty="0">
              <a:solidFill>
                <a:schemeClr val="tx1"/>
              </a:solidFill>
            </a:endParaRPr>
          </a:p>
          <a:p>
            <a:pPr marL="0" indent="0" algn="l"/>
            <a:r>
              <a:rPr lang="en-IN" sz="1150" dirty="0">
                <a:solidFill>
                  <a:schemeClr val="tx1"/>
                </a:solidFill>
              </a:rPr>
              <a:t>        ) );</a:t>
            </a:r>
          </a:p>
          <a:p>
            <a:pPr marL="0" indent="0" algn="l"/>
            <a:r>
              <a:rPr lang="en-IN" sz="1150" dirty="0">
                <a:solidFill>
                  <a:schemeClr val="tx1"/>
                </a:solidFill>
              </a:rPr>
              <a:t>END//</a:t>
            </a:r>
          </a:p>
          <a:p>
            <a:pPr algn="l"/>
            <a:endParaRPr lang="en-IN" sz="1200" dirty="0">
              <a:solidFill>
                <a:schemeClr val="tx1"/>
              </a:solidFill>
            </a:endParaRPr>
          </a:p>
        </p:txBody>
      </p:sp>
    </p:spTree>
    <p:extLst>
      <p:ext uri="{BB962C8B-B14F-4D97-AF65-F5344CB8AC3E}">
        <p14:creationId xmlns="" xmlns:p14="http://schemas.microsoft.com/office/powerpoint/2010/main" val="1605562593"/>
      </p:ext>
    </p:extLst>
  </p:cSld>
  <p:clrMapOvr>
    <a:masterClrMapping/>
  </p:clrMapOvr>
  <p:transition>
    <p:fade thruBlk="1"/>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C5AC1FC-08D1-312E-6F41-5F5BED6BFC07}"/>
              </a:ext>
            </a:extLst>
          </p:cNvPr>
          <p:cNvSpPr>
            <a:spLocks noGrp="1"/>
          </p:cNvSpPr>
          <p:nvPr>
            <p:ph type="ctrTitle"/>
          </p:nvPr>
        </p:nvSpPr>
        <p:spPr/>
        <p:txBody>
          <a:bodyPr/>
          <a:lstStyle/>
          <a:p>
            <a:r>
              <a:rPr lang="en-IN" dirty="0"/>
              <a:t>Views</a:t>
            </a:r>
          </a:p>
        </p:txBody>
      </p:sp>
      <p:sp>
        <p:nvSpPr>
          <p:cNvPr id="3" name="Subtitle 2">
            <a:extLst>
              <a:ext uri="{FF2B5EF4-FFF2-40B4-BE49-F238E27FC236}">
                <a16:creationId xmlns="" xmlns:a16="http://schemas.microsoft.com/office/drawing/2014/main" id="{9D283E63-22B9-4A01-7E2B-B2B9979E664F}"/>
              </a:ext>
            </a:extLst>
          </p:cNvPr>
          <p:cNvSpPr>
            <a:spLocks noGrp="1"/>
          </p:cNvSpPr>
          <p:nvPr>
            <p:ph type="subTitle" idx="1"/>
          </p:nvPr>
        </p:nvSpPr>
        <p:spPr>
          <a:xfrm>
            <a:off x="152400" y="914401"/>
            <a:ext cx="8534400" cy="5684519"/>
          </a:xfrm>
        </p:spPr>
        <p:txBody>
          <a:bodyPr/>
          <a:lstStyle/>
          <a:p>
            <a:pPr marL="0" indent="0" algn="l"/>
            <a:r>
              <a:rPr lang="en-IN" sz="1800" dirty="0">
                <a:solidFill>
                  <a:schemeClr val="tx1"/>
                </a:solidFill>
                <a:latin typeface="Times New Roman" panose="02020603050405020304" pitchFamily="18" charset="0"/>
                <a:cs typeface="Times New Roman" panose="02020603050405020304" pitchFamily="18" charset="0"/>
              </a:rPr>
              <a:t> A </a:t>
            </a:r>
            <a:r>
              <a:rPr lang="en-IN" sz="1800" b="1" dirty="0">
                <a:solidFill>
                  <a:schemeClr val="tx1"/>
                </a:solidFill>
                <a:latin typeface="Times New Roman" panose="02020603050405020304" pitchFamily="18" charset="0"/>
                <a:cs typeface="Times New Roman" panose="02020603050405020304" pitchFamily="18" charset="0"/>
              </a:rPr>
              <a:t>View</a:t>
            </a:r>
            <a:r>
              <a:rPr lang="en-IN" sz="1800" dirty="0">
                <a:solidFill>
                  <a:schemeClr val="tx1"/>
                </a:solidFill>
                <a:latin typeface="Times New Roman" panose="02020603050405020304" pitchFamily="18" charset="0"/>
                <a:cs typeface="Times New Roman" panose="02020603050405020304" pitchFamily="18" charset="0"/>
              </a:rPr>
              <a:t> in MySQL is a </a:t>
            </a:r>
            <a:r>
              <a:rPr lang="en-IN" sz="1800" b="1" dirty="0">
                <a:solidFill>
                  <a:schemeClr val="tx1"/>
                </a:solidFill>
                <a:latin typeface="Times New Roman" panose="02020603050405020304" pitchFamily="18" charset="0"/>
                <a:cs typeface="Times New Roman" panose="02020603050405020304" pitchFamily="18" charset="0"/>
              </a:rPr>
              <a:t>virtual table</a:t>
            </a:r>
            <a:r>
              <a:rPr lang="en-IN" sz="1800" dirty="0">
                <a:solidFill>
                  <a:schemeClr val="tx1"/>
                </a:solidFill>
                <a:latin typeface="Times New Roman" panose="02020603050405020304" pitchFamily="18" charset="0"/>
                <a:cs typeface="Times New Roman" panose="02020603050405020304" pitchFamily="18" charset="0"/>
              </a:rPr>
              <a:t> that is created from a SQL query.</a:t>
            </a:r>
          </a:p>
          <a:p>
            <a:pPr marL="0" indent="0" algn="l"/>
            <a:r>
              <a:rPr lang="en-IN" sz="1800" dirty="0">
                <a:solidFill>
                  <a:schemeClr val="tx1"/>
                </a:solidFill>
                <a:latin typeface="Times New Roman" panose="02020603050405020304" pitchFamily="18" charset="0"/>
                <a:cs typeface="Times New Roman" panose="02020603050405020304" pitchFamily="18" charset="0"/>
              </a:rPr>
              <a:t>  It does not store data physically; instead, it displays data from one or more tables </a:t>
            </a:r>
            <a:r>
              <a:rPr lang="en-IN" sz="1800" b="1" dirty="0">
                <a:solidFill>
                  <a:schemeClr val="tx1"/>
                </a:solidFill>
                <a:latin typeface="Times New Roman" panose="02020603050405020304" pitchFamily="18" charset="0"/>
                <a:cs typeface="Times New Roman" panose="02020603050405020304" pitchFamily="18" charset="0"/>
              </a:rPr>
              <a:t>as if it were a real table</a:t>
            </a:r>
            <a:r>
              <a:rPr lang="en-IN" sz="1800" dirty="0">
                <a:solidFill>
                  <a:schemeClr val="tx1"/>
                </a:solidFill>
                <a:latin typeface="Times New Roman" panose="02020603050405020304" pitchFamily="18" charset="0"/>
                <a:cs typeface="Times New Roman" panose="02020603050405020304" pitchFamily="18" charset="0"/>
              </a:rPr>
              <a:t>.</a:t>
            </a:r>
          </a:p>
          <a:p>
            <a:pPr marL="0" indent="0" algn="l"/>
            <a:endParaRPr lang="en-IN" sz="1800" dirty="0">
              <a:solidFill>
                <a:schemeClr val="tx1"/>
              </a:solidFill>
              <a:latin typeface="Times New Roman" panose="02020603050405020304" pitchFamily="18" charset="0"/>
              <a:cs typeface="Times New Roman" panose="02020603050405020304" pitchFamily="18" charset="0"/>
            </a:endParaRPr>
          </a:p>
          <a:p>
            <a:pPr marL="114300" indent="0" algn="l"/>
            <a:r>
              <a:rPr lang="en-IN" sz="1800" dirty="0">
                <a:solidFill>
                  <a:schemeClr val="tx1"/>
                </a:solidFill>
                <a:latin typeface="Times New Roman" panose="02020603050405020304" pitchFamily="18" charset="0"/>
                <a:cs typeface="Times New Roman" panose="02020603050405020304" pitchFamily="18" charset="0"/>
              </a:rPr>
              <a:t>--Think of a view as: </a:t>
            </a:r>
            <a:r>
              <a:rPr lang="en-IN" sz="1800" b="1" dirty="0">
                <a:solidFill>
                  <a:schemeClr val="tx1"/>
                </a:solidFill>
                <a:latin typeface="Times New Roman" panose="02020603050405020304" pitchFamily="18" charset="0"/>
                <a:cs typeface="Times New Roman" panose="02020603050405020304" pitchFamily="18" charset="0"/>
              </a:rPr>
              <a:t>“A saved SQL query that behaves like a table.”</a:t>
            </a:r>
            <a:endParaRPr lang="en-US" sz="1800" b="1" dirty="0">
              <a:solidFill>
                <a:schemeClr val="tx1"/>
              </a:solidFill>
              <a:latin typeface="Times New Roman" panose="02020603050405020304" pitchFamily="18" charset="0"/>
              <a:cs typeface="Times New Roman" panose="02020603050405020304" pitchFamily="18" charset="0"/>
            </a:endParaRPr>
          </a:p>
          <a:p>
            <a:pPr marL="114300" indent="0" algn="l"/>
            <a:r>
              <a:rPr lang="en-IN" sz="1800" b="1" dirty="0">
                <a:solidFill>
                  <a:schemeClr val="tx1"/>
                </a:solidFill>
                <a:latin typeface="Times New Roman" panose="02020603050405020304" pitchFamily="18" charset="0"/>
                <a:cs typeface="Times New Roman" panose="02020603050405020304" pitchFamily="18" charset="0"/>
              </a:rPr>
              <a:t>Why Use Views?</a:t>
            </a:r>
          </a:p>
          <a:p>
            <a:pPr marL="25400" indent="0" algn="l"/>
            <a:r>
              <a:rPr lang="en-IN" sz="1800" b="1" dirty="0">
                <a:solidFill>
                  <a:schemeClr val="tx1"/>
                </a:solidFill>
                <a:latin typeface="Times New Roman" panose="02020603050405020304" pitchFamily="18" charset="0"/>
                <a:cs typeface="Times New Roman" panose="02020603050405020304" pitchFamily="18" charset="0"/>
              </a:rPr>
              <a:t>  Simplify complex queries </a:t>
            </a:r>
          </a:p>
          <a:p>
            <a:pPr marL="25400" indent="0" algn="l"/>
            <a:r>
              <a:rPr lang="en-IN" sz="1800" b="1" dirty="0">
                <a:solidFill>
                  <a:schemeClr val="tx1"/>
                </a:solidFill>
                <a:latin typeface="Times New Roman" panose="02020603050405020304" pitchFamily="18" charset="0"/>
                <a:cs typeface="Times New Roman" panose="02020603050405020304" pitchFamily="18" charset="0"/>
              </a:rPr>
              <a:t> </a:t>
            </a:r>
            <a:r>
              <a:rPr lang="en-IN" sz="1800" dirty="0">
                <a:solidFill>
                  <a:schemeClr val="tx1"/>
                </a:solidFill>
                <a:latin typeface="Times New Roman" panose="02020603050405020304" pitchFamily="18" charset="0"/>
                <a:cs typeface="Times New Roman" panose="02020603050405020304" pitchFamily="18" charset="0"/>
              </a:rPr>
              <a:t> Instead of writing long joins repeatedly, store the query as a view and use it like a normal table.  </a:t>
            </a:r>
          </a:p>
          <a:p>
            <a:pPr marL="25400" indent="0" algn="l"/>
            <a:r>
              <a:rPr lang="en-IN" sz="1800" dirty="0">
                <a:solidFill>
                  <a:schemeClr val="tx1"/>
                </a:solidFill>
                <a:latin typeface="Times New Roman" panose="02020603050405020304" pitchFamily="18" charset="0"/>
                <a:cs typeface="Times New Roman" panose="02020603050405020304" pitchFamily="18" charset="0"/>
              </a:rPr>
              <a:t>  </a:t>
            </a:r>
            <a:r>
              <a:rPr lang="en-IN" sz="1800" b="1" dirty="0">
                <a:solidFill>
                  <a:schemeClr val="tx1"/>
                </a:solidFill>
                <a:latin typeface="Times New Roman" panose="02020603050405020304" pitchFamily="18" charset="0"/>
                <a:cs typeface="Times New Roman" panose="02020603050405020304" pitchFamily="18" charset="0"/>
              </a:rPr>
              <a:t>Improve security</a:t>
            </a:r>
          </a:p>
          <a:p>
            <a:pPr marL="0" indent="0" algn="l"/>
            <a:r>
              <a:rPr lang="en-IN" sz="1800" dirty="0">
                <a:solidFill>
                  <a:schemeClr val="tx1"/>
                </a:solidFill>
                <a:latin typeface="Times New Roman" panose="02020603050405020304" pitchFamily="18" charset="0"/>
                <a:cs typeface="Times New Roman" panose="02020603050405020304" pitchFamily="18" charset="0"/>
              </a:rPr>
              <a:t>  You can hide sensitive columns and show only required data to the user (example: hide        passwords, contact numbers).</a:t>
            </a:r>
          </a:p>
          <a:p>
            <a:pPr marL="0" indent="0" algn="l"/>
            <a:r>
              <a:rPr lang="en-IN" sz="1800" b="1" dirty="0">
                <a:solidFill>
                  <a:schemeClr val="tx1"/>
                </a:solidFill>
                <a:latin typeface="Times New Roman" panose="02020603050405020304" pitchFamily="18" charset="0"/>
                <a:cs typeface="Times New Roman" panose="02020603050405020304" pitchFamily="18" charset="0"/>
              </a:rPr>
              <a:t> Better organization</a:t>
            </a:r>
          </a:p>
          <a:p>
            <a:pPr marL="0" indent="0" algn="l"/>
            <a:r>
              <a:rPr lang="en-IN" sz="1800" dirty="0">
                <a:solidFill>
                  <a:schemeClr val="tx1"/>
                </a:solidFill>
                <a:latin typeface="Times New Roman" panose="02020603050405020304" pitchFamily="18" charset="0"/>
                <a:cs typeface="Times New Roman" panose="02020603050405020304" pitchFamily="18" charset="0"/>
              </a:rPr>
              <a:t> Views help organize frequently used queries cleanly.</a:t>
            </a:r>
          </a:p>
          <a:p>
            <a:pPr marL="0" indent="0" algn="l"/>
            <a:r>
              <a:rPr lang="en-IN" sz="1800" b="1" dirty="0">
                <a:solidFill>
                  <a:schemeClr val="tx1"/>
                </a:solidFill>
                <a:latin typeface="Times New Roman" panose="02020603050405020304" pitchFamily="18" charset="0"/>
                <a:cs typeface="Times New Roman" panose="02020603050405020304" pitchFamily="18" charset="0"/>
              </a:rPr>
              <a:t> Real-time updated data</a:t>
            </a:r>
          </a:p>
          <a:p>
            <a:pPr marL="0" indent="0" algn="l"/>
            <a:r>
              <a:rPr lang="en-IN" sz="1800" dirty="0">
                <a:solidFill>
                  <a:schemeClr val="tx1"/>
                </a:solidFill>
                <a:latin typeface="Times New Roman" panose="02020603050405020304" pitchFamily="18" charset="0"/>
                <a:cs typeface="Times New Roman" panose="02020603050405020304" pitchFamily="18" charset="0"/>
              </a:rPr>
              <a:t>  Since a view fetches data from tables, any update in the original tables automatically appears in the view.</a:t>
            </a:r>
          </a:p>
          <a:p>
            <a:pPr algn="l"/>
            <a:endParaRPr lang="en-IN" sz="1800" dirty="0">
              <a:solidFill>
                <a:schemeClr val="tx1"/>
              </a:solidFill>
            </a:endParaRPr>
          </a:p>
        </p:txBody>
      </p:sp>
    </p:spTree>
    <p:extLst>
      <p:ext uri="{BB962C8B-B14F-4D97-AF65-F5344CB8AC3E}">
        <p14:creationId xmlns="" xmlns:p14="http://schemas.microsoft.com/office/powerpoint/2010/main" val="1075756804"/>
      </p:ext>
    </p:extLst>
  </p:cSld>
  <p:clrMapOvr>
    <a:masterClrMapping/>
  </p:clrMapOvr>
  <p:transition>
    <p:fade thruBlk="1"/>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9A04312-7ED8-CFA2-1BBB-B340971BF126}"/>
              </a:ext>
            </a:extLst>
          </p:cNvPr>
          <p:cNvSpPr>
            <a:spLocks noGrp="1"/>
          </p:cNvSpPr>
          <p:nvPr>
            <p:ph type="ctrTitle"/>
          </p:nvPr>
        </p:nvSpPr>
        <p:spPr/>
        <p:txBody>
          <a:bodyPr/>
          <a:lstStyle/>
          <a:p>
            <a:r>
              <a:rPr lang="en-IN" dirty="0"/>
              <a:t>Views</a:t>
            </a:r>
          </a:p>
        </p:txBody>
      </p:sp>
      <p:sp>
        <p:nvSpPr>
          <p:cNvPr id="3" name="Subtitle 2">
            <a:extLst>
              <a:ext uri="{FF2B5EF4-FFF2-40B4-BE49-F238E27FC236}">
                <a16:creationId xmlns="" xmlns:a16="http://schemas.microsoft.com/office/drawing/2014/main" id="{A98CA385-6AE5-8559-EF18-2193B4BCAFCA}"/>
              </a:ext>
            </a:extLst>
          </p:cNvPr>
          <p:cNvSpPr>
            <a:spLocks noGrp="1"/>
          </p:cNvSpPr>
          <p:nvPr>
            <p:ph type="subTitle" idx="1"/>
          </p:nvPr>
        </p:nvSpPr>
        <p:spPr>
          <a:xfrm>
            <a:off x="533400" y="914401"/>
            <a:ext cx="8153400" cy="5516879"/>
          </a:xfrm>
        </p:spPr>
        <p:txBody>
          <a:bodyPr/>
          <a:lstStyle/>
          <a:p>
            <a:pPr marL="0" indent="0" algn="l"/>
            <a:r>
              <a:rPr lang="en-US" sz="1600" b="1" dirty="0">
                <a:solidFill>
                  <a:schemeClr val="tx1"/>
                </a:solidFill>
              </a:rPr>
              <a:t>1. View for Displaying Upcoming Appointments</a:t>
            </a:r>
          </a:p>
          <a:p>
            <a:pPr marL="0" indent="0" algn="l"/>
            <a:r>
              <a:rPr lang="en-US" sz="1600" b="1" dirty="0">
                <a:solidFill>
                  <a:schemeClr val="tx1"/>
                </a:solidFill>
              </a:rPr>
              <a:t>Problem Statement:</a:t>
            </a:r>
          </a:p>
          <a:p>
            <a:pPr marL="0" indent="0" algn="l"/>
            <a:r>
              <a:rPr lang="en-US" sz="1600" dirty="0">
                <a:solidFill>
                  <a:schemeClr val="tx1"/>
                </a:solidFill>
              </a:rPr>
              <a:t>The hospital staff needs a simple way to view upcoming appointments along with patient and doctor details in one place.</a:t>
            </a:r>
          </a:p>
          <a:p>
            <a:pPr marL="0" indent="0" algn="l"/>
            <a:endParaRPr lang="en-US" sz="1600" dirty="0">
              <a:solidFill>
                <a:schemeClr val="tx1"/>
              </a:solidFill>
            </a:endParaRPr>
          </a:p>
          <a:p>
            <a:pPr marL="0" indent="0" algn="l"/>
            <a:r>
              <a:rPr lang="en-IN" sz="1600" b="1" dirty="0">
                <a:solidFill>
                  <a:schemeClr val="tx1"/>
                </a:solidFill>
              </a:rPr>
              <a:t>SQL QUERY:</a:t>
            </a:r>
          </a:p>
          <a:p>
            <a:pPr marL="0" indent="0" algn="l"/>
            <a:r>
              <a:rPr lang="en-IN" sz="1600" dirty="0">
                <a:solidFill>
                  <a:schemeClr val="tx1"/>
                </a:solidFill>
              </a:rPr>
              <a:t>CREATE VIEW </a:t>
            </a:r>
            <a:r>
              <a:rPr lang="en-IN" sz="1600" dirty="0" err="1">
                <a:solidFill>
                  <a:schemeClr val="tx1"/>
                </a:solidFill>
              </a:rPr>
              <a:t>Upcoming_Appointments</a:t>
            </a:r>
            <a:r>
              <a:rPr lang="en-IN" sz="1600" dirty="0">
                <a:solidFill>
                  <a:schemeClr val="tx1"/>
                </a:solidFill>
              </a:rPr>
              <a:t> AS</a:t>
            </a:r>
          </a:p>
          <a:p>
            <a:pPr marL="0" indent="0" algn="l"/>
            <a:r>
              <a:rPr lang="en-IN" sz="1600" dirty="0">
                <a:solidFill>
                  <a:schemeClr val="tx1"/>
                </a:solidFill>
              </a:rPr>
              <a:t>SELECT </a:t>
            </a:r>
          </a:p>
          <a:p>
            <a:pPr marL="0" indent="0" algn="l"/>
            <a:r>
              <a:rPr lang="en-IN" sz="1600" dirty="0">
                <a:solidFill>
                  <a:schemeClr val="tx1"/>
                </a:solidFill>
              </a:rPr>
              <a:t>    </a:t>
            </a:r>
            <a:r>
              <a:rPr lang="en-IN" sz="1600" dirty="0" err="1">
                <a:solidFill>
                  <a:schemeClr val="tx1"/>
                </a:solidFill>
              </a:rPr>
              <a:t>a.appointment_id</a:t>
            </a:r>
            <a:r>
              <a:rPr lang="en-IN" sz="1600" dirty="0">
                <a:solidFill>
                  <a:schemeClr val="tx1"/>
                </a:solidFill>
              </a:rPr>
              <a:t>,</a:t>
            </a:r>
          </a:p>
          <a:p>
            <a:pPr marL="0" indent="0" algn="l"/>
            <a:r>
              <a:rPr lang="en-IN" sz="1600" dirty="0">
                <a:solidFill>
                  <a:schemeClr val="tx1"/>
                </a:solidFill>
              </a:rPr>
              <a:t>    </a:t>
            </a:r>
            <a:r>
              <a:rPr lang="en-IN" sz="1600" dirty="0" err="1">
                <a:solidFill>
                  <a:schemeClr val="tx1"/>
                </a:solidFill>
              </a:rPr>
              <a:t>p.patient_name</a:t>
            </a:r>
            <a:r>
              <a:rPr lang="en-IN" sz="1600" dirty="0">
                <a:solidFill>
                  <a:schemeClr val="tx1"/>
                </a:solidFill>
              </a:rPr>
              <a:t>       AS </a:t>
            </a:r>
            <a:r>
              <a:rPr lang="en-IN" sz="1600" dirty="0" err="1">
                <a:solidFill>
                  <a:schemeClr val="tx1"/>
                </a:solidFill>
              </a:rPr>
              <a:t>patient_name</a:t>
            </a:r>
            <a:r>
              <a:rPr lang="en-IN" sz="1600" dirty="0">
                <a:solidFill>
                  <a:schemeClr val="tx1"/>
                </a:solidFill>
              </a:rPr>
              <a:t>,</a:t>
            </a:r>
          </a:p>
          <a:p>
            <a:pPr marL="0" indent="0" algn="l"/>
            <a:r>
              <a:rPr lang="en-IN" sz="1600" dirty="0">
                <a:solidFill>
                  <a:schemeClr val="tx1"/>
                </a:solidFill>
              </a:rPr>
              <a:t>    </a:t>
            </a:r>
            <a:r>
              <a:rPr lang="en-IN" sz="1600" dirty="0" err="1">
                <a:solidFill>
                  <a:schemeClr val="tx1"/>
                </a:solidFill>
              </a:rPr>
              <a:t>d.doct_name</a:t>
            </a:r>
            <a:r>
              <a:rPr lang="en-IN" sz="1600" dirty="0">
                <a:solidFill>
                  <a:schemeClr val="tx1"/>
                </a:solidFill>
              </a:rPr>
              <a:t>  AS </a:t>
            </a:r>
            <a:r>
              <a:rPr lang="en-IN" sz="1600" dirty="0" err="1">
                <a:solidFill>
                  <a:schemeClr val="tx1"/>
                </a:solidFill>
              </a:rPr>
              <a:t>doctor_name</a:t>
            </a:r>
            <a:r>
              <a:rPr lang="en-IN" sz="1600" dirty="0">
                <a:solidFill>
                  <a:schemeClr val="tx1"/>
                </a:solidFill>
              </a:rPr>
              <a:t>,</a:t>
            </a:r>
          </a:p>
          <a:p>
            <a:pPr marL="0" indent="0" algn="l"/>
            <a:r>
              <a:rPr lang="en-IN" sz="1600" dirty="0">
                <a:solidFill>
                  <a:schemeClr val="tx1"/>
                </a:solidFill>
              </a:rPr>
              <a:t>    </a:t>
            </a:r>
            <a:r>
              <a:rPr lang="en-IN" sz="1600" dirty="0" err="1">
                <a:solidFill>
                  <a:schemeClr val="tx1"/>
                </a:solidFill>
              </a:rPr>
              <a:t>a.date</a:t>
            </a:r>
            <a:r>
              <a:rPr lang="en-IN" sz="1600" dirty="0">
                <a:solidFill>
                  <a:schemeClr val="tx1"/>
                </a:solidFill>
              </a:rPr>
              <a:t>,</a:t>
            </a:r>
          </a:p>
          <a:p>
            <a:pPr marL="0" indent="0" algn="l"/>
            <a:r>
              <a:rPr lang="en-IN" sz="1600" dirty="0">
                <a:solidFill>
                  <a:schemeClr val="tx1"/>
                </a:solidFill>
              </a:rPr>
              <a:t>    </a:t>
            </a:r>
            <a:r>
              <a:rPr lang="en-IN" sz="1600" dirty="0" err="1">
                <a:solidFill>
                  <a:schemeClr val="tx1"/>
                </a:solidFill>
              </a:rPr>
              <a:t>a.time</a:t>
            </a:r>
            <a:r>
              <a:rPr lang="en-IN" sz="1600" dirty="0">
                <a:solidFill>
                  <a:schemeClr val="tx1"/>
                </a:solidFill>
              </a:rPr>
              <a:t>,</a:t>
            </a:r>
          </a:p>
          <a:p>
            <a:pPr marL="0" indent="0" algn="l"/>
            <a:r>
              <a:rPr lang="en-IN" sz="1600" dirty="0">
                <a:solidFill>
                  <a:schemeClr val="tx1"/>
                </a:solidFill>
              </a:rPr>
              <a:t>    </a:t>
            </a:r>
            <a:r>
              <a:rPr lang="en-IN" sz="1600" dirty="0" err="1">
                <a:solidFill>
                  <a:schemeClr val="tx1"/>
                </a:solidFill>
              </a:rPr>
              <a:t>a.status</a:t>
            </a:r>
            <a:endParaRPr lang="en-IN" sz="1600" dirty="0">
              <a:solidFill>
                <a:schemeClr val="tx1"/>
              </a:solidFill>
            </a:endParaRPr>
          </a:p>
          <a:p>
            <a:pPr marL="0" indent="0" algn="l"/>
            <a:r>
              <a:rPr lang="en-IN" sz="1600" dirty="0">
                <a:solidFill>
                  <a:schemeClr val="tx1"/>
                </a:solidFill>
              </a:rPr>
              <a:t>FROM Appointment a</a:t>
            </a:r>
          </a:p>
          <a:p>
            <a:pPr marL="0" indent="0" algn="l"/>
            <a:r>
              <a:rPr lang="en-IN" sz="1600" dirty="0">
                <a:solidFill>
                  <a:schemeClr val="tx1"/>
                </a:solidFill>
              </a:rPr>
              <a:t>JOIN Patient p ON </a:t>
            </a:r>
            <a:r>
              <a:rPr lang="en-IN" sz="1600" dirty="0" err="1">
                <a:solidFill>
                  <a:schemeClr val="tx1"/>
                </a:solidFill>
              </a:rPr>
              <a:t>a.patient_id</a:t>
            </a:r>
            <a:r>
              <a:rPr lang="en-IN" sz="1600" dirty="0">
                <a:solidFill>
                  <a:schemeClr val="tx1"/>
                </a:solidFill>
              </a:rPr>
              <a:t> = </a:t>
            </a:r>
            <a:r>
              <a:rPr lang="en-IN" sz="1600" dirty="0" err="1">
                <a:solidFill>
                  <a:schemeClr val="tx1"/>
                </a:solidFill>
              </a:rPr>
              <a:t>p.patient_id</a:t>
            </a:r>
            <a:endParaRPr lang="en-IN" sz="1600" dirty="0">
              <a:solidFill>
                <a:schemeClr val="tx1"/>
              </a:solidFill>
            </a:endParaRPr>
          </a:p>
          <a:p>
            <a:pPr marL="0" indent="0" algn="l"/>
            <a:r>
              <a:rPr lang="en-IN" sz="1600" dirty="0">
                <a:solidFill>
                  <a:schemeClr val="tx1"/>
                </a:solidFill>
              </a:rPr>
              <a:t>JOIN Doctor d  ON </a:t>
            </a:r>
            <a:r>
              <a:rPr lang="en-IN" sz="1600" dirty="0" err="1">
                <a:solidFill>
                  <a:schemeClr val="tx1"/>
                </a:solidFill>
              </a:rPr>
              <a:t>a.doctor_id</a:t>
            </a:r>
            <a:r>
              <a:rPr lang="en-IN" sz="1600" dirty="0">
                <a:solidFill>
                  <a:schemeClr val="tx1"/>
                </a:solidFill>
              </a:rPr>
              <a:t>  = </a:t>
            </a:r>
            <a:r>
              <a:rPr lang="en-IN" sz="1600" dirty="0" err="1">
                <a:solidFill>
                  <a:schemeClr val="tx1"/>
                </a:solidFill>
              </a:rPr>
              <a:t>d.doctor_id</a:t>
            </a:r>
            <a:r>
              <a:rPr lang="en-IN" sz="1600" dirty="0">
                <a:solidFill>
                  <a:schemeClr val="tx1"/>
                </a:solidFill>
              </a:rPr>
              <a:t>;</a:t>
            </a:r>
          </a:p>
          <a:p>
            <a:pPr marL="0" indent="0" algn="l"/>
            <a:endParaRPr lang="en-IN" sz="1600" dirty="0">
              <a:solidFill>
                <a:schemeClr val="tx1"/>
              </a:solidFill>
            </a:endParaRPr>
          </a:p>
          <a:p>
            <a:pPr marL="0" indent="0" algn="l"/>
            <a:endParaRPr lang="en-IN" sz="1600" dirty="0">
              <a:solidFill>
                <a:schemeClr val="tx1"/>
              </a:solidFill>
            </a:endParaRPr>
          </a:p>
          <a:p>
            <a:pPr algn="l"/>
            <a:endParaRPr lang="en-IN" sz="1600" dirty="0">
              <a:solidFill>
                <a:schemeClr val="tx1"/>
              </a:solidFill>
            </a:endParaRPr>
          </a:p>
        </p:txBody>
      </p:sp>
    </p:spTree>
    <p:extLst>
      <p:ext uri="{BB962C8B-B14F-4D97-AF65-F5344CB8AC3E}">
        <p14:creationId xmlns="" xmlns:p14="http://schemas.microsoft.com/office/powerpoint/2010/main" val="1784848162"/>
      </p:ext>
    </p:extLst>
  </p:cSld>
  <p:clrMapOvr>
    <a:masterClrMapping/>
  </p:clrMapOvr>
  <p:transition>
    <p:fade thruBlk="1"/>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0CF284E-DA0F-9A5C-A22E-8F40D6516B56}"/>
              </a:ext>
            </a:extLst>
          </p:cNvPr>
          <p:cNvSpPr>
            <a:spLocks noGrp="1"/>
          </p:cNvSpPr>
          <p:nvPr>
            <p:ph type="ctrTitle"/>
          </p:nvPr>
        </p:nvSpPr>
        <p:spPr/>
        <p:txBody>
          <a:bodyPr/>
          <a:lstStyle/>
          <a:p>
            <a:r>
              <a:rPr lang="en-IN" dirty="0"/>
              <a:t>Views</a:t>
            </a:r>
          </a:p>
        </p:txBody>
      </p:sp>
      <p:sp>
        <p:nvSpPr>
          <p:cNvPr id="3" name="Subtitle 2">
            <a:extLst>
              <a:ext uri="{FF2B5EF4-FFF2-40B4-BE49-F238E27FC236}">
                <a16:creationId xmlns="" xmlns:a16="http://schemas.microsoft.com/office/drawing/2014/main" id="{FFB894A1-162A-0588-6541-424E8CB84716}"/>
              </a:ext>
            </a:extLst>
          </p:cNvPr>
          <p:cNvSpPr>
            <a:spLocks noGrp="1"/>
          </p:cNvSpPr>
          <p:nvPr>
            <p:ph type="subTitle" idx="1"/>
          </p:nvPr>
        </p:nvSpPr>
        <p:spPr>
          <a:xfrm>
            <a:off x="533400" y="1036320"/>
            <a:ext cx="8153400" cy="5577840"/>
          </a:xfrm>
        </p:spPr>
        <p:txBody>
          <a:bodyPr/>
          <a:lstStyle/>
          <a:p>
            <a:pPr marL="0" indent="0" algn="l"/>
            <a:r>
              <a:rPr lang="en-US" sz="1600" b="1" dirty="0">
                <a:solidFill>
                  <a:schemeClr val="tx1"/>
                </a:solidFill>
              </a:rPr>
              <a:t>2. View for Displaying Billing Summary</a:t>
            </a:r>
          </a:p>
          <a:p>
            <a:pPr marL="0" indent="0" algn="l"/>
            <a:r>
              <a:rPr lang="en-US" sz="1600" b="1" dirty="0">
                <a:solidFill>
                  <a:schemeClr val="tx1"/>
                </a:solidFill>
              </a:rPr>
              <a:t>Problem Statement:</a:t>
            </a:r>
          </a:p>
          <a:p>
            <a:pPr marL="0" indent="0" algn="l"/>
            <a:r>
              <a:rPr lang="en-US" sz="1600" dirty="0">
                <a:solidFill>
                  <a:schemeClr val="tx1"/>
                </a:solidFill>
              </a:rPr>
              <a:t>The billing staff needs an easy way to view bill details along with patient name, doctor name, appointment date, and payment status in one place.</a:t>
            </a:r>
          </a:p>
          <a:p>
            <a:pPr marL="0" indent="0" algn="l"/>
            <a:r>
              <a:rPr lang="en-IN" sz="1600" b="1" dirty="0">
                <a:solidFill>
                  <a:schemeClr val="tx1"/>
                </a:solidFill>
              </a:rPr>
              <a:t>SQL Query:</a:t>
            </a:r>
          </a:p>
          <a:p>
            <a:pPr marL="0" indent="0" algn="l"/>
            <a:endParaRPr lang="en-US" sz="1600" b="1" dirty="0">
              <a:solidFill>
                <a:schemeClr val="tx1"/>
              </a:solidFill>
            </a:endParaRPr>
          </a:p>
          <a:p>
            <a:pPr marL="0" indent="0" algn="l"/>
            <a:r>
              <a:rPr lang="en-IN" sz="1600" dirty="0">
                <a:solidFill>
                  <a:schemeClr val="tx1"/>
                </a:solidFill>
              </a:rPr>
              <a:t>CREATE VIEW </a:t>
            </a:r>
            <a:r>
              <a:rPr lang="en-IN" sz="1600" dirty="0" err="1">
                <a:solidFill>
                  <a:schemeClr val="tx1"/>
                </a:solidFill>
              </a:rPr>
              <a:t>Billing_Summary</a:t>
            </a:r>
            <a:r>
              <a:rPr lang="en-IN" sz="1600" dirty="0">
                <a:solidFill>
                  <a:schemeClr val="tx1"/>
                </a:solidFill>
              </a:rPr>
              <a:t> AS</a:t>
            </a:r>
          </a:p>
          <a:p>
            <a:pPr marL="0" indent="0" algn="l"/>
            <a:r>
              <a:rPr lang="en-IN" sz="1600" dirty="0">
                <a:solidFill>
                  <a:schemeClr val="tx1"/>
                </a:solidFill>
              </a:rPr>
              <a:t>SELECT </a:t>
            </a:r>
          </a:p>
          <a:p>
            <a:pPr marL="0" indent="0" algn="l"/>
            <a:r>
              <a:rPr lang="en-IN" sz="1600" dirty="0">
                <a:solidFill>
                  <a:schemeClr val="tx1"/>
                </a:solidFill>
              </a:rPr>
              <a:t>    </a:t>
            </a:r>
            <a:r>
              <a:rPr lang="en-IN" sz="1600" dirty="0" err="1">
                <a:solidFill>
                  <a:schemeClr val="tx1"/>
                </a:solidFill>
              </a:rPr>
              <a:t>b.bill_id</a:t>
            </a:r>
            <a:r>
              <a:rPr lang="en-IN" sz="1600" dirty="0">
                <a:solidFill>
                  <a:schemeClr val="tx1"/>
                </a:solidFill>
              </a:rPr>
              <a:t>,</a:t>
            </a:r>
          </a:p>
          <a:p>
            <a:pPr marL="0" indent="0" algn="l"/>
            <a:r>
              <a:rPr lang="en-IN" sz="1600" dirty="0">
                <a:solidFill>
                  <a:schemeClr val="tx1"/>
                </a:solidFill>
              </a:rPr>
              <a:t>    </a:t>
            </a:r>
            <a:r>
              <a:rPr lang="en-IN" sz="1600" dirty="0" err="1">
                <a:solidFill>
                  <a:schemeClr val="tx1"/>
                </a:solidFill>
              </a:rPr>
              <a:t>p.patient_name</a:t>
            </a:r>
            <a:r>
              <a:rPr lang="en-IN" sz="1600" dirty="0">
                <a:solidFill>
                  <a:schemeClr val="tx1"/>
                </a:solidFill>
              </a:rPr>
              <a:t>       AS </a:t>
            </a:r>
            <a:r>
              <a:rPr lang="en-IN" sz="1600" dirty="0" err="1">
                <a:solidFill>
                  <a:schemeClr val="tx1"/>
                </a:solidFill>
              </a:rPr>
              <a:t>patient_name</a:t>
            </a:r>
            <a:r>
              <a:rPr lang="en-IN" sz="1600" dirty="0">
                <a:solidFill>
                  <a:schemeClr val="tx1"/>
                </a:solidFill>
              </a:rPr>
              <a:t>,</a:t>
            </a:r>
          </a:p>
          <a:p>
            <a:pPr marL="0" indent="0" algn="l"/>
            <a:r>
              <a:rPr lang="en-IN" sz="1600" dirty="0">
                <a:solidFill>
                  <a:schemeClr val="tx1"/>
                </a:solidFill>
              </a:rPr>
              <a:t>    </a:t>
            </a:r>
            <a:r>
              <a:rPr lang="en-IN" sz="1600" dirty="0" err="1">
                <a:solidFill>
                  <a:schemeClr val="tx1"/>
                </a:solidFill>
              </a:rPr>
              <a:t>b.payment_status</a:t>
            </a:r>
            <a:r>
              <a:rPr lang="en-IN" sz="1600" dirty="0">
                <a:solidFill>
                  <a:schemeClr val="tx1"/>
                </a:solidFill>
              </a:rPr>
              <a:t>,</a:t>
            </a:r>
          </a:p>
          <a:p>
            <a:pPr marL="0" indent="0" algn="l"/>
            <a:r>
              <a:rPr lang="en-IN" sz="1600" dirty="0">
                <a:solidFill>
                  <a:schemeClr val="tx1"/>
                </a:solidFill>
              </a:rPr>
              <a:t>    </a:t>
            </a:r>
            <a:r>
              <a:rPr lang="en-IN" sz="1600" dirty="0" err="1">
                <a:solidFill>
                  <a:schemeClr val="tx1"/>
                </a:solidFill>
              </a:rPr>
              <a:t>a.date</a:t>
            </a:r>
            <a:r>
              <a:rPr lang="en-IN" sz="1600" dirty="0">
                <a:solidFill>
                  <a:schemeClr val="tx1"/>
                </a:solidFill>
              </a:rPr>
              <a:t>,</a:t>
            </a:r>
          </a:p>
          <a:p>
            <a:pPr marL="0" indent="0" algn="l"/>
            <a:r>
              <a:rPr lang="en-IN" sz="1600" dirty="0">
                <a:solidFill>
                  <a:schemeClr val="tx1"/>
                </a:solidFill>
              </a:rPr>
              <a:t>    </a:t>
            </a:r>
            <a:r>
              <a:rPr lang="en-IN" sz="1600" dirty="0" err="1">
                <a:solidFill>
                  <a:schemeClr val="tx1"/>
                </a:solidFill>
              </a:rPr>
              <a:t>d.doct_name</a:t>
            </a:r>
            <a:endParaRPr lang="en-IN" sz="1600" dirty="0">
              <a:solidFill>
                <a:schemeClr val="tx1"/>
              </a:solidFill>
            </a:endParaRPr>
          </a:p>
          <a:p>
            <a:pPr marL="0" indent="0" algn="l"/>
            <a:r>
              <a:rPr lang="en-IN" sz="1600" dirty="0">
                <a:solidFill>
                  <a:schemeClr val="tx1"/>
                </a:solidFill>
              </a:rPr>
              <a:t>FROM Billing b</a:t>
            </a:r>
          </a:p>
          <a:p>
            <a:pPr marL="0" indent="0" algn="l"/>
            <a:r>
              <a:rPr lang="en-IN" sz="1600" dirty="0">
                <a:solidFill>
                  <a:schemeClr val="tx1"/>
                </a:solidFill>
              </a:rPr>
              <a:t>JOIN Appointment a ON </a:t>
            </a:r>
            <a:r>
              <a:rPr lang="en-IN" sz="1600" dirty="0" err="1">
                <a:solidFill>
                  <a:schemeClr val="tx1"/>
                </a:solidFill>
              </a:rPr>
              <a:t>b.appointment_id</a:t>
            </a:r>
            <a:r>
              <a:rPr lang="en-IN" sz="1600" dirty="0">
                <a:solidFill>
                  <a:schemeClr val="tx1"/>
                </a:solidFill>
              </a:rPr>
              <a:t> = </a:t>
            </a:r>
            <a:r>
              <a:rPr lang="en-IN" sz="1600" dirty="0" err="1">
                <a:solidFill>
                  <a:schemeClr val="tx1"/>
                </a:solidFill>
              </a:rPr>
              <a:t>a.appointment_id</a:t>
            </a:r>
            <a:endParaRPr lang="en-IN" sz="1600" dirty="0">
              <a:solidFill>
                <a:schemeClr val="tx1"/>
              </a:solidFill>
            </a:endParaRPr>
          </a:p>
          <a:p>
            <a:pPr marL="0" indent="0" algn="l"/>
            <a:r>
              <a:rPr lang="en-IN" sz="1600" dirty="0">
                <a:solidFill>
                  <a:schemeClr val="tx1"/>
                </a:solidFill>
              </a:rPr>
              <a:t>JOIN Patient p     ON </a:t>
            </a:r>
            <a:r>
              <a:rPr lang="en-IN" sz="1600" dirty="0" err="1">
                <a:solidFill>
                  <a:schemeClr val="tx1"/>
                </a:solidFill>
              </a:rPr>
              <a:t>a.patient_id</a:t>
            </a:r>
            <a:r>
              <a:rPr lang="en-IN" sz="1600" dirty="0">
                <a:solidFill>
                  <a:schemeClr val="tx1"/>
                </a:solidFill>
              </a:rPr>
              <a:t>     = </a:t>
            </a:r>
            <a:r>
              <a:rPr lang="en-IN" sz="1600" dirty="0" err="1">
                <a:solidFill>
                  <a:schemeClr val="tx1"/>
                </a:solidFill>
              </a:rPr>
              <a:t>p.patient_id</a:t>
            </a:r>
            <a:endParaRPr lang="en-IN" sz="1600" dirty="0">
              <a:solidFill>
                <a:schemeClr val="tx1"/>
              </a:solidFill>
            </a:endParaRPr>
          </a:p>
          <a:p>
            <a:pPr marL="0" indent="0" algn="l"/>
            <a:r>
              <a:rPr lang="en-IN" sz="1600" dirty="0">
                <a:solidFill>
                  <a:schemeClr val="tx1"/>
                </a:solidFill>
              </a:rPr>
              <a:t>JOIN Doctor d      ON </a:t>
            </a:r>
            <a:r>
              <a:rPr lang="en-IN" sz="1600" dirty="0" err="1">
                <a:solidFill>
                  <a:schemeClr val="tx1"/>
                </a:solidFill>
              </a:rPr>
              <a:t>a.doctor_id</a:t>
            </a:r>
            <a:r>
              <a:rPr lang="en-IN" sz="1600" dirty="0">
                <a:solidFill>
                  <a:schemeClr val="tx1"/>
                </a:solidFill>
              </a:rPr>
              <a:t>      = </a:t>
            </a:r>
            <a:r>
              <a:rPr lang="en-IN" sz="1600" dirty="0" err="1">
                <a:solidFill>
                  <a:schemeClr val="tx1"/>
                </a:solidFill>
              </a:rPr>
              <a:t>d.doctor_id</a:t>
            </a:r>
            <a:r>
              <a:rPr lang="en-IN" sz="1600" dirty="0">
                <a:solidFill>
                  <a:schemeClr val="tx1"/>
                </a:solidFill>
              </a:rPr>
              <a:t>;</a:t>
            </a:r>
          </a:p>
          <a:p>
            <a:pPr marL="0" indent="0" algn="l"/>
            <a:endParaRPr lang="en-IN" sz="1600" dirty="0">
              <a:solidFill>
                <a:schemeClr val="tx1"/>
              </a:solidFill>
            </a:endParaRPr>
          </a:p>
          <a:p>
            <a:pPr algn="l"/>
            <a:endParaRPr lang="en-IN" sz="1600" dirty="0">
              <a:solidFill>
                <a:schemeClr val="tx1"/>
              </a:solidFill>
            </a:endParaRPr>
          </a:p>
        </p:txBody>
      </p:sp>
    </p:spTree>
    <p:extLst>
      <p:ext uri="{BB962C8B-B14F-4D97-AF65-F5344CB8AC3E}">
        <p14:creationId xmlns="" xmlns:p14="http://schemas.microsoft.com/office/powerpoint/2010/main" val="3137681674"/>
      </p:ext>
    </p:extLst>
  </p:cSld>
  <p:clrMapOvr>
    <a:masterClrMapping/>
  </p:clrMapOvr>
  <p:transition>
    <p:fade thruBlk="1"/>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8B7647D-84E0-F0A6-27C0-9362E55CF246}"/>
              </a:ext>
            </a:extLst>
          </p:cNvPr>
          <p:cNvSpPr>
            <a:spLocks noGrp="1"/>
          </p:cNvSpPr>
          <p:nvPr>
            <p:ph type="ctrTitle"/>
          </p:nvPr>
        </p:nvSpPr>
        <p:spPr/>
        <p:txBody>
          <a:bodyPr/>
          <a:lstStyle/>
          <a:p>
            <a:r>
              <a:rPr lang="en-IN" dirty="0"/>
              <a:t>Conclusion</a:t>
            </a:r>
          </a:p>
        </p:txBody>
      </p:sp>
      <p:sp>
        <p:nvSpPr>
          <p:cNvPr id="3" name="Subtitle 2">
            <a:extLst>
              <a:ext uri="{FF2B5EF4-FFF2-40B4-BE49-F238E27FC236}">
                <a16:creationId xmlns="" xmlns:a16="http://schemas.microsoft.com/office/drawing/2014/main" id="{02A19427-A3CD-5404-E9A0-B349DDD55D5B}"/>
              </a:ext>
            </a:extLst>
          </p:cNvPr>
          <p:cNvSpPr>
            <a:spLocks noGrp="1"/>
          </p:cNvSpPr>
          <p:nvPr>
            <p:ph type="subTitle" idx="1"/>
          </p:nvPr>
        </p:nvSpPr>
        <p:spPr>
          <a:xfrm>
            <a:off x="533400" y="1115736"/>
            <a:ext cx="8153400" cy="5589864"/>
          </a:xfrm>
        </p:spPr>
        <p:txBody>
          <a:bodyPr/>
          <a:lstStyle/>
          <a:p>
            <a:pPr marL="0" indent="0" algn="l"/>
            <a:r>
              <a:rPr lang="en-US" sz="24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The Hospital Appointment Booking System successfully demonstrates how a database-driven approach can improve hospital operations. The project efficiently manages patient records, doctor details, appointments, billing, and room allocation using relational database concepts. By implementing tables, relationships, queries, procedures, triggers, and views, the system reduces manual work, improves data accuracy, and ensures better organization of hospital </a:t>
            </a:r>
            <a:r>
              <a:rPr lang="en-US" sz="2400" dirty="0" err="1">
                <a:solidFill>
                  <a:schemeClr val="tx1"/>
                </a:solidFill>
                <a:latin typeface="Calibri Light" panose="020F0302020204030204" pitchFamily="34" charset="0"/>
                <a:ea typeface="Calibri Light" panose="020F0302020204030204" pitchFamily="34" charset="0"/>
                <a:cs typeface="Calibri Light" panose="020F0302020204030204" pitchFamily="34" charset="0"/>
              </a:rPr>
              <a:t>data.Stored</a:t>
            </a:r>
            <a:r>
              <a:rPr lang="en-US" sz="24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 procedures help in performing repeated tasks easily, triggers automate important actions like logging changes, and views provide simplified access to useful information. Overall, this project provides a reliable and structured solution for hospital management and lays a strong foundation for future enhancements.</a:t>
            </a:r>
          </a:p>
          <a:p>
            <a:pPr algn="l"/>
            <a:endParaRPr lang="en-IN" sz="2400" dirty="0">
              <a:solidFill>
                <a:schemeClr val="tx1"/>
              </a:solidFill>
            </a:endParaRPr>
          </a:p>
          <a:p>
            <a:pPr algn="l"/>
            <a:endParaRPr lang="en-IN" sz="2400" dirty="0">
              <a:solidFill>
                <a:schemeClr val="tx1"/>
              </a:solidFill>
            </a:endParaRPr>
          </a:p>
        </p:txBody>
      </p:sp>
    </p:spTree>
    <p:extLst>
      <p:ext uri="{BB962C8B-B14F-4D97-AF65-F5344CB8AC3E}">
        <p14:creationId xmlns="" xmlns:p14="http://schemas.microsoft.com/office/powerpoint/2010/main" val="31660520"/>
      </p:ext>
    </p:extLst>
  </p:cSld>
  <p:clrMapOvr>
    <a:masterClrMapping/>
  </p:clrMapOvr>
  <p:transition>
    <p:fade thruBlk="1"/>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3D8845F-75A1-5F91-F642-26D8E076D2D4}"/>
              </a:ext>
            </a:extLst>
          </p:cNvPr>
          <p:cNvSpPr>
            <a:spLocks noGrp="1"/>
          </p:cNvSpPr>
          <p:nvPr>
            <p:ph type="ctrTitle"/>
          </p:nvPr>
        </p:nvSpPr>
        <p:spPr/>
        <p:txBody>
          <a:bodyPr/>
          <a:lstStyle/>
          <a:p>
            <a:endParaRPr lang="en-IN"/>
          </a:p>
        </p:txBody>
      </p:sp>
      <p:sp>
        <p:nvSpPr>
          <p:cNvPr id="3" name="Subtitle 2">
            <a:extLst>
              <a:ext uri="{FF2B5EF4-FFF2-40B4-BE49-F238E27FC236}">
                <a16:creationId xmlns="" xmlns:a16="http://schemas.microsoft.com/office/drawing/2014/main" id="{C332CC67-0657-5762-50B7-44B42A5041AF}"/>
              </a:ext>
            </a:extLst>
          </p:cNvPr>
          <p:cNvSpPr>
            <a:spLocks noGrp="1"/>
          </p:cNvSpPr>
          <p:nvPr>
            <p:ph type="subTitle" idx="1"/>
          </p:nvPr>
        </p:nvSpPr>
        <p:spPr/>
        <p:txBody>
          <a:bodyPr/>
          <a:lstStyle/>
          <a:p>
            <a:endParaRPr lang="en-IN" dirty="0"/>
          </a:p>
        </p:txBody>
      </p:sp>
      <p:pic>
        <p:nvPicPr>
          <p:cNvPr id="4" name="Google Shape;105;p14" descr="Thank you cards Images | Free Vectors, Stock Photos &amp; PSD">
            <a:extLst>
              <a:ext uri="{FF2B5EF4-FFF2-40B4-BE49-F238E27FC236}">
                <a16:creationId xmlns="" xmlns:a16="http://schemas.microsoft.com/office/drawing/2014/main" id="{765EF3D8-0BE5-DC9C-A88E-3129E4A5A6FE}"/>
              </a:ext>
            </a:extLst>
          </p:cNvPr>
          <p:cNvPicPr preferRelativeResize="0"/>
          <p:nvPr/>
        </p:nvPicPr>
        <p:blipFill rotWithShape="1">
          <a:blip r:embed="rId2">
            <a:alphaModFix/>
          </a:blip>
          <a:srcRect/>
          <a:stretch/>
        </p:blipFill>
        <p:spPr>
          <a:xfrm>
            <a:off x="83976" y="914401"/>
            <a:ext cx="8985379" cy="5794309"/>
          </a:xfrm>
          <a:prstGeom prst="rect">
            <a:avLst/>
          </a:prstGeom>
          <a:noFill/>
          <a:ln>
            <a:noFill/>
          </a:ln>
        </p:spPr>
      </p:pic>
    </p:spTree>
    <p:extLst>
      <p:ext uri="{BB962C8B-B14F-4D97-AF65-F5344CB8AC3E}">
        <p14:creationId xmlns="" xmlns:p14="http://schemas.microsoft.com/office/powerpoint/2010/main" val="251725303"/>
      </p:ext>
    </p:extLst>
  </p:cSld>
  <p:clrMapOvr>
    <a:masterClrMapping/>
  </p:clrMapOvr>
  <p:transition>
    <p:fade thruBlk="1"/>
  </p:transition>
</p:sld>
</file>

<file path=ppt/theme/theme1.xml><?xml version="1.0" encoding="utf-8"?>
<a:theme xmlns:a="http://schemas.openxmlformats.org/drawingml/2006/main" name="Bubble Sort">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896</TotalTime>
  <Words>2757</Words>
  <Application>Microsoft Office PowerPoint</Application>
  <PresentationFormat>On-screen Show (4:3)</PresentationFormat>
  <Paragraphs>504</Paragraphs>
  <Slides>28</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Arial Black</vt:lpstr>
      <vt:lpstr>Times New Roman</vt:lpstr>
      <vt:lpstr>Calibri</vt:lpstr>
      <vt:lpstr>Calibri Light</vt:lpstr>
      <vt:lpstr>Bubble Sort</vt:lpstr>
      <vt:lpstr>Slide 1</vt:lpstr>
      <vt:lpstr>Slide 2</vt:lpstr>
      <vt:lpstr>Slide 3</vt:lpstr>
      <vt:lpstr>Problem Overview </vt:lpstr>
      <vt:lpstr>Scope of the Project</vt:lpstr>
      <vt:lpstr>Objectives of the Project</vt:lpstr>
      <vt:lpstr>Significance of the Project</vt:lpstr>
      <vt:lpstr>Entities and Attributes</vt:lpstr>
      <vt:lpstr>Entities and Attributes</vt:lpstr>
      <vt:lpstr>Relationships</vt:lpstr>
      <vt:lpstr>Relationships</vt:lpstr>
      <vt:lpstr>ER Diagram</vt:lpstr>
      <vt:lpstr>Relational Algebra to SQL</vt:lpstr>
      <vt:lpstr>Relational Algebra to SQL</vt:lpstr>
      <vt:lpstr>Relational Algebra to SQL</vt:lpstr>
      <vt:lpstr>Relational Algebra to SQL</vt:lpstr>
      <vt:lpstr>Relational Algebra to SQL</vt:lpstr>
      <vt:lpstr>Procedures</vt:lpstr>
      <vt:lpstr>Procedures</vt:lpstr>
      <vt:lpstr>Procedures</vt:lpstr>
      <vt:lpstr>Triggers</vt:lpstr>
      <vt:lpstr>Triggers</vt:lpstr>
      <vt:lpstr>Triggers</vt:lpstr>
      <vt:lpstr>Views</vt:lpstr>
      <vt:lpstr>Views</vt:lpstr>
      <vt:lpstr>Views</vt:lpstr>
      <vt:lpstr>Conclusion</vt:lpstr>
      <vt:lpstr>Slide 28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Lenovo</dc:creator>
  <cp:lastModifiedBy>khushboo raizada</cp:lastModifiedBy>
  <cp:revision>50</cp:revision>
  <dcterms:modified xsi:type="dcterms:W3CDTF">2026-07-16T13:41:33Z</dcterms:modified>
</cp:coreProperties>
</file>